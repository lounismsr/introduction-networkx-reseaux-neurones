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78" r:id="rId1"/>
  </p:sldMasterIdLst>
  <p:notesMasterIdLst>
    <p:notesMasterId r:id="rId62"/>
  </p:notesMasterIdLst>
  <p:sldIdLst>
    <p:sldId id="352" r:id="rId2"/>
    <p:sldId id="356" r:id="rId3"/>
    <p:sldId id="411" r:id="rId4"/>
    <p:sldId id="304" r:id="rId5"/>
    <p:sldId id="413" r:id="rId6"/>
    <p:sldId id="414" r:id="rId7"/>
    <p:sldId id="347" r:id="rId8"/>
    <p:sldId id="357" r:id="rId9"/>
    <p:sldId id="257" r:id="rId10"/>
    <p:sldId id="258" r:id="rId11"/>
    <p:sldId id="415" r:id="rId12"/>
    <p:sldId id="416" r:id="rId13"/>
    <p:sldId id="259" r:id="rId14"/>
    <p:sldId id="260" r:id="rId15"/>
    <p:sldId id="301" r:id="rId16"/>
    <p:sldId id="261" r:id="rId17"/>
    <p:sldId id="300" r:id="rId18"/>
    <p:sldId id="302" r:id="rId19"/>
    <p:sldId id="296" r:id="rId20"/>
    <p:sldId id="262" r:id="rId21"/>
    <p:sldId id="358" r:id="rId22"/>
    <p:sldId id="366" r:id="rId23"/>
    <p:sldId id="364" r:id="rId24"/>
    <p:sldId id="365" r:id="rId25"/>
    <p:sldId id="367" r:id="rId26"/>
    <p:sldId id="368" r:id="rId27"/>
    <p:sldId id="372" r:id="rId28"/>
    <p:sldId id="371" r:id="rId29"/>
    <p:sldId id="374" r:id="rId30"/>
    <p:sldId id="375" r:id="rId31"/>
    <p:sldId id="417" r:id="rId32"/>
    <p:sldId id="376" r:id="rId33"/>
    <p:sldId id="377" r:id="rId34"/>
    <p:sldId id="380" r:id="rId35"/>
    <p:sldId id="378" r:id="rId36"/>
    <p:sldId id="382" r:id="rId37"/>
    <p:sldId id="387" r:id="rId38"/>
    <p:sldId id="388" r:id="rId39"/>
    <p:sldId id="379" r:id="rId40"/>
    <p:sldId id="389" r:id="rId41"/>
    <p:sldId id="390" r:id="rId42"/>
    <p:sldId id="391" r:id="rId43"/>
    <p:sldId id="392" r:id="rId44"/>
    <p:sldId id="393" r:id="rId45"/>
    <p:sldId id="394" r:id="rId46"/>
    <p:sldId id="418" r:id="rId47"/>
    <p:sldId id="419" r:id="rId48"/>
    <p:sldId id="396" r:id="rId49"/>
    <p:sldId id="398" r:id="rId50"/>
    <p:sldId id="397" r:id="rId51"/>
    <p:sldId id="399" r:id="rId52"/>
    <p:sldId id="400" r:id="rId53"/>
    <p:sldId id="402" r:id="rId54"/>
    <p:sldId id="403" r:id="rId55"/>
    <p:sldId id="401" r:id="rId56"/>
    <p:sldId id="404" r:id="rId57"/>
    <p:sldId id="407" r:id="rId58"/>
    <p:sldId id="410" r:id="rId59"/>
    <p:sldId id="405" r:id="rId60"/>
    <p:sldId id="420" r:id="rId61"/>
  </p:sldIdLst>
  <p:sldSz cx="9144000" cy="5143500" type="screen16x9"/>
  <p:notesSz cx="6858000" cy="9144000"/>
  <p:embeddedFontLst>
    <p:embeddedFont>
      <p:font typeface="Aharoni" panose="02010803020104030203" pitchFamily="2" charset="-79"/>
      <p:bold r:id="rId63"/>
    </p:embeddedFont>
    <p:embeddedFont>
      <p:font typeface="Albert Sans" panose="020B0604020202020204" charset="0"/>
      <p:regular r:id="rId64"/>
      <p:bold r:id="rId65"/>
      <p:italic r:id="rId66"/>
      <p:boldItalic r:id="rId67"/>
    </p:embeddedFont>
    <p:embeddedFont>
      <p:font typeface="Anaheim" panose="020B0604020202020204" charset="0"/>
      <p:regular r:id="rId68"/>
    </p:embeddedFont>
    <p:embeddedFont>
      <p:font typeface="Arial Unicode MS" panose="020B0604020202020204" pitchFamily="34" charset="-128"/>
      <p:regular r:id="rId69"/>
    </p:embeddedFont>
    <p:embeddedFont>
      <p:font typeface="Cambria Math" panose="02040503050406030204" pitchFamily="18" charset="0"/>
      <p:regular r:id="rId70"/>
    </p:embeddedFont>
    <p:embeddedFont>
      <p:font typeface="DM Sans" pitchFamily="2" charset="0"/>
      <p:regular r:id="rId71"/>
      <p:bold r:id="rId72"/>
      <p:italic r:id="rId73"/>
      <p:boldItalic r:id="rId74"/>
    </p:embeddedFont>
    <p:embeddedFont>
      <p:font typeface="Imprint MT Shadow" panose="04020605060303030202" pitchFamily="82" charset="0"/>
      <p:regular r:id="rId75"/>
    </p:embeddedFont>
    <p:embeddedFont>
      <p:font typeface="Lato" panose="020F0502020204030203" pitchFamily="34" charset="0"/>
      <p:regular r:id="rId76"/>
      <p:bold r:id="rId77"/>
      <p:italic r:id="rId78"/>
      <p:boldItalic r:id="rId79"/>
    </p:embeddedFont>
    <p:embeddedFont>
      <p:font typeface="MingLiU_HKSCS-ExtB" panose="02020500000000000000" pitchFamily="18" charset="-120"/>
      <p:regular r:id="rId80"/>
    </p:embeddedFont>
    <p:embeddedFont>
      <p:font typeface="Nunito Light" pitchFamily="2" charset="0"/>
      <p:regular r:id="rId81"/>
      <p:italic r:id="rId82"/>
    </p:embeddedFont>
    <p:embeddedFont>
      <p:font typeface="Perpetua Titling MT" panose="02020502060505020804" pitchFamily="18" charset="0"/>
      <p:regular r:id="rId83"/>
      <p:bold r:id="rId8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E93210F1-B1D7-43A5-8552-40C11A4BACDD}">
          <p14:sldIdLst>
            <p14:sldId id="352"/>
            <p14:sldId id="356"/>
            <p14:sldId id="411"/>
            <p14:sldId id="304"/>
            <p14:sldId id="413"/>
            <p14:sldId id="414"/>
            <p14:sldId id="347"/>
            <p14:sldId id="357"/>
            <p14:sldId id="257"/>
            <p14:sldId id="258"/>
            <p14:sldId id="415"/>
            <p14:sldId id="416"/>
            <p14:sldId id="259"/>
            <p14:sldId id="260"/>
            <p14:sldId id="301"/>
            <p14:sldId id="261"/>
            <p14:sldId id="300"/>
            <p14:sldId id="302"/>
            <p14:sldId id="296"/>
            <p14:sldId id="262"/>
            <p14:sldId id="358"/>
            <p14:sldId id="366"/>
            <p14:sldId id="364"/>
            <p14:sldId id="365"/>
            <p14:sldId id="367"/>
            <p14:sldId id="368"/>
            <p14:sldId id="372"/>
            <p14:sldId id="371"/>
            <p14:sldId id="374"/>
            <p14:sldId id="375"/>
            <p14:sldId id="417"/>
            <p14:sldId id="376"/>
            <p14:sldId id="377"/>
            <p14:sldId id="380"/>
            <p14:sldId id="378"/>
            <p14:sldId id="382"/>
            <p14:sldId id="387"/>
            <p14:sldId id="388"/>
            <p14:sldId id="379"/>
            <p14:sldId id="389"/>
            <p14:sldId id="390"/>
            <p14:sldId id="391"/>
            <p14:sldId id="392"/>
            <p14:sldId id="393"/>
            <p14:sldId id="394"/>
            <p14:sldId id="418"/>
            <p14:sldId id="419"/>
            <p14:sldId id="396"/>
            <p14:sldId id="398"/>
            <p14:sldId id="397"/>
            <p14:sldId id="399"/>
            <p14:sldId id="400"/>
            <p14:sldId id="402"/>
            <p14:sldId id="403"/>
            <p14:sldId id="401"/>
            <p14:sldId id="404"/>
            <p14:sldId id="407"/>
            <p14:sldId id="410"/>
            <p14:sldId id="405"/>
            <p14:sldId id="420"/>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3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41B42F-44E8-4029-A46C-65085772929F}">
  <a:tblStyle styleId="{E841B42F-44E8-4029-A46C-65085772929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330BB41-53A9-41AF-B0EE-3FC48FCCC68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33" autoAdjust="0"/>
    <p:restoredTop sz="94662" autoAdjust="0"/>
  </p:normalViewPr>
  <p:slideViewPr>
    <p:cSldViewPr snapToGrid="0">
      <p:cViewPr varScale="1">
        <p:scale>
          <a:sx n="83" d="100"/>
          <a:sy n="83" d="100"/>
        </p:scale>
        <p:origin x="120" y="5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84" Type="http://schemas.openxmlformats.org/officeDocument/2006/relationships/font" Target="fonts/font2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2.fntdata"/><Relationship Id="rId79" Type="http://schemas.openxmlformats.org/officeDocument/2006/relationships/font" Target="fonts/font1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80" Type="http://schemas.openxmlformats.org/officeDocument/2006/relationships/font" Target="fonts/font18.fntdata"/><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font" Target="fonts/font13.fntdata"/><Relationship Id="rId83" Type="http://schemas.openxmlformats.org/officeDocument/2006/relationships/font" Target="fonts/font21.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font" Target="fonts/font16.fntdata"/><Relationship Id="rId81" Type="http://schemas.openxmlformats.org/officeDocument/2006/relationships/font" Target="fonts/font19.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4.fntdata"/><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6006197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88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6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11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723702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46403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0935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0874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7188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919409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fr-CA"/>
              <a:t>Modifier le style du titre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CA"/>
              <a:t>Modifier le style des sous-titres du masque</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761327321"/>
      </p:ext>
    </p:extLst>
  </p:cSld>
  <p:clrMapOvr>
    <a:masterClrMapping/>
  </p:clrMapOvr>
  <p:transition spd="slow">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997238501"/>
      </p:ext>
    </p:extLst>
  </p:cSld>
  <p:clrMapOvr>
    <a:masterClrMapping/>
  </p:clrMapOvr>
  <p:transition spd="slow">
    <p:fade/>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fr-CA"/>
              <a:t>Modifier le style du titre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4015952384"/>
      </p:ext>
    </p:extLst>
  </p:cSld>
  <p:clrMapOvr>
    <a:masterClrMapping/>
  </p:clrMapOvr>
  <p:transition spd="slow">
    <p:fade/>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Date Placeholder 4"/>
          <p:cNvSpPr>
            <a:spLocks noGrp="1"/>
          </p:cNvSpPr>
          <p:nvPr>
            <p:ph type="dt" sz="half" idx="10"/>
          </p:nvPr>
        </p:nvSpPr>
        <p:spPr/>
        <p:txBody>
          <a:bodyPr/>
          <a:lstStyle/>
          <a:p>
            <a:fld id="{F7FBCE3B-74F4-4CE6-A37B-EAF393AB2067}" type="datetimeFigureOut">
              <a:rPr lang="fr-FR" smtClean="0"/>
              <a:t>09/06/2024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301292213"/>
      </p:ext>
    </p:extLst>
  </p:cSld>
  <p:clrMapOvr>
    <a:masterClrMapping/>
  </p:clrMapOvr>
  <p:transition spd="slow">
    <p:fad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fr-CA"/>
              <a:t>Modifier le style du titre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CA"/>
              <a:t>Cliquez pour modifier les styles du texte du masque</a:t>
            </a:r>
          </a:p>
        </p:txBody>
      </p:sp>
      <p:sp>
        <p:nvSpPr>
          <p:cNvPr id="4" name="Content Placeholder 3"/>
          <p:cNvSpPr>
            <a:spLocks noGrp="1"/>
          </p:cNvSpPr>
          <p:nvPr>
            <p:ph sz="half" idx="2"/>
          </p:nvPr>
        </p:nvSpPr>
        <p:spPr>
          <a:xfrm>
            <a:off x="629842" y="1878806"/>
            <a:ext cx="3868340" cy="2763441"/>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CA"/>
              <a:t>Cliquez pour modifier les styles du texte du masque</a:t>
            </a:r>
          </a:p>
        </p:txBody>
      </p:sp>
      <p:sp>
        <p:nvSpPr>
          <p:cNvPr id="6" name="Content Placeholder 5"/>
          <p:cNvSpPr>
            <a:spLocks noGrp="1"/>
          </p:cNvSpPr>
          <p:nvPr>
            <p:ph sz="quarter" idx="4"/>
          </p:nvPr>
        </p:nvSpPr>
        <p:spPr>
          <a:xfrm>
            <a:off x="4629150" y="1878806"/>
            <a:ext cx="3887391" cy="2763441"/>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7" name="Date Placeholder 6"/>
          <p:cNvSpPr>
            <a:spLocks noGrp="1"/>
          </p:cNvSpPr>
          <p:nvPr>
            <p:ph type="dt" sz="half" idx="10"/>
          </p:nvPr>
        </p:nvSpPr>
        <p:spPr/>
        <p:txBody>
          <a:bodyPr/>
          <a:lstStyle/>
          <a:p>
            <a:fld id="{F7FBCE3B-74F4-4CE6-A37B-EAF393AB2067}" type="datetimeFigureOut">
              <a:rPr lang="fr-FR" smtClean="0"/>
              <a:t>09/06/2024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3388115442"/>
      </p:ext>
    </p:extLst>
  </p:cSld>
  <p:clrMapOvr>
    <a:masterClrMapping/>
  </p:clrMapOvr>
  <p:transition spd="slow">
    <p:fad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Date Placeholder 2"/>
          <p:cNvSpPr>
            <a:spLocks noGrp="1"/>
          </p:cNvSpPr>
          <p:nvPr>
            <p:ph type="dt" sz="half" idx="10"/>
          </p:nvPr>
        </p:nvSpPr>
        <p:spPr/>
        <p:txBody>
          <a:bodyPr/>
          <a:lstStyle/>
          <a:p>
            <a:fld id="{F7FBCE3B-74F4-4CE6-A37B-EAF393AB2067}" type="datetimeFigureOut">
              <a:rPr lang="fr-FR" smtClean="0"/>
              <a:t>09/06/2024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108649154"/>
      </p:ext>
    </p:extLst>
  </p:cSld>
  <p:clrMapOvr>
    <a:masterClrMapping/>
  </p:clrMapOvr>
  <p:transition spd="slow">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FBCE3B-74F4-4CE6-A37B-EAF393AB2067}" type="datetimeFigureOut">
              <a:rPr lang="fr-FR" smtClean="0"/>
              <a:t>09/06/2024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205908188"/>
      </p:ext>
    </p:extLst>
  </p:cSld>
  <p:clrMapOvr>
    <a:masterClrMapping/>
  </p:clrMapOvr>
  <p:transition spd="slow">
    <p:fad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CA"/>
              <a:t>Modifier le style du titre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F7FBCE3B-74F4-4CE6-A37B-EAF393AB2067}" type="datetimeFigureOut">
              <a:rPr lang="fr-FR" smtClean="0"/>
              <a:t>09/06/2024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26469641"/>
      </p:ext>
    </p:extLst>
  </p:cSld>
  <p:clrMapOvr>
    <a:masterClrMapping/>
  </p:clrMapOvr>
  <p:transition spd="slow">
    <p:fad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CA"/>
              <a:t>Modifier le style du titre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CA"/>
              <a:t>Cliquez sur l'icône pour ajouter une image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F7FBCE3B-74F4-4CE6-A37B-EAF393AB2067}" type="datetimeFigureOut">
              <a:rPr lang="fr-FR" smtClean="0"/>
              <a:t>09/06/2024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3842881253"/>
      </p:ext>
    </p:extLst>
  </p:cSld>
  <p:clrMapOvr>
    <a:masterClrMapping/>
  </p:clrMapOvr>
  <p:transition spd="slow">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Vertical Text Placeholder 2"/>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58985165"/>
      </p:ext>
    </p:extLst>
  </p:cSld>
  <p:clrMapOvr>
    <a:masterClrMapping/>
  </p:clrMapOvr>
  <p:transition spd="slow">
    <p:fad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fr-CA"/>
              <a:t>Modifier le style du titre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915031871"/>
      </p:ext>
    </p:extLst>
  </p:cSld>
  <p:clrMapOvr>
    <a:masterClrMapping/>
  </p:clrMapOvr>
  <p:transition spd="slow">
    <p:fad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004783"/>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877466"/>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30"/>
        <p:cNvGrpSpPr/>
        <p:nvPr/>
      </p:nvGrpSpPr>
      <p:grpSpPr>
        <a:xfrm>
          <a:off x="0" y="0"/>
          <a:ext cx="0" cy="0"/>
          <a:chOff x="0" y="0"/>
          <a:chExt cx="0" cy="0"/>
        </a:xfrm>
      </p:grpSpPr>
      <p:sp>
        <p:nvSpPr>
          <p:cNvPr id="231" name="Google Shape;23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2" name="Google Shape;232;p5"/>
          <p:cNvSpPr txBox="1">
            <a:spLocks noGrp="1"/>
          </p:cNvSpPr>
          <p:nvPr>
            <p:ph type="subTitle" idx="1"/>
          </p:nvPr>
        </p:nvSpPr>
        <p:spPr>
          <a:xfrm>
            <a:off x="4951702"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3" name="Google Shape;233;p5"/>
          <p:cNvSpPr txBox="1">
            <a:spLocks noGrp="1"/>
          </p:cNvSpPr>
          <p:nvPr>
            <p:ph type="subTitle" idx="2"/>
          </p:nvPr>
        </p:nvSpPr>
        <p:spPr>
          <a:xfrm>
            <a:off x="1050400"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4" name="Google Shape;234;p5"/>
          <p:cNvSpPr txBox="1">
            <a:spLocks noGrp="1"/>
          </p:cNvSpPr>
          <p:nvPr>
            <p:ph type="subTitle" idx="3"/>
          </p:nvPr>
        </p:nvSpPr>
        <p:spPr>
          <a:xfrm>
            <a:off x="1050400"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35" name="Google Shape;235;p5"/>
          <p:cNvSpPr txBox="1">
            <a:spLocks noGrp="1"/>
          </p:cNvSpPr>
          <p:nvPr>
            <p:ph type="subTitle" idx="4"/>
          </p:nvPr>
        </p:nvSpPr>
        <p:spPr>
          <a:xfrm>
            <a:off x="4951707"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extLst>
      <p:ext uri="{BB962C8B-B14F-4D97-AF65-F5344CB8AC3E}">
        <p14:creationId xmlns:p14="http://schemas.microsoft.com/office/powerpoint/2010/main" val="2362946092"/>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010601"/>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071"/>
        <p:cNvGrpSpPr/>
        <p:nvPr/>
      </p:nvGrpSpPr>
      <p:grpSpPr>
        <a:xfrm>
          <a:off x="0" y="0"/>
          <a:ext cx="0" cy="0"/>
          <a:chOff x="0" y="0"/>
          <a:chExt cx="0" cy="0"/>
        </a:xfrm>
      </p:grpSpPr>
      <p:sp>
        <p:nvSpPr>
          <p:cNvPr id="1072" name="Google Shape;107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73" name="Google Shape;1073;p19"/>
          <p:cNvSpPr txBox="1">
            <a:spLocks noGrp="1"/>
          </p:cNvSpPr>
          <p:nvPr>
            <p:ph type="subTitle" idx="1"/>
          </p:nvPr>
        </p:nvSpPr>
        <p:spPr>
          <a:xfrm>
            <a:off x="1574375"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4" name="Google Shape;1074;p19"/>
          <p:cNvSpPr txBox="1">
            <a:spLocks noGrp="1"/>
          </p:cNvSpPr>
          <p:nvPr>
            <p:ph type="subTitle" idx="2"/>
          </p:nvPr>
        </p:nvSpPr>
        <p:spPr>
          <a:xfrm>
            <a:off x="5500976"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5" name="Google Shape;1075;p19"/>
          <p:cNvSpPr txBox="1">
            <a:spLocks noGrp="1"/>
          </p:cNvSpPr>
          <p:nvPr>
            <p:ph type="subTitle" idx="3"/>
          </p:nvPr>
        </p:nvSpPr>
        <p:spPr>
          <a:xfrm>
            <a:off x="1574375"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6" name="Google Shape;1076;p19"/>
          <p:cNvSpPr txBox="1">
            <a:spLocks noGrp="1"/>
          </p:cNvSpPr>
          <p:nvPr>
            <p:ph type="subTitle" idx="4"/>
          </p:nvPr>
        </p:nvSpPr>
        <p:spPr>
          <a:xfrm>
            <a:off x="5500976"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7" name="Google Shape;1077;p19"/>
          <p:cNvSpPr txBox="1">
            <a:spLocks noGrp="1"/>
          </p:cNvSpPr>
          <p:nvPr>
            <p:ph type="title" idx="5" hasCustomPrompt="1"/>
          </p:nvPr>
        </p:nvSpPr>
        <p:spPr>
          <a:xfrm>
            <a:off x="7582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a:spLocks noGrp="1"/>
          </p:cNvSpPr>
          <p:nvPr>
            <p:ph type="title" idx="6" hasCustomPrompt="1"/>
          </p:nvPr>
        </p:nvSpPr>
        <p:spPr>
          <a:xfrm>
            <a:off x="7582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a:spLocks noGrp="1"/>
          </p:cNvSpPr>
          <p:nvPr>
            <p:ph type="title" idx="7" hasCustomPrompt="1"/>
          </p:nvPr>
        </p:nvSpPr>
        <p:spPr>
          <a:xfrm>
            <a:off x="46850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a:spLocks noGrp="1"/>
          </p:cNvSpPr>
          <p:nvPr>
            <p:ph type="title" idx="8" hasCustomPrompt="1"/>
          </p:nvPr>
        </p:nvSpPr>
        <p:spPr>
          <a:xfrm>
            <a:off x="46850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a:spLocks noGrp="1"/>
          </p:cNvSpPr>
          <p:nvPr>
            <p:ph type="subTitle" idx="9"/>
          </p:nvPr>
        </p:nvSpPr>
        <p:spPr>
          <a:xfrm>
            <a:off x="15743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2" name="Google Shape;1082;p19"/>
          <p:cNvSpPr txBox="1">
            <a:spLocks noGrp="1"/>
          </p:cNvSpPr>
          <p:nvPr>
            <p:ph type="subTitle" idx="13"/>
          </p:nvPr>
        </p:nvSpPr>
        <p:spPr>
          <a:xfrm>
            <a:off x="55009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3" name="Google Shape;1083;p19"/>
          <p:cNvSpPr txBox="1">
            <a:spLocks noGrp="1"/>
          </p:cNvSpPr>
          <p:nvPr>
            <p:ph type="subTitle" idx="14"/>
          </p:nvPr>
        </p:nvSpPr>
        <p:spPr>
          <a:xfrm>
            <a:off x="15743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4" name="Google Shape;1084;p19"/>
          <p:cNvSpPr txBox="1">
            <a:spLocks noGrp="1"/>
          </p:cNvSpPr>
          <p:nvPr>
            <p:ph type="subTitle" idx="15"/>
          </p:nvPr>
        </p:nvSpPr>
        <p:spPr>
          <a:xfrm>
            <a:off x="55009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extLst>
      <p:ext uri="{BB962C8B-B14F-4D97-AF65-F5344CB8AC3E}">
        <p14:creationId xmlns:p14="http://schemas.microsoft.com/office/powerpoint/2010/main" val="790827745"/>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8"/>
        <p:cNvGrpSpPr/>
        <p:nvPr/>
      </p:nvGrpSpPr>
      <p:grpSpPr>
        <a:xfrm>
          <a:off x="0" y="0"/>
          <a:ext cx="0" cy="0"/>
          <a:chOff x="0" y="0"/>
          <a:chExt cx="0" cy="0"/>
        </a:xfrm>
      </p:grpSpPr>
      <p:sp>
        <p:nvSpPr>
          <p:cNvPr id="469" name="Google Shape;469;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0" name="Google Shape;470;p9"/>
          <p:cNvSpPr txBox="1">
            <a:spLocks noGrp="1"/>
          </p:cNvSpPr>
          <p:nvPr>
            <p:ph type="subTitle" idx="1"/>
          </p:nvPr>
        </p:nvSpPr>
        <p:spPr>
          <a:xfrm>
            <a:off x="4731475"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1" name="Google Shape;471;p9"/>
          <p:cNvSpPr txBox="1">
            <a:spLocks noGrp="1"/>
          </p:cNvSpPr>
          <p:nvPr>
            <p:ph type="subTitle" idx="2"/>
          </p:nvPr>
        </p:nvSpPr>
        <p:spPr>
          <a:xfrm>
            <a:off x="720000"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01426385"/>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0"/>
        <p:cNvGrpSpPr/>
        <p:nvPr/>
      </p:nvGrpSpPr>
      <p:grpSpPr>
        <a:xfrm>
          <a:off x="0" y="0"/>
          <a:ext cx="0" cy="0"/>
          <a:chOff x="0" y="0"/>
          <a:chExt cx="0" cy="0"/>
        </a:xfrm>
      </p:grpSpPr>
      <p:sp>
        <p:nvSpPr>
          <p:cNvPr id="81" name="Google Shape;81;p3"/>
          <p:cNvSpPr txBox="1">
            <a:spLocks noGrp="1"/>
          </p:cNvSpPr>
          <p:nvPr>
            <p:ph type="title"/>
          </p:nvPr>
        </p:nvSpPr>
        <p:spPr>
          <a:xfrm>
            <a:off x="1463100" y="2046250"/>
            <a:ext cx="6217800" cy="1676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2" name="Google Shape;82;p3"/>
          <p:cNvSpPr txBox="1">
            <a:spLocks noGrp="1"/>
          </p:cNvSpPr>
          <p:nvPr>
            <p:ph type="title" idx="2" hasCustomPrompt="1"/>
          </p:nvPr>
        </p:nvSpPr>
        <p:spPr>
          <a:xfrm>
            <a:off x="3745950" y="809625"/>
            <a:ext cx="1652100" cy="112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a:spLocks noGrp="1"/>
          </p:cNvSpPr>
          <p:nvPr>
            <p:ph type="subTitle" idx="1"/>
          </p:nvPr>
        </p:nvSpPr>
        <p:spPr>
          <a:xfrm>
            <a:off x="1463100" y="3797250"/>
            <a:ext cx="6217800" cy="43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937419519"/>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0"/>
        <p:cNvGrpSpPr/>
        <p:nvPr/>
      </p:nvGrpSpPr>
      <p:grpSpPr>
        <a:xfrm>
          <a:off x="0" y="0"/>
          <a:ext cx="0" cy="0"/>
          <a:chOff x="0" y="0"/>
          <a:chExt cx="0" cy="0"/>
        </a:xfrm>
      </p:grpSpPr>
      <p:sp>
        <p:nvSpPr>
          <p:cNvPr id="371" name="Google Shape;371;p7"/>
          <p:cNvSpPr txBox="1">
            <a:spLocks noGrp="1"/>
          </p:cNvSpPr>
          <p:nvPr>
            <p:ph type="title"/>
          </p:nvPr>
        </p:nvSpPr>
        <p:spPr>
          <a:xfrm>
            <a:off x="865625" y="539500"/>
            <a:ext cx="3668400" cy="1097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2" name="Google Shape;372;p7"/>
          <p:cNvSpPr txBox="1">
            <a:spLocks noGrp="1"/>
          </p:cNvSpPr>
          <p:nvPr>
            <p:ph type="subTitle" idx="1"/>
          </p:nvPr>
        </p:nvSpPr>
        <p:spPr>
          <a:xfrm>
            <a:off x="865625" y="1621843"/>
            <a:ext cx="3668400" cy="2982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373" name="Google Shape;373;p7"/>
          <p:cNvSpPr>
            <a:spLocks noGrp="1"/>
          </p:cNvSpPr>
          <p:nvPr>
            <p:ph type="pic" idx="2"/>
          </p:nvPr>
        </p:nvSpPr>
        <p:spPr>
          <a:xfrm>
            <a:off x="5029325" y="833500"/>
            <a:ext cx="3476400" cy="3476400"/>
          </a:xfrm>
          <a:prstGeom prst="ellipse">
            <a:avLst/>
          </a:prstGeom>
          <a:noFill/>
          <a:ln>
            <a:noFill/>
          </a:ln>
        </p:spPr>
      </p:sp>
    </p:spTree>
    <p:extLst>
      <p:ext uri="{BB962C8B-B14F-4D97-AF65-F5344CB8AC3E}">
        <p14:creationId xmlns:p14="http://schemas.microsoft.com/office/powerpoint/2010/main" val="1470205641"/>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CA"/>
              <a:t>Modifier le style du titre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F7FBCE3B-74F4-4CE6-A37B-EAF393AB2067}" type="datetimeFigureOut">
              <a:rPr lang="fr-FR" smtClean="0"/>
              <a:t>09/06/2024</a:t>
            </a:fld>
            <a:endParaRPr lang="fr-F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A82C58F3-3795-4080-90EF-797C1431D8B7}" type="slidenum">
              <a:rPr lang="fr-FR" smtClean="0"/>
              <a:t>‹n°›</a:t>
            </a:fld>
            <a:endParaRPr lang="fr-FR"/>
          </a:p>
        </p:txBody>
      </p:sp>
    </p:spTree>
    <p:extLst>
      <p:ext uri="{BB962C8B-B14F-4D97-AF65-F5344CB8AC3E}">
        <p14:creationId xmlns:p14="http://schemas.microsoft.com/office/powerpoint/2010/main" val="664771239"/>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4" r:id="rId16"/>
    <p:sldLayoutId id="2147483895" r:id="rId17"/>
    <p:sldLayoutId id="2147483896" r:id="rId18"/>
    <p:sldLayoutId id="2147483897" r:id="rId19"/>
  </p:sldLayoutIdLst>
  <p:transition spd="slow">
    <p:fade/>
  </p:transition>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7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000">
              <a:srgbClr val="002060"/>
            </a:gs>
            <a:gs pos="39000">
              <a:schemeClr val="accent4"/>
            </a:gs>
            <a:gs pos="24000">
              <a:schemeClr val="accent4"/>
            </a:gs>
            <a:gs pos="74000">
              <a:srgbClr val="002060"/>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2" name="Google Shape;162;p38">
            <a:extLst>
              <a:ext uri="{FF2B5EF4-FFF2-40B4-BE49-F238E27FC236}">
                <a16:creationId xmlns:a16="http://schemas.microsoft.com/office/drawing/2014/main" id="{9332C70A-D138-3713-089B-2E0150D751FB}"/>
              </a:ext>
            </a:extLst>
          </p:cNvPr>
          <p:cNvSpPr txBox="1">
            <a:spLocks/>
          </p:cNvSpPr>
          <p:nvPr/>
        </p:nvSpPr>
        <p:spPr>
          <a:xfrm>
            <a:off x="1679187" y="-113578"/>
            <a:ext cx="5746849" cy="1241778"/>
          </a:xfrm>
          <a:prstGeom prst="rect">
            <a:avLst/>
          </a:prstGeom>
          <a:effectLst>
            <a:outerShdw blurRad="142875" dist="19050" dir="8760000" algn="bl" rotWithShape="0">
              <a:srgbClr val="76A5AF">
                <a:alpha val="50000"/>
              </a:srgbClr>
            </a:outerShdw>
          </a:effectLst>
        </p:spPr>
        <p:txBody>
          <a:bodyPr spcFirstLastPara="1" wrap="square" lIns="91425" tIns="91425" rIns="91425" bIns="91425" anchor="b"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fr-FR" sz="1400" b="1" dirty="0">
                <a:solidFill>
                  <a:schemeClr val="bg1"/>
                </a:solidFill>
                <a:latin typeface="NimbusRomNo9L-Medi"/>
              </a:rPr>
              <a:t>République Algérienne Démocratique et Populaire Ministère de l’Enseignement Supérieur et de la Recherche Scientifique</a:t>
            </a:r>
            <a:br>
              <a:rPr lang="fr-FR" sz="1400" b="1" dirty="0">
                <a:solidFill>
                  <a:schemeClr val="bg1"/>
                </a:solidFill>
                <a:latin typeface="NimbusRomNo9L-Medi"/>
              </a:rPr>
            </a:br>
            <a:r>
              <a:rPr lang="fr-FR" sz="1400" b="1" dirty="0">
                <a:solidFill>
                  <a:schemeClr val="bg1"/>
                </a:solidFill>
                <a:latin typeface="NimbusRomNo9L-Medi"/>
              </a:rPr>
              <a:t>Université Abderrahmane Mira de Bejaïa</a:t>
            </a:r>
            <a:br>
              <a:rPr lang="fr-FR" sz="1400" b="1" dirty="0">
                <a:solidFill>
                  <a:schemeClr val="bg1"/>
                </a:solidFill>
                <a:latin typeface="NimbusRomNo9L-Medi"/>
              </a:rPr>
            </a:br>
            <a:r>
              <a:rPr lang="fr-FR" sz="1400" b="1" dirty="0">
                <a:solidFill>
                  <a:schemeClr val="bg1"/>
                </a:solidFill>
                <a:latin typeface="NimbusRomNo9L-Medi"/>
              </a:rPr>
              <a:t>Faculté des Sciences Exactes Département de Recherche Opérationnelle</a:t>
            </a:r>
            <a:endParaRPr lang="fr-FR" sz="1400" dirty="0">
              <a:solidFill>
                <a:schemeClr val="bg1"/>
              </a:solidFill>
            </a:endParaRPr>
          </a:p>
        </p:txBody>
      </p:sp>
      <p:sp>
        <p:nvSpPr>
          <p:cNvPr id="3" name="Google Shape;163;p38">
            <a:extLst>
              <a:ext uri="{FF2B5EF4-FFF2-40B4-BE49-F238E27FC236}">
                <a16:creationId xmlns:a16="http://schemas.microsoft.com/office/drawing/2014/main" id="{3A3A6463-C40F-9EF9-5C8A-55AF8CDF6A9E}"/>
              </a:ext>
            </a:extLst>
          </p:cNvPr>
          <p:cNvSpPr txBox="1">
            <a:spLocks/>
          </p:cNvSpPr>
          <p:nvPr/>
        </p:nvSpPr>
        <p:spPr>
          <a:xfrm>
            <a:off x="1938556" y="3271663"/>
            <a:ext cx="5074891" cy="894399"/>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600" b="1" i="1" dirty="0">
                <a:solidFill>
                  <a:schemeClr val="bg1"/>
                </a:solidFill>
                <a:latin typeface="NimbusRomNo9L-MediItal"/>
              </a:rPr>
              <a:t>Introduction à Networkx et les réseaux de neurones</a:t>
            </a:r>
            <a:r>
              <a:rPr lang="fr-FR" sz="1600" dirty="0">
                <a:solidFill>
                  <a:schemeClr val="bg1"/>
                </a:solidFill>
              </a:rPr>
              <a:t> </a:t>
            </a:r>
            <a:br>
              <a:rPr lang="fr-FR" sz="1400" dirty="0">
                <a:solidFill>
                  <a:schemeClr val="bg1"/>
                </a:solidFill>
              </a:rPr>
            </a:br>
            <a:endParaRPr lang="fr-FR" sz="1400" dirty="0">
              <a:solidFill>
                <a:schemeClr val="bg1"/>
              </a:solidFill>
            </a:endParaRPr>
          </a:p>
        </p:txBody>
      </p:sp>
      <p:cxnSp>
        <p:nvCxnSpPr>
          <p:cNvPr id="4" name="Google Shape;165;p38">
            <a:extLst>
              <a:ext uri="{FF2B5EF4-FFF2-40B4-BE49-F238E27FC236}">
                <a16:creationId xmlns:a16="http://schemas.microsoft.com/office/drawing/2014/main" id="{6FA8BDB3-44D2-09DC-D6EF-82CC8BE83276}"/>
              </a:ext>
            </a:extLst>
          </p:cNvPr>
          <p:cNvCxnSpPr/>
          <p:nvPr/>
        </p:nvCxnSpPr>
        <p:spPr>
          <a:xfrm>
            <a:off x="2682499" y="1128200"/>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5" name="ZoneTexte 4">
            <a:extLst>
              <a:ext uri="{FF2B5EF4-FFF2-40B4-BE49-F238E27FC236}">
                <a16:creationId xmlns:a16="http://schemas.microsoft.com/office/drawing/2014/main" id="{22CA89FC-2CDD-2C32-0BFF-AC301BCAEE93}"/>
              </a:ext>
            </a:extLst>
          </p:cNvPr>
          <p:cNvSpPr txBox="1"/>
          <p:nvPr/>
        </p:nvSpPr>
        <p:spPr>
          <a:xfrm>
            <a:off x="6194738" y="4741436"/>
            <a:ext cx="2768958" cy="307777"/>
          </a:xfrm>
          <a:prstGeom prst="rect">
            <a:avLst/>
          </a:prstGeom>
          <a:noFill/>
        </p:spPr>
        <p:txBody>
          <a:bodyPr wrap="square" rtlCol="0">
            <a:spAutoFit/>
          </a:bodyPr>
          <a:lstStyle/>
          <a:p>
            <a:r>
              <a:rPr lang="fr-FR" sz="1400" b="1" dirty="0">
                <a:solidFill>
                  <a:schemeClr val="bg1"/>
                </a:solidFill>
              </a:rPr>
              <a:t>Année universitaire:2023-2024</a:t>
            </a:r>
          </a:p>
        </p:txBody>
      </p:sp>
      <p:sp>
        <p:nvSpPr>
          <p:cNvPr id="6" name="ZoneTexte 5">
            <a:extLst>
              <a:ext uri="{FF2B5EF4-FFF2-40B4-BE49-F238E27FC236}">
                <a16:creationId xmlns:a16="http://schemas.microsoft.com/office/drawing/2014/main" id="{4FF550CF-3473-9F39-4484-65BA25F5B330}"/>
              </a:ext>
            </a:extLst>
          </p:cNvPr>
          <p:cNvSpPr txBox="1"/>
          <p:nvPr/>
        </p:nvSpPr>
        <p:spPr>
          <a:xfrm>
            <a:off x="1937395" y="1940406"/>
            <a:ext cx="4275786" cy="954107"/>
          </a:xfrm>
          <a:prstGeom prst="rect">
            <a:avLst/>
          </a:prstGeom>
          <a:noFill/>
        </p:spPr>
        <p:txBody>
          <a:bodyPr wrap="square" rtlCol="0">
            <a:spAutoFit/>
          </a:bodyPr>
          <a:lstStyle/>
          <a:p>
            <a:pPr algn="ctr"/>
            <a:r>
              <a:rPr lang="fr-FR" sz="1400" b="1" i="0" dirty="0">
                <a:solidFill>
                  <a:schemeClr val="bg1"/>
                </a:solidFill>
                <a:effectLst/>
                <a:latin typeface="NimbusRomNo9L-Medi"/>
              </a:rPr>
              <a:t>Projet présenté</a:t>
            </a:r>
          </a:p>
          <a:p>
            <a:pPr algn="ctr"/>
            <a:r>
              <a:rPr lang="fr-FR" sz="1400" b="1" i="0" dirty="0">
                <a:solidFill>
                  <a:schemeClr val="bg1"/>
                </a:solidFill>
                <a:effectLst/>
                <a:latin typeface="NimbusRomNo9L-Medi"/>
              </a:rPr>
              <a:t>dans le cadre de la préparation du Diplôme de Licence En Mathématiques Appliquées</a:t>
            </a:r>
            <a:r>
              <a:rPr lang="fr-FR" sz="1400" b="1" dirty="0">
                <a:solidFill>
                  <a:schemeClr val="bg1"/>
                </a:solidFill>
              </a:rPr>
              <a:t> </a:t>
            </a:r>
            <a:br>
              <a:rPr lang="fr-FR" sz="1400" b="1" dirty="0">
                <a:solidFill>
                  <a:schemeClr val="bg1"/>
                </a:solidFill>
              </a:rPr>
            </a:br>
            <a:endParaRPr lang="fr-FR" sz="1400" b="1" dirty="0">
              <a:solidFill>
                <a:schemeClr val="bg1"/>
              </a:solidFill>
            </a:endParaRPr>
          </a:p>
        </p:txBody>
      </p:sp>
      <p:sp>
        <p:nvSpPr>
          <p:cNvPr id="8" name="ZoneTexte 7">
            <a:extLst>
              <a:ext uri="{FF2B5EF4-FFF2-40B4-BE49-F238E27FC236}">
                <a16:creationId xmlns:a16="http://schemas.microsoft.com/office/drawing/2014/main" id="{6EE35447-4BF9-1EC8-2FA3-1579D7CBA649}"/>
              </a:ext>
            </a:extLst>
          </p:cNvPr>
          <p:cNvSpPr txBox="1"/>
          <p:nvPr/>
        </p:nvSpPr>
        <p:spPr>
          <a:xfrm>
            <a:off x="2949263" y="4230494"/>
            <a:ext cx="2115355" cy="703847"/>
          </a:xfrm>
          <a:prstGeom prst="rect">
            <a:avLst/>
          </a:prstGeom>
          <a:noFill/>
        </p:spPr>
        <p:txBody>
          <a:bodyPr wrap="square">
            <a:spAutoFit/>
          </a:bodyPr>
          <a:lstStyle/>
          <a:p>
            <a:pPr>
              <a:lnSpc>
                <a:spcPct val="150000"/>
              </a:lnSpc>
            </a:pPr>
            <a:r>
              <a:rPr lang="fr-FR" sz="1400" b="1" i="1" dirty="0">
                <a:solidFill>
                  <a:schemeClr val="bg1"/>
                </a:solidFill>
                <a:effectLst/>
                <a:latin typeface="NimbusRomNo9L-ReguItal"/>
              </a:rPr>
              <a:t>Sous la direction de :</a:t>
            </a:r>
          </a:p>
          <a:p>
            <a:pPr>
              <a:lnSpc>
                <a:spcPct val="150000"/>
              </a:lnSpc>
            </a:pPr>
            <a:r>
              <a:rPr lang="fr-FR" sz="1400" b="1" i="1" dirty="0">
                <a:solidFill>
                  <a:schemeClr val="bg1"/>
                </a:solidFill>
                <a:effectLst/>
                <a:latin typeface="NimbusRomNo9L-MediItal"/>
              </a:rPr>
              <a:t>Mlle. </a:t>
            </a:r>
            <a:r>
              <a:rPr lang="fr-FR" sz="1400" b="1" i="1" dirty="0" err="1">
                <a:solidFill>
                  <a:schemeClr val="bg1"/>
                </a:solidFill>
                <a:effectLst/>
                <a:latin typeface="NimbusRomNo9L-MediItal"/>
              </a:rPr>
              <a:t>Aoudia</a:t>
            </a:r>
            <a:endParaRPr lang="fr-FR" sz="1400" b="1" dirty="0">
              <a:solidFill>
                <a:schemeClr val="bg1"/>
              </a:solidFill>
            </a:endParaRPr>
          </a:p>
        </p:txBody>
      </p:sp>
      <p:pic>
        <p:nvPicPr>
          <p:cNvPr id="9" name="Image 8">
            <a:extLst>
              <a:ext uri="{FF2B5EF4-FFF2-40B4-BE49-F238E27FC236}">
                <a16:creationId xmlns:a16="http://schemas.microsoft.com/office/drawing/2014/main" id="{FC8BC3D3-EE62-6A55-8575-F5621BE96004}"/>
              </a:ext>
            </a:extLst>
          </p:cNvPr>
          <p:cNvPicPr>
            <a:picLocks noChangeAspect="1"/>
          </p:cNvPicPr>
          <p:nvPr/>
        </p:nvPicPr>
        <p:blipFill>
          <a:blip r:embed="rId2"/>
          <a:stretch>
            <a:fillRect/>
          </a:stretch>
        </p:blipFill>
        <p:spPr>
          <a:xfrm>
            <a:off x="2820106" y="979521"/>
            <a:ext cx="2244512" cy="957278"/>
          </a:xfrm>
          <a:prstGeom prst="rect">
            <a:avLst/>
          </a:prstGeom>
        </p:spPr>
      </p:pic>
      <p:cxnSp>
        <p:nvCxnSpPr>
          <p:cNvPr id="15" name="Google Shape;165;p38">
            <a:extLst>
              <a:ext uri="{FF2B5EF4-FFF2-40B4-BE49-F238E27FC236}">
                <a16:creationId xmlns:a16="http://schemas.microsoft.com/office/drawing/2014/main" id="{CDDBB3BD-9500-1E46-0CA9-16815D2725DF}"/>
              </a:ext>
            </a:extLst>
          </p:cNvPr>
          <p:cNvCxnSpPr/>
          <p:nvPr/>
        </p:nvCxnSpPr>
        <p:spPr>
          <a:xfrm>
            <a:off x="2820106" y="1929591"/>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9808144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A0D006-40C4-32E4-BA34-C1F7128DD733}"/>
              </a:ext>
            </a:extLst>
          </p:cNvPr>
          <p:cNvSpPr txBox="1"/>
          <p:nvPr/>
        </p:nvSpPr>
        <p:spPr>
          <a:xfrm>
            <a:off x="2921459" y="2081873"/>
            <a:ext cx="3779520" cy="707886"/>
          </a:xfrm>
          <a:prstGeom prst="rect">
            <a:avLst/>
          </a:prstGeom>
          <a:noFill/>
        </p:spPr>
        <p:txBody>
          <a:bodyPr wrap="square" rtlCol="0">
            <a:spAutoFit/>
          </a:bodyPr>
          <a:lstStyle/>
          <a:p>
            <a:r>
              <a:rPr lang="fr-CA" sz="4000" kern="1200" dirty="0">
                <a:solidFill>
                  <a:schemeClr val="bg1"/>
                </a:solidFill>
                <a:latin typeface="MingLiU_HKSCS-ExtB" panose="02020500000000000000" pitchFamily="18" charset="-120"/>
                <a:ea typeface="MingLiU_HKSCS-ExtB" panose="02020500000000000000" pitchFamily="18" charset="-120"/>
              </a:rPr>
              <a:t>Présenté par:</a:t>
            </a:r>
          </a:p>
        </p:txBody>
      </p:sp>
    </p:spTree>
    <p:extLst>
      <p:ext uri="{BB962C8B-B14F-4D97-AF65-F5344CB8AC3E}">
        <p14:creationId xmlns:p14="http://schemas.microsoft.com/office/powerpoint/2010/main" val="369055416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A0D006-40C4-32E4-BA34-C1F7128DD733}"/>
              </a:ext>
            </a:extLst>
          </p:cNvPr>
          <p:cNvSpPr txBox="1"/>
          <p:nvPr/>
        </p:nvSpPr>
        <p:spPr>
          <a:xfrm>
            <a:off x="2682240" y="417665"/>
            <a:ext cx="3779520" cy="707886"/>
          </a:xfrm>
          <a:prstGeom prst="rect">
            <a:avLst/>
          </a:prstGeom>
          <a:noFill/>
        </p:spPr>
        <p:txBody>
          <a:bodyPr wrap="square" rtlCol="0">
            <a:spAutoFit/>
          </a:bodyPr>
          <a:lstStyle/>
          <a:p>
            <a:r>
              <a:rPr lang="fr-CA" sz="4000" kern="1200" dirty="0">
                <a:solidFill>
                  <a:schemeClr val="bg1"/>
                </a:solidFill>
                <a:latin typeface="MingLiU_HKSCS-ExtB" panose="02020500000000000000" pitchFamily="18" charset="-120"/>
                <a:ea typeface="MingLiU_HKSCS-ExtB" panose="02020500000000000000" pitchFamily="18" charset="-120"/>
              </a:rPr>
              <a:t>Présenté par:</a:t>
            </a:r>
          </a:p>
        </p:txBody>
      </p:sp>
      <p:sp>
        <p:nvSpPr>
          <p:cNvPr id="2" name="ZoneTexte 1">
            <a:extLst>
              <a:ext uri="{FF2B5EF4-FFF2-40B4-BE49-F238E27FC236}">
                <a16:creationId xmlns:a16="http://schemas.microsoft.com/office/drawing/2014/main" id="{ED20C77A-ECCF-36C2-A6E8-8AF450179B9E}"/>
              </a:ext>
            </a:extLst>
          </p:cNvPr>
          <p:cNvSpPr txBox="1"/>
          <p:nvPr/>
        </p:nvSpPr>
        <p:spPr>
          <a:xfrm>
            <a:off x="2331720" y="1587716"/>
            <a:ext cx="5212080" cy="461665"/>
          </a:xfrm>
          <a:prstGeom prst="rect">
            <a:avLst/>
          </a:prstGeom>
          <a:noFill/>
        </p:spPr>
        <p:txBody>
          <a:bodyPr wrap="square" rtlCol="0">
            <a:spAutoFit/>
          </a:bodyPr>
          <a:lstStyle/>
          <a:p>
            <a:pPr marL="285750" indent="-285750">
              <a:buFont typeface="Arial" panose="020B0604020202020204" pitchFamily="34" charset="0"/>
              <a:buChar char="•"/>
            </a:pPr>
            <a:r>
              <a:rPr lang="fr-FR" sz="2400" b="1" dirty="0">
                <a:solidFill>
                  <a:schemeClr val="bg1"/>
                </a:solidFill>
              </a:rPr>
              <a:t>MESROUR LOUNIS</a:t>
            </a:r>
          </a:p>
        </p:txBody>
      </p:sp>
      <p:sp>
        <p:nvSpPr>
          <p:cNvPr id="6" name="ZoneTexte 5">
            <a:extLst>
              <a:ext uri="{FF2B5EF4-FFF2-40B4-BE49-F238E27FC236}">
                <a16:creationId xmlns:a16="http://schemas.microsoft.com/office/drawing/2014/main" id="{B7894C67-434C-10DD-93F4-2926CF66212F}"/>
              </a:ext>
            </a:extLst>
          </p:cNvPr>
          <p:cNvSpPr txBox="1"/>
          <p:nvPr/>
        </p:nvSpPr>
        <p:spPr>
          <a:xfrm>
            <a:off x="2331720" y="2303145"/>
            <a:ext cx="5084064" cy="461665"/>
          </a:xfrm>
          <a:prstGeom prst="rect">
            <a:avLst/>
          </a:prstGeom>
          <a:noFill/>
        </p:spPr>
        <p:txBody>
          <a:bodyPr wrap="square" rtlCol="0">
            <a:spAutoFit/>
          </a:bodyPr>
          <a:lstStyle/>
          <a:p>
            <a:pPr marL="285750" indent="-285750">
              <a:buFont typeface="Arial" panose="020B0604020202020204" pitchFamily="34" charset="0"/>
              <a:buChar char="•"/>
            </a:pPr>
            <a:r>
              <a:rPr lang="fr-FR" sz="2400" b="1" dirty="0">
                <a:solidFill>
                  <a:schemeClr val="bg1"/>
                </a:solidFill>
              </a:rPr>
              <a:t>MOKHTARI ANIS BADREDINE</a:t>
            </a:r>
          </a:p>
        </p:txBody>
      </p:sp>
      <p:sp>
        <p:nvSpPr>
          <p:cNvPr id="7" name="ZoneTexte 6">
            <a:extLst>
              <a:ext uri="{FF2B5EF4-FFF2-40B4-BE49-F238E27FC236}">
                <a16:creationId xmlns:a16="http://schemas.microsoft.com/office/drawing/2014/main" id="{FA37C67F-9F41-F127-C4B7-D8221427F119}"/>
              </a:ext>
            </a:extLst>
          </p:cNvPr>
          <p:cNvSpPr txBox="1"/>
          <p:nvPr/>
        </p:nvSpPr>
        <p:spPr>
          <a:xfrm>
            <a:off x="2331720" y="3074492"/>
            <a:ext cx="4114800" cy="738664"/>
          </a:xfrm>
          <a:prstGeom prst="rect">
            <a:avLst/>
          </a:prstGeom>
          <a:noFill/>
        </p:spPr>
        <p:txBody>
          <a:bodyPr wrap="square" rtlCol="0">
            <a:spAutoFit/>
          </a:bodyPr>
          <a:lstStyle/>
          <a:p>
            <a:pPr marL="342900" indent="-342900">
              <a:buFont typeface="Arial" panose="020B0604020202020204" pitchFamily="34" charset="0"/>
              <a:buChar char="•"/>
            </a:pPr>
            <a:r>
              <a:rPr lang="fr-FR" sz="2400" b="1" dirty="0">
                <a:solidFill>
                  <a:schemeClr val="bg1"/>
                </a:solidFill>
              </a:rPr>
              <a:t>OURTILANE MOHAND</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60244461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0" y="101577"/>
            <a:ext cx="9144000" cy="646331"/>
          </a:xfrm>
          <a:prstGeom prst="rect">
            <a:avLst/>
          </a:prstGeom>
          <a:noFill/>
        </p:spPr>
        <p:txBody>
          <a:bodyPr wrap="square" rtlCol="0" anchor="ctr">
            <a:spAutoFit/>
          </a:bodyPr>
          <a:lstStyle/>
          <a:p>
            <a:pPr algn="ctr"/>
            <a:r>
              <a:rPr lang="en-US" altLang="ko-KR" sz="3600" b="1" dirty="0">
                <a:solidFill>
                  <a:schemeClr val="bg1"/>
                </a:solidFill>
                <a:latin typeface="Perpetua Titling MT" panose="02020502060505020804" pitchFamily="18" charset="0"/>
                <a:cs typeface="Arial" pitchFamily="34" charset="0"/>
              </a:rPr>
              <a:t>Plan  de travail</a:t>
            </a:r>
            <a:endParaRPr lang="ko-KR" altLang="en-US" sz="3600" b="1" dirty="0">
              <a:solidFill>
                <a:schemeClr val="bg1"/>
              </a:solidFill>
              <a:latin typeface="Perpetua Titling MT" panose="02020502060505020804" pitchFamily="18" charset="0"/>
              <a:cs typeface="Arial" pitchFamily="34" charset="0"/>
            </a:endParaRPr>
          </a:p>
        </p:txBody>
      </p:sp>
      <p:grpSp>
        <p:nvGrpSpPr>
          <p:cNvPr id="12" name="Group 6">
            <a:extLst>
              <a:ext uri="{FF2B5EF4-FFF2-40B4-BE49-F238E27FC236}">
                <a16:creationId xmlns:a16="http://schemas.microsoft.com/office/drawing/2014/main" id="{4CEDAC6E-741A-4A54-AC9A-D18566898FE9}"/>
              </a:ext>
            </a:extLst>
          </p:cNvPr>
          <p:cNvGrpSpPr/>
          <p:nvPr/>
        </p:nvGrpSpPr>
        <p:grpSpPr>
          <a:xfrm>
            <a:off x="923665" y="3382667"/>
            <a:ext cx="3380389" cy="911711"/>
            <a:chOff x="779208" y="1375358"/>
            <a:chExt cx="4507185" cy="1215614"/>
          </a:xfrm>
        </p:grpSpPr>
        <p:sp>
          <p:nvSpPr>
            <p:cNvPr id="14" name="TextBox 13">
              <a:extLst>
                <a:ext uri="{FF2B5EF4-FFF2-40B4-BE49-F238E27FC236}">
                  <a16:creationId xmlns:a16="http://schemas.microsoft.com/office/drawing/2014/main" id="{38168D67-7933-4A99-95AD-BEBD4F0423F4}"/>
                </a:ext>
              </a:extLst>
            </p:cNvPr>
            <p:cNvSpPr txBox="1"/>
            <p:nvPr/>
          </p:nvSpPr>
          <p:spPr>
            <a:xfrm>
              <a:off x="779208" y="1893346"/>
              <a:ext cx="3488745" cy="697626"/>
            </a:xfrm>
            <a:prstGeom prst="rect">
              <a:avLst/>
            </a:prstGeom>
            <a:noFill/>
          </p:spPr>
          <p:txBody>
            <a:bodyPr wrap="square" lIns="81000" rIns="81000" rtlCol="0">
              <a:spAutoFit/>
            </a:bodyPr>
            <a:lstStyle/>
            <a:p>
              <a:r>
                <a:rPr lang="en-GB" altLang="ko-KR" sz="2800" b="1" dirty="0">
                  <a:solidFill>
                    <a:schemeClr val="bg1"/>
                  </a:solidFill>
                  <a:cs typeface="Arial" pitchFamily="34" charset="0"/>
                </a:rPr>
                <a:t>  CHAPITRE  II:</a:t>
              </a:r>
              <a:endParaRPr lang="ko-KR" altLang="en-US" sz="2800" b="1" dirty="0">
                <a:solidFill>
                  <a:schemeClr val="bg1"/>
                </a:solidFill>
                <a:cs typeface="Arial" pitchFamily="34" charset="0"/>
              </a:endParaRPr>
            </a:p>
          </p:txBody>
        </p:sp>
        <p:sp>
          <p:nvSpPr>
            <p:cNvPr id="15" name="TextBox 14">
              <a:extLst>
                <a:ext uri="{FF2B5EF4-FFF2-40B4-BE49-F238E27FC236}">
                  <a16:creationId xmlns:a16="http://schemas.microsoft.com/office/drawing/2014/main" id="{28F871B9-8F04-4BD3-B06B-6606F69828D9}"/>
                </a:ext>
              </a:extLst>
            </p:cNvPr>
            <p:cNvSpPr txBox="1"/>
            <p:nvPr/>
          </p:nvSpPr>
          <p:spPr>
            <a:xfrm>
              <a:off x="2167367" y="1375358"/>
              <a:ext cx="3119026" cy="307776"/>
            </a:xfrm>
            <a:prstGeom prst="rect">
              <a:avLst/>
            </a:prstGeom>
            <a:noFill/>
          </p:spPr>
          <p:txBody>
            <a:bodyPr wrap="square" rtlCol="0">
              <a:spAutoFit/>
            </a:bodyPr>
            <a:lstStyle/>
            <a:p>
              <a:endParaRPr lang="ko-KR" altLang="en-US" sz="900" dirty="0">
                <a:solidFill>
                  <a:schemeClr val="bg1"/>
                </a:solidFill>
                <a:cs typeface="Arial" pitchFamily="34" charset="0"/>
              </a:endParaRPr>
            </a:p>
          </p:txBody>
        </p:sp>
      </p:grpSp>
      <p:cxnSp>
        <p:nvCxnSpPr>
          <p:cNvPr id="6" name="Connecteur droit 5">
            <a:extLst>
              <a:ext uri="{FF2B5EF4-FFF2-40B4-BE49-F238E27FC236}">
                <a16:creationId xmlns:a16="http://schemas.microsoft.com/office/drawing/2014/main" id="{AA0C5451-6380-F8DE-BB66-753CBFCEDADF}"/>
              </a:ext>
            </a:extLst>
          </p:cNvPr>
          <p:cNvCxnSpPr/>
          <p:nvPr/>
        </p:nvCxnSpPr>
        <p:spPr>
          <a:xfrm>
            <a:off x="4434114" y="1482584"/>
            <a:ext cx="0" cy="2628000"/>
          </a:xfrm>
          <a:prstGeom prst="line">
            <a:avLst/>
          </a:prstGeom>
          <a:ln>
            <a:solidFill>
              <a:schemeClr val="bg1"/>
            </a:solidFill>
          </a:ln>
          <a:effectLst>
            <a:glow rad="317500">
              <a:schemeClr val="bg1">
                <a:alpha val="99000"/>
              </a:schemeClr>
            </a:glow>
            <a:reflection stA="45000" endPos="65000" dist="12700" dir="5400000" sy="-100000" algn="bl" rotWithShape="0"/>
          </a:effectLst>
        </p:spPr>
        <p:style>
          <a:lnRef idx="2">
            <a:schemeClr val="dk1"/>
          </a:lnRef>
          <a:fillRef idx="0">
            <a:schemeClr val="dk1"/>
          </a:fillRef>
          <a:effectRef idx="1">
            <a:schemeClr val="dk1"/>
          </a:effectRef>
          <a:fontRef idx="minor">
            <a:schemeClr val="tx1"/>
          </a:fontRef>
        </p:style>
      </p:cxnSp>
      <p:sp>
        <p:nvSpPr>
          <p:cNvPr id="19" name="ZoneTexte 18">
            <a:extLst>
              <a:ext uri="{FF2B5EF4-FFF2-40B4-BE49-F238E27FC236}">
                <a16:creationId xmlns:a16="http://schemas.microsoft.com/office/drawing/2014/main" id="{407C4053-B472-8D1D-3769-C8AF87CBD1DA}"/>
              </a:ext>
            </a:extLst>
          </p:cNvPr>
          <p:cNvSpPr txBox="1"/>
          <p:nvPr/>
        </p:nvSpPr>
        <p:spPr>
          <a:xfrm flipH="1">
            <a:off x="830323" y="628568"/>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a:t>
            </a:r>
          </a:p>
        </p:txBody>
      </p:sp>
      <p:sp>
        <p:nvSpPr>
          <p:cNvPr id="21" name="ZoneTexte 20">
            <a:extLst>
              <a:ext uri="{FF2B5EF4-FFF2-40B4-BE49-F238E27FC236}">
                <a16:creationId xmlns:a16="http://schemas.microsoft.com/office/drawing/2014/main" id="{5B021A4A-A1C2-4077-05CC-F7F054A78412}"/>
              </a:ext>
            </a:extLst>
          </p:cNvPr>
          <p:cNvSpPr txBox="1"/>
          <p:nvPr/>
        </p:nvSpPr>
        <p:spPr>
          <a:xfrm flipH="1">
            <a:off x="5432754" y="628567"/>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II</a:t>
            </a:r>
          </a:p>
        </p:txBody>
      </p:sp>
      <p:sp>
        <p:nvSpPr>
          <p:cNvPr id="3" name="ZoneTexte 2">
            <a:extLst>
              <a:ext uri="{FF2B5EF4-FFF2-40B4-BE49-F238E27FC236}">
                <a16:creationId xmlns:a16="http://schemas.microsoft.com/office/drawing/2014/main" id="{F742EAFD-1240-72FE-F0DA-90E7A779CA60}"/>
              </a:ext>
            </a:extLst>
          </p:cNvPr>
          <p:cNvSpPr txBox="1"/>
          <p:nvPr/>
        </p:nvSpPr>
        <p:spPr>
          <a:xfrm>
            <a:off x="1175833" y="2013312"/>
            <a:ext cx="2340783" cy="523220"/>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p:txBody>
      </p:sp>
      <p:sp>
        <p:nvSpPr>
          <p:cNvPr id="7" name="ZoneTexte 6">
            <a:extLst>
              <a:ext uri="{FF2B5EF4-FFF2-40B4-BE49-F238E27FC236}">
                <a16:creationId xmlns:a16="http://schemas.microsoft.com/office/drawing/2014/main" id="{56862E2B-E176-692A-5589-DA6310B8BA40}"/>
              </a:ext>
            </a:extLst>
          </p:cNvPr>
          <p:cNvSpPr txBox="1"/>
          <p:nvPr/>
        </p:nvSpPr>
        <p:spPr>
          <a:xfrm>
            <a:off x="5751576" y="1992550"/>
            <a:ext cx="2624324" cy="800219"/>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a:p>
            <a:endParaRPr lang="fr-FR" dirty="0"/>
          </a:p>
        </p:txBody>
      </p:sp>
      <p:sp>
        <p:nvSpPr>
          <p:cNvPr id="8" name="ZoneTexte 7">
            <a:extLst>
              <a:ext uri="{FF2B5EF4-FFF2-40B4-BE49-F238E27FC236}">
                <a16:creationId xmlns:a16="http://schemas.microsoft.com/office/drawing/2014/main" id="{565F64A3-D12C-132B-EFE1-EDE3C8001EA2}"/>
              </a:ext>
            </a:extLst>
          </p:cNvPr>
          <p:cNvSpPr txBox="1"/>
          <p:nvPr/>
        </p:nvSpPr>
        <p:spPr>
          <a:xfrm>
            <a:off x="5797295" y="3714148"/>
            <a:ext cx="2532886" cy="523220"/>
          </a:xfrm>
          <a:prstGeom prst="rect">
            <a:avLst/>
          </a:prstGeom>
          <a:noFill/>
        </p:spPr>
        <p:txBody>
          <a:bodyPr wrap="square" rtlCol="0">
            <a:spAutoFit/>
          </a:bodyPr>
          <a:lstStyle/>
          <a:p>
            <a:r>
              <a:rPr lang="fr-FR" sz="2800" b="1" dirty="0">
                <a:solidFill>
                  <a:schemeClr val="bg1"/>
                </a:solidFill>
              </a:rPr>
              <a:t>CHAPITRE II</a:t>
            </a:r>
            <a:r>
              <a:rPr lang="en-US" sz="2800" b="1" dirty="0">
                <a:solidFill>
                  <a:schemeClr val="bg1"/>
                </a:solidFill>
              </a:rPr>
              <a:t>:</a:t>
            </a:r>
            <a:endParaRPr lang="fr-FR" sz="2800" b="1" dirty="0">
              <a:solidFill>
                <a:schemeClr val="bg1"/>
              </a:solidFill>
            </a:endParaRPr>
          </a:p>
        </p:txBody>
      </p:sp>
    </p:spTree>
    <p:extLst>
      <p:ext uri="{BB962C8B-B14F-4D97-AF65-F5344CB8AC3E}">
        <p14:creationId xmlns:p14="http://schemas.microsoft.com/office/powerpoint/2010/main" val="124199393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0" y="101577"/>
            <a:ext cx="9144000" cy="646331"/>
          </a:xfrm>
          <a:prstGeom prst="rect">
            <a:avLst/>
          </a:prstGeom>
          <a:noFill/>
        </p:spPr>
        <p:txBody>
          <a:bodyPr wrap="square" rtlCol="0" anchor="ctr">
            <a:spAutoFit/>
          </a:bodyPr>
          <a:lstStyle/>
          <a:p>
            <a:pPr algn="ctr"/>
            <a:r>
              <a:rPr lang="en-US" altLang="ko-KR" sz="3600" b="1" dirty="0">
                <a:solidFill>
                  <a:schemeClr val="bg1"/>
                </a:solidFill>
                <a:latin typeface="Perpetua Titling MT" panose="02020502060505020804" pitchFamily="18" charset="0"/>
                <a:cs typeface="Arial" pitchFamily="34" charset="0"/>
              </a:rPr>
              <a:t>Plan  de travail</a:t>
            </a:r>
            <a:endParaRPr lang="ko-KR" altLang="en-US" sz="3600" b="1" dirty="0">
              <a:solidFill>
                <a:schemeClr val="bg1"/>
              </a:solidFill>
              <a:latin typeface="Perpetua Titling MT" panose="02020502060505020804" pitchFamily="18" charset="0"/>
              <a:cs typeface="Arial" pitchFamily="34" charset="0"/>
            </a:endParaRPr>
          </a:p>
        </p:txBody>
      </p:sp>
      <p:grpSp>
        <p:nvGrpSpPr>
          <p:cNvPr id="12" name="Group 6">
            <a:extLst>
              <a:ext uri="{FF2B5EF4-FFF2-40B4-BE49-F238E27FC236}">
                <a16:creationId xmlns:a16="http://schemas.microsoft.com/office/drawing/2014/main" id="{4CEDAC6E-741A-4A54-AC9A-D18566898FE9}"/>
              </a:ext>
            </a:extLst>
          </p:cNvPr>
          <p:cNvGrpSpPr/>
          <p:nvPr/>
        </p:nvGrpSpPr>
        <p:grpSpPr>
          <a:xfrm>
            <a:off x="-172314" y="3236474"/>
            <a:ext cx="4476368" cy="523220"/>
            <a:chOff x="-682097" y="1180433"/>
            <a:chExt cx="5968490" cy="697626"/>
          </a:xfrm>
        </p:grpSpPr>
        <p:sp>
          <p:nvSpPr>
            <p:cNvPr id="14" name="TextBox 13">
              <a:extLst>
                <a:ext uri="{FF2B5EF4-FFF2-40B4-BE49-F238E27FC236}">
                  <a16:creationId xmlns:a16="http://schemas.microsoft.com/office/drawing/2014/main" id="{38168D67-7933-4A99-95AD-BEBD4F0423F4}"/>
                </a:ext>
              </a:extLst>
            </p:cNvPr>
            <p:cNvSpPr txBox="1"/>
            <p:nvPr/>
          </p:nvSpPr>
          <p:spPr>
            <a:xfrm>
              <a:off x="-682097" y="1180433"/>
              <a:ext cx="3488745" cy="697626"/>
            </a:xfrm>
            <a:prstGeom prst="rect">
              <a:avLst/>
            </a:prstGeom>
            <a:noFill/>
          </p:spPr>
          <p:txBody>
            <a:bodyPr wrap="square" lIns="81000" rIns="81000" rtlCol="0">
              <a:spAutoFit/>
            </a:bodyPr>
            <a:lstStyle/>
            <a:p>
              <a:r>
                <a:rPr lang="en-GB" altLang="ko-KR" sz="2800" b="1" dirty="0">
                  <a:solidFill>
                    <a:schemeClr val="bg1"/>
                  </a:solidFill>
                  <a:cs typeface="Arial" pitchFamily="34" charset="0"/>
                </a:rPr>
                <a:t>  CHAPITRE  II:</a:t>
              </a:r>
              <a:endParaRPr lang="ko-KR" altLang="en-US" sz="2800" b="1" dirty="0">
                <a:solidFill>
                  <a:schemeClr val="bg1"/>
                </a:solidFill>
                <a:cs typeface="Arial" pitchFamily="34" charset="0"/>
              </a:endParaRPr>
            </a:p>
          </p:txBody>
        </p:sp>
        <p:sp>
          <p:nvSpPr>
            <p:cNvPr id="15" name="TextBox 14">
              <a:extLst>
                <a:ext uri="{FF2B5EF4-FFF2-40B4-BE49-F238E27FC236}">
                  <a16:creationId xmlns:a16="http://schemas.microsoft.com/office/drawing/2014/main" id="{28F871B9-8F04-4BD3-B06B-6606F69828D9}"/>
                </a:ext>
              </a:extLst>
            </p:cNvPr>
            <p:cNvSpPr txBox="1"/>
            <p:nvPr/>
          </p:nvSpPr>
          <p:spPr>
            <a:xfrm>
              <a:off x="2167367" y="1375358"/>
              <a:ext cx="3119026" cy="307776"/>
            </a:xfrm>
            <a:prstGeom prst="rect">
              <a:avLst/>
            </a:prstGeom>
            <a:noFill/>
          </p:spPr>
          <p:txBody>
            <a:bodyPr wrap="square" rtlCol="0">
              <a:spAutoFit/>
            </a:bodyPr>
            <a:lstStyle/>
            <a:p>
              <a:endParaRPr lang="ko-KR" altLang="en-US" sz="900" dirty="0">
                <a:solidFill>
                  <a:schemeClr val="bg1"/>
                </a:solidFill>
                <a:cs typeface="Arial" pitchFamily="34" charset="0"/>
              </a:endParaRPr>
            </a:p>
          </p:txBody>
        </p:sp>
      </p:grpSp>
      <p:cxnSp>
        <p:nvCxnSpPr>
          <p:cNvPr id="6" name="Connecteur droit 5">
            <a:extLst>
              <a:ext uri="{FF2B5EF4-FFF2-40B4-BE49-F238E27FC236}">
                <a16:creationId xmlns:a16="http://schemas.microsoft.com/office/drawing/2014/main" id="{AA0C5451-6380-F8DE-BB66-753CBFCEDADF}"/>
              </a:ext>
            </a:extLst>
          </p:cNvPr>
          <p:cNvCxnSpPr/>
          <p:nvPr/>
        </p:nvCxnSpPr>
        <p:spPr>
          <a:xfrm>
            <a:off x="4434114" y="1482584"/>
            <a:ext cx="0" cy="2628000"/>
          </a:xfrm>
          <a:prstGeom prst="line">
            <a:avLst/>
          </a:prstGeom>
          <a:ln>
            <a:solidFill>
              <a:schemeClr val="bg1"/>
            </a:solidFill>
          </a:ln>
          <a:effectLst>
            <a:glow rad="317500">
              <a:schemeClr val="bg1">
                <a:alpha val="99000"/>
              </a:schemeClr>
            </a:glow>
            <a:reflection stA="45000" endPos="65000" dist="12700" dir="5400000" sy="-100000" algn="bl" rotWithShape="0"/>
          </a:effectLst>
        </p:spPr>
        <p:style>
          <a:lnRef idx="2">
            <a:schemeClr val="dk1"/>
          </a:lnRef>
          <a:fillRef idx="0">
            <a:schemeClr val="dk1"/>
          </a:fillRef>
          <a:effectRef idx="1">
            <a:schemeClr val="dk1"/>
          </a:effectRef>
          <a:fontRef idx="minor">
            <a:schemeClr val="tx1"/>
          </a:fontRef>
        </p:style>
      </p:cxnSp>
      <p:sp>
        <p:nvSpPr>
          <p:cNvPr id="19" name="ZoneTexte 18">
            <a:extLst>
              <a:ext uri="{FF2B5EF4-FFF2-40B4-BE49-F238E27FC236}">
                <a16:creationId xmlns:a16="http://schemas.microsoft.com/office/drawing/2014/main" id="{407C4053-B472-8D1D-3769-C8AF87CBD1DA}"/>
              </a:ext>
            </a:extLst>
          </p:cNvPr>
          <p:cNvSpPr txBox="1"/>
          <p:nvPr/>
        </p:nvSpPr>
        <p:spPr>
          <a:xfrm flipH="1">
            <a:off x="830323" y="628568"/>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a:t>
            </a:r>
          </a:p>
        </p:txBody>
      </p:sp>
      <p:sp>
        <p:nvSpPr>
          <p:cNvPr id="21" name="ZoneTexte 20">
            <a:extLst>
              <a:ext uri="{FF2B5EF4-FFF2-40B4-BE49-F238E27FC236}">
                <a16:creationId xmlns:a16="http://schemas.microsoft.com/office/drawing/2014/main" id="{5B021A4A-A1C2-4077-05CC-F7F054A78412}"/>
              </a:ext>
            </a:extLst>
          </p:cNvPr>
          <p:cNvSpPr txBox="1"/>
          <p:nvPr/>
        </p:nvSpPr>
        <p:spPr>
          <a:xfrm flipH="1">
            <a:off x="5432754" y="628567"/>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II</a:t>
            </a:r>
          </a:p>
        </p:txBody>
      </p:sp>
      <p:sp>
        <p:nvSpPr>
          <p:cNvPr id="3" name="ZoneTexte 2">
            <a:extLst>
              <a:ext uri="{FF2B5EF4-FFF2-40B4-BE49-F238E27FC236}">
                <a16:creationId xmlns:a16="http://schemas.microsoft.com/office/drawing/2014/main" id="{F742EAFD-1240-72FE-F0DA-90E7A779CA60}"/>
              </a:ext>
            </a:extLst>
          </p:cNvPr>
          <p:cNvSpPr txBox="1"/>
          <p:nvPr/>
        </p:nvSpPr>
        <p:spPr>
          <a:xfrm>
            <a:off x="88516" y="1605508"/>
            <a:ext cx="2340783" cy="523220"/>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p:txBody>
      </p:sp>
      <p:sp>
        <p:nvSpPr>
          <p:cNvPr id="7" name="ZoneTexte 6">
            <a:extLst>
              <a:ext uri="{FF2B5EF4-FFF2-40B4-BE49-F238E27FC236}">
                <a16:creationId xmlns:a16="http://schemas.microsoft.com/office/drawing/2014/main" id="{56862E2B-E176-692A-5589-DA6310B8BA40}"/>
              </a:ext>
            </a:extLst>
          </p:cNvPr>
          <p:cNvSpPr txBox="1"/>
          <p:nvPr/>
        </p:nvSpPr>
        <p:spPr>
          <a:xfrm>
            <a:off x="5126768" y="1605508"/>
            <a:ext cx="2624324" cy="800219"/>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a:p>
            <a:endParaRPr lang="fr-FR" dirty="0"/>
          </a:p>
        </p:txBody>
      </p:sp>
      <p:sp>
        <p:nvSpPr>
          <p:cNvPr id="8" name="ZoneTexte 7">
            <a:extLst>
              <a:ext uri="{FF2B5EF4-FFF2-40B4-BE49-F238E27FC236}">
                <a16:creationId xmlns:a16="http://schemas.microsoft.com/office/drawing/2014/main" id="{565F64A3-D12C-132B-EFE1-EDE3C8001EA2}"/>
              </a:ext>
            </a:extLst>
          </p:cNvPr>
          <p:cNvSpPr txBox="1"/>
          <p:nvPr/>
        </p:nvSpPr>
        <p:spPr>
          <a:xfrm>
            <a:off x="5126768" y="3255693"/>
            <a:ext cx="2532886" cy="523220"/>
          </a:xfrm>
          <a:prstGeom prst="rect">
            <a:avLst/>
          </a:prstGeom>
          <a:noFill/>
        </p:spPr>
        <p:txBody>
          <a:bodyPr wrap="square" rtlCol="0">
            <a:spAutoFit/>
          </a:bodyPr>
          <a:lstStyle/>
          <a:p>
            <a:r>
              <a:rPr lang="fr-FR" sz="2800" b="1" dirty="0">
                <a:solidFill>
                  <a:schemeClr val="bg1"/>
                </a:solidFill>
              </a:rPr>
              <a:t>CHAPITRE II</a:t>
            </a:r>
            <a:r>
              <a:rPr lang="en-US" sz="2800" b="1" dirty="0">
                <a:solidFill>
                  <a:schemeClr val="bg1"/>
                </a:solidFill>
              </a:rPr>
              <a:t>:</a:t>
            </a:r>
            <a:endParaRPr lang="fr-FR" sz="2800" b="1" dirty="0">
              <a:solidFill>
                <a:schemeClr val="bg1"/>
              </a:solidFill>
            </a:endParaRPr>
          </a:p>
        </p:txBody>
      </p:sp>
      <p:sp>
        <p:nvSpPr>
          <p:cNvPr id="5" name="ZoneTexte 4">
            <a:extLst>
              <a:ext uri="{FF2B5EF4-FFF2-40B4-BE49-F238E27FC236}">
                <a16:creationId xmlns:a16="http://schemas.microsoft.com/office/drawing/2014/main" id="{3B10EC8C-970F-AA61-D95A-BB92532A929B}"/>
              </a:ext>
            </a:extLst>
          </p:cNvPr>
          <p:cNvSpPr txBox="1"/>
          <p:nvPr/>
        </p:nvSpPr>
        <p:spPr>
          <a:xfrm>
            <a:off x="1629812" y="2128728"/>
            <a:ext cx="2291628" cy="830997"/>
          </a:xfrm>
          <a:prstGeom prst="rect">
            <a:avLst/>
          </a:prstGeom>
          <a:noFill/>
        </p:spPr>
        <p:txBody>
          <a:bodyPr wrap="square" rtlCol="0">
            <a:spAutoFit/>
          </a:bodyPr>
          <a:lstStyle/>
          <a:p>
            <a:r>
              <a:rPr lang="fr-FR" sz="2400" b="1" dirty="0">
                <a:solidFill>
                  <a:schemeClr val="bg1"/>
                </a:solidFill>
              </a:rPr>
              <a:t>Théorie des graphes</a:t>
            </a:r>
          </a:p>
        </p:txBody>
      </p:sp>
      <p:sp>
        <p:nvSpPr>
          <p:cNvPr id="9" name="ZoneTexte 8">
            <a:extLst>
              <a:ext uri="{FF2B5EF4-FFF2-40B4-BE49-F238E27FC236}">
                <a16:creationId xmlns:a16="http://schemas.microsoft.com/office/drawing/2014/main" id="{1CD6D5D5-FF74-25CF-C702-28F1B18502E8}"/>
              </a:ext>
            </a:extLst>
          </p:cNvPr>
          <p:cNvSpPr txBox="1"/>
          <p:nvPr/>
        </p:nvSpPr>
        <p:spPr>
          <a:xfrm>
            <a:off x="6711093" y="2175711"/>
            <a:ext cx="2532883" cy="830997"/>
          </a:xfrm>
          <a:prstGeom prst="rect">
            <a:avLst/>
          </a:prstGeom>
          <a:noFill/>
        </p:spPr>
        <p:txBody>
          <a:bodyPr wrap="square" rtlCol="0">
            <a:spAutoFit/>
          </a:bodyPr>
          <a:lstStyle/>
          <a:p>
            <a:r>
              <a:rPr lang="fr-FR" altLang="ko-KR" sz="2400" b="1" dirty="0">
                <a:solidFill>
                  <a:schemeClr val="bg1"/>
                </a:solidFill>
                <a:cs typeface="Arial" pitchFamily="34" charset="0"/>
              </a:rPr>
              <a:t>Les Réseaux de neurones </a:t>
            </a:r>
            <a:endParaRPr lang="ko-KR" altLang="en-US" sz="2400" b="1" dirty="0">
              <a:solidFill>
                <a:schemeClr val="bg1"/>
              </a:solidFill>
              <a:cs typeface="Arial" pitchFamily="34" charset="0"/>
            </a:endParaRPr>
          </a:p>
        </p:txBody>
      </p:sp>
      <p:sp>
        <p:nvSpPr>
          <p:cNvPr id="10" name="ZoneTexte 9">
            <a:extLst>
              <a:ext uri="{FF2B5EF4-FFF2-40B4-BE49-F238E27FC236}">
                <a16:creationId xmlns:a16="http://schemas.microsoft.com/office/drawing/2014/main" id="{CB647465-C7F3-1C03-3F19-958203C75685}"/>
              </a:ext>
            </a:extLst>
          </p:cNvPr>
          <p:cNvSpPr txBox="1"/>
          <p:nvPr/>
        </p:nvSpPr>
        <p:spPr>
          <a:xfrm>
            <a:off x="6811070" y="3925918"/>
            <a:ext cx="2332930" cy="461665"/>
          </a:xfrm>
          <a:prstGeom prst="rect">
            <a:avLst/>
          </a:prstGeom>
          <a:noFill/>
        </p:spPr>
        <p:txBody>
          <a:bodyPr wrap="square" rtlCol="0">
            <a:spAutoFit/>
          </a:bodyPr>
          <a:lstStyle/>
          <a:p>
            <a:r>
              <a:rPr lang="fr-FR" sz="2400" b="1" dirty="0">
                <a:solidFill>
                  <a:schemeClr val="bg1"/>
                </a:solidFill>
              </a:rPr>
              <a:t>Application</a:t>
            </a:r>
          </a:p>
        </p:txBody>
      </p:sp>
      <p:sp>
        <p:nvSpPr>
          <p:cNvPr id="11" name="ZoneTexte 10">
            <a:extLst>
              <a:ext uri="{FF2B5EF4-FFF2-40B4-BE49-F238E27FC236}">
                <a16:creationId xmlns:a16="http://schemas.microsoft.com/office/drawing/2014/main" id="{50E13FCC-C0AE-9B2B-D446-2CC3C0972CA0}"/>
              </a:ext>
            </a:extLst>
          </p:cNvPr>
          <p:cNvSpPr txBox="1"/>
          <p:nvPr/>
        </p:nvSpPr>
        <p:spPr>
          <a:xfrm>
            <a:off x="1825382" y="3893837"/>
            <a:ext cx="2057397" cy="461665"/>
          </a:xfrm>
          <a:prstGeom prst="rect">
            <a:avLst/>
          </a:prstGeom>
          <a:noFill/>
        </p:spPr>
        <p:txBody>
          <a:bodyPr wrap="square" rtlCol="0">
            <a:spAutoFit/>
          </a:bodyPr>
          <a:lstStyle/>
          <a:p>
            <a:r>
              <a:rPr lang="en-GB" altLang="ko-KR" sz="2400" b="1" dirty="0">
                <a:solidFill>
                  <a:schemeClr val="bg1"/>
                </a:solidFill>
                <a:cs typeface="Arial" pitchFamily="34" charset="0"/>
              </a:rPr>
              <a:t>Networkx</a:t>
            </a:r>
            <a:endParaRPr lang="fr-FR" sz="2400" dirty="0"/>
          </a:p>
        </p:txBody>
      </p:sp>
    </p:spTree>
    <p:extLst>
      <p:ext uri="{BB962C8B-B14F-4D97-AF65-F5344CB8AC3E}">
        <p14:creationId xmlns:p14="http://schemas.microsoft.com/office/powerpoint/2010/main" val="14501368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855E9D5-1735-A116-D5B4-0B5ADF2F9B65}"/>
              </a:ext>
            </a:extLst>
          </p:cNvPr>
          <p:cNvSpPr>
            <a:spLocks noGrp="1"/>
          </p:cNvSpPr>
          <p:nvPr>
            <p:ph type="sldNum" sz="quarter" idx="12"/>
          </p:nvPr>
        </p:nvSpPr>
        <p:spPr/>
        <p:txBody>
          <a:bodyPr/>
          <a:lstStyle/>
          <a:p>
            <a:fld id="{A82C58F3-3795-4080-90EF-797C1431D8B7}" type="slidenum">
              <a:rPr lang="fr-FR" smtClean="0"/>
              <a:t>6</a:t>
            </a:fld>
            <a:endParaRPr lang="fr-FR"/>
          </a:p>
        </p:txBody>
      </p:sp>
      <p:sp>
        <p:nvSpPr>
          <p:cNvPr id="3" name="ZoneTexte 2">
            <a:extLst>
              <a:ext uri="{FF2B5EF4-FFF2-40B4-BE49-F238E27FC236}">
                <a16:creationId xmlns:a16="http://schemas.microsoft.com/office/drawing/2014/main" id="{88DDA190-B6CF-431E-EC16-5EF5EC7105CB}"/>
              </a:ext>
            </a:extLst>
          </p:cNvPr>
          <p:cNvSpPr txBox="1"/>
          <p:nvPr/>
        </p:nvSpPr>
        <p:spPr>
          <a:xfrm>
            <a:off x="1447038" y="164592"/>
            <a:ext cx="7068312" cy="646331"/>
          </a:xfrm>
          <a:prstGeom prst="rect">
            <a:avLst/>
          </a:prstGeom>
          <a:noFill/>
        </p:spPr>
        <p:txBody>
          <a:bodyPr wrap="square" rtlCol="0">
            <a:spAutoFit/>
          </a:bodyPr>
          <a:lstStyle/>
          <a:p>
            <a:r>
              <a:rPr lang="fr-FR" sz="3600" b="1" i="0" u="none" strike="noStrike" baseline="0" dirty="0">
                <a:latin typeface="NimbusRomNo9L-Regu"/>
              </a:rPr>
              <a:t>INTRODUCTION GÉNÉRALE</a:t>
            </a:r>
            <a:endParaRPr lang="fr-FR" sz="3600" b="1" dirty="0"/>
          </a:p>
        </p:txBody>
      </p:sp>
      <p:sp>
        <p:nvSpPr>
          <p:cNvPr id="4" name="ZoneTexte 3">
            <a:extLst>
              <a:ext uri="{FF2B5EF4-FFF2-40B4-BE49-F238E27FC236}">
                <a16:creationId xmlns:a16="http://schemas.microsoft.com/office/drawing/2014/main" id="{2771B3E9-E94F-5DC9-AE3C-5895C4850428}"/>
              </a:ext>
            </a:extLst>
          </p:cNvPr>
          <p:cNvSpPr txBox="1"/>
          <p:nvPr/>
        </p:nvSpPr>
        <p:spPr>
          <a:xfrm>
            <a:off x="329184" y="1237473"/>
            <a:ext cx="8494776" cy="3108543"/>
          </a:xfrm>
          <a:prstGeom prst="rect">
            <a:avLst/>
          </a:prstGeom>
          <a:noFill/>
        </p:spPr>
        <p:txBody>
          <a:bodyPr wrap="square" rtlCol="0">
            <a:spAutoFit/>
          </a:bodyPr>
          <a:lstStyle/>
          <a:p>
            <a:r>
              <a:rPr lang="fr-FR" sz="2800" b="0" i="0" u="none" strike="noStrike" baseline="0" dirty="0">
                <a:latin typeface="NimbusRomNo9L-Regu"/>
              </a:rPr>
              <a:t> Notre projet s’articule autour de la théorie</a:t>
            </a:r>
            <a:r>
              <a:rPr lang="fr-FR" sz="2800" dirty="0">
                <a:latin typeface="NimbusRomNo9L-Regu"/>
              </a:rPr>
              <a:t> </a:t>
            </a:r>
            <a:r>
              <a:rPr lang="fr-FR" sz="2800" b="0" i="0" u="none" strike="noStrike" baseline="0" dirty="0">
                <a:latin typeface="NimbusRomNo9L-Regu"/>
              </a:rPr>
              <a:t>des graphes ,de la modélisation des réseaux de neurones, ainsi que la présentation de l’outil informatique </a:t>
            </a:r>
            <a:r>
              <a:rPr lang="fr-FR" sz="2800" b="0" i="0" u="none" strike="noStrike" baseline="0" dirty="0" err="1">
                <a:latin typeface="NimbusRomNo9L-Regu"/>
              </a:rPr>
              <a:t>networkx</a:t>
            </a:r>
            <a:r>
              <a:rPr lang="fr-FR" sz="2800" dirty="0">
                <a:latin typeface="NimbusRomNo9L-Regu"/>
              </a:rPr>
              <a:t>. La théorie des graphes et les réseaux de neurones sont des sous domaines des mathématiques appliquées . Qui sont utilisés dans divers domaines. </a:t>
            </a:r>
            <a:endParaRPr lang="fr-FR" sz="2800" b="0" i="0" u="none" strike="noStrike" baseline="0" dirty="0">
              <a:latin typeface="NimbusRomNo9L-Regu"/>
            </a:endParaRPr>
          </a:p>
        </p:txBody>
      </p:sp>
    </p:spTree>
    <p:extLst>
      <p:ext uri="{BB962C8B-B14F-4D97-AF65-F5344CB8AC3E}">
        <p14:creationId xmlns:p14="http://schemas.microsoft.com/office/powerpoint/2010/main" val="41279944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0E9361E9-41C9-D1D1-721B-713F60B82F0F}"/>
              </a:ext>
            </a:extLst>
          </p:cNvPr>
          <p:cNvSpPr txBox="1"/>
          <p:nvPr/>
        </p:nvSpPr>
        <p:spPr>
          <a:xfrm>
            <a:off x="2106386" y="2181295"/>
            <a:ext cx="5045528" cy="707886"/>
          </a:xfrm>
          <a:prstGeom prst="rect">
            <a:avLst/>
          </a:prstGeom>
          <a:noFill/>
        </p:spPr>
        <p:txBody>
          <a:bodyPr wrap="square" rtlCol="0">
            <a:spAutoFit/>
          </a:bodyPr>
          <a:lstStyle/>
          <a:p>
            <a:r>
              <a:rPr lang="fr-FR" sz="4000" dirty="0">
                <a:solidFill>
                  <a:schemeClr val="bg1"/>
                </a:solidFill>
                <a:latin typeface="Aharoni" panose="02010803020104030203" pitchFamily="2" charset="-79"/>
                <a:cs typeface="Aharoni" panose="02010803020104030203" pitchFamily="2" charset="-79"/>
              </a:rPr>
              <a:t>PREMIÈRE  PARTIE </a:t>
            </a:r>
          </a:p>
        </p:txBody>
      </p:sp>
    </p:spTree>
    <p:extLst>
      <p:ext uri="{BB962C8B-B14F-4D97-AF65-F5344CB8AC3E}">
        <p14:creationId xmlns:p14="http://schemas.microsoft.com/office/powerpoint/2010/main" val="314882250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18" name="ZoneTexte 17">
            <a:extLst>
              <a:ext uri="{FF2B5EF4-FFF2-40B4-BE49-F238E27FC236}">
                <a16:creationId xmlns:a16="http://schemas.microsoft.com/office/drawing/2014/main" id="{864105FC-9072-B9F2-F290-FFBDF5ED642E}"/>
              </a:ext>
            </a:extLst>
          </p:cNvPr>
          <p:cNvSpPr txBox="1"/>
          <p:nvPr/>
        </p:nvSpPr>
        <p:spPr>
          <a:xfrm>
            <a:off x="451692" y="1698173"/>
            <a:ext cx="8505021" cy="1323439"/>
          </a:xfrm>
          <a:prstGeom prst="rect">
            <a:avLst/>
          </a:prstGeom>
          <a:noFill/>
        </p:spPr>
        <p:txBody>
          <a:bodyPr wrap="square" rtlCol="0">
            <a:spAutoFit/>
          </a:bodyPr>
          <a:lstStyle/>
          <a:p>
            <a:r>
              <a:rPr lang="fr-FR" sz="4000" b="1" dirty="0">
                <a:solidFill>
                  <a:schemeClr val="bg1"/>
                </a:solidFill>
                <a:latin typeface="Perpetua Titling MT" panose="02020502060505020804" pitchFamily="18" charset="0"/>
                <a:cs typeface="Aharoni" panose="02010803020104030203" pitchFamily="2" charset="-79"/>
              </a:rPr>
              <a:t>CHAPITRE I</a:t>
            </a:r>
          </a:p>
          <a:p>
            <a:pPr marL="0" lvl="0" indent="0" algn="ctr" rtl="0">
              <a:spcBef>
                <a:spcPts val="0"/>
              </a:spcBef>
              <a:spcAft>
                <a:spcPts val="0"/>
              </a:spcAft>
              <a:buNone/>
            </a:pPr>
            <a:r>
              <a:rPr lang="fr-FR" sz="4000" b="1" dirty="0">
                <a:solidFill>
                  <a:schemeClr val="bg1"/>
                </a:solidFill>
                <a:latin typeface="Perpetua Titling MT" panose="02020502060505020804" pitchFamily="18" charset="0"/>
                <a:cs typeface="Aharoni" panose="02010803020104030203" pitchFamily="2" charset="-79"/>
              </a:rPr>
              <a:t> </a:t>
            </a:r>
            <a:r>
              <a:rPr lang="en-US" sz="4000" dirty="0">
                <a:solidFill>
                  <a:schemeClr val="bg1"/>
                </a:solidFill>
                <a:latin typeface="Perpetua Titling MT" panose="02020502060505020804" pitchFamily="18" charset="0"/>
              </a:rPr>
              <a:t>Th</a:t>
            </a:r>
            <a:r>
              <a:rPr lang="fr-FR" sz="4000" dirty="0">
                <a:solidFill>
                  <a:schemeClr val="bg1"/>
                </a:solidFill>
                <a:latin typeface="Perpetua Titling MT" panose="02020502060505020804" pitchFamily="18" charset="0"/>
              </a:rPr>
              <a:t>é</a:t>
            </a:r>
            <a:r>
              <a:rPr lang="en-US" sz="4000" dirty="0" err="1">
                <a:solidFill>
                  <a:schemeClr val="bg1"/>
                </a:solidFill>
                <a:latin typeface="Perpetua Titling MT" panose="02020502060505020804" pitchFamily="18" charset="0"/>
              </a:rPr>
              <a:t>orie</a:t>
            </a:r>
            <a:r>
              <a:rPr lang="en-US" sz="4000" dirty="0">
                <a:solidFill>
                  <a:schemeClr val="bg1"/>
                </a:solidFill>
                <a:latin typeface="Perpetua Titling MT" panose="02020502060505020804" pitchFamily="18" charset="0"/>
              </a:rPr>
              <a:t> des </a:t>
            </a:r>
            <a:r>
              <a:rPr lang="en-US" sz="4000" dirty="0" err="1">
                <a:solidFill>
                  <a:schemeClr val="bg1"/>
                </a:solidFill>
                <a:latin typeface="Perpetua Titling MT" panose="02020502060505020804" pitchFamily="18" charset="0"/>
              </a:rPr>
              <a:t>graphes</a:t>
            </a:r>
            <a:endParaRPr lang="fr-FR" sz="4000" u="sng" dirty="0">
              <a:solidFill>
                <a:schemeClr val="bg1"/>
              </a:solidFill>
              <a:latin typeface="Perpetua Titling MT" panose="02020502060505020804" pitchFamily="18" charset="0"/>
              <a:cs typeface="Aharoni" panose="02010803020104030203" pitchFamily="2" charset="-79"/>
            </a:endParaRPr>
          </a:p>
        </p:txBody>
      </p:sp>
    </p:spTree>
    <p:extLst>
      <p:ext uri="{BB962C8B-B14F-4D97-AF65-F5344CB8AC3E}">
        <p14:creationId xmlns:p14="http://schemas.microsoft.com/office/powerpoint/2010/main" val="412748981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28"/>
          <p:cNvSpPr txBox="1">
            <a:spLocks noGrp="1"/>
          </p:cNvSpPr>
          <p:nvPr>
            <p:ph type="title"/>
          </p:nvPr>
        </p:nvSpPr>
        <p:spPr>
          <a:xfrm>
            <a:off x="1338038" y="340511"/>
            <a:ext cx="7709108" cy="1320448"/>
          </a:xfrm>
          <a:prstGeom prst="rect">
            <a:avLst/>
          </a:prstGeom>
        </p:spPr>
        <p:txBody>
          <a:bodyPr spcFirstLastPara="1" wrap="square" lIns="91425" tIns="91425" rIns="91425" bIns="91425" anchor="t" anchorCtr="0">
            <a:noAutofit/>
          </a:bodyPr>
          <a:lstStyle/>
          <a:p>
            <a:r>
              <a:rPr lang="fr-FR" sz="5400" b="1" dirty="0"/>
              <a:t>Qu'est-ce qu'un graphe ?</a:t>
            </a:r>
            <a:br>
              <a:rPr lang="fr-FR" sz="3200" dirty="0">
                <a:latin typeface="Aharoni" panose="02010803020104030203" pitchFamily="2" charset="-79"/>
                <a:cs typeface="Aharoni" panose="02010803020104030203" pitchFamily="2" charset="-79"/>
              </a:rPr>
            </a:br>
            <a:endParaRPr dirty="0"/>
          </a:p>
        </p:txBody>
      </p:sp>
      <p:grpSp>
        <p:nvGrpSpPr>
          <p:cNvPr id="14" name="Google Shape;1527;p32">
            <a:extLst>
              <a:ext uri="{FF2B5EF4-FFF2-40B4-BE49-F238E27FC236}">
                <a16:creationId xmlns:a16="http://schemas.microsoft.com/office/drawing/2014/main" id="{1F5DDBCD-A677-EB0C-A526-97E7AF223C4A}"/>
              </a:ext>
            </a:extLst>
          </p:cNvPr>
          <p:cNvGrpSpPr/>
          <p:nvPr/>
        </p:nvGrpSpPr>
        <p:grpSpPr>
          <a:xfrm rot="16799338">
            <a:off x="8157550" y="3782075"/>
            <a:ext cx="1372695" cy="1681125"/>
            <a:chOff x="447667" y="285337"/>
            <a:chExt cx="3863732" cy="3776132"/>
          </a:xfrm>
        </p:grpSpPr>
        <p:sp>
          <p:nvSpPr>
            <p:cNvPr id="49" name="Google Shape;1528;p32">
              <a:extLst>
                <a:ext uri="{FF2B5EF4-FFF2-40B4-BE49-F238E27FC236}">
                  <a16:creationId xmlns:a16="http://schemas.microsoft.com/office/drawing/2014/main" id="{AE637401-E314-545E-FD0E-D02A900E50F5}"/>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1529;p32">
              <a:extLst>
                <a:ext uri="{FF2B5EF4-FFF2-40B4-BE49-F238E27FC236}">
                  <a16:creationId xmlns:a16="http://schemas.microsoft.com/office/drawing/2014/main" id="{DFE18FE3-3027-A47A-6021-4F43F5A17527}"/>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 name="Google Shape;1530;p32">
              <a:extLst>
                <a:ext uri="{FF2B5EF4-FFF2-40B4-BE49-F238E27FC236}">
                  <a16:creationId xmlns:a16="http://schemas.microsoft.com/office/drawing/2014/main" id="{AEB1AD64-C3A1-E9AC-1FFD-3CB95E894A8F}"/>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531;p32">
              <a:extLst>
                <a:ext uri="{FF2B5EF4-FFF2-40B4-BE49-F238E27FC236}">
                  <a16:creationId xmlns:a16="http://schemas.microsoft.com/office/drawing/2014/main" id="{39A8A476-8347-A61F-AD6C-A5A62740B9C9}"/>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3" name="Google Shape;1532;p32">
              <a:extLst>
                <a:ext uri="{FF2B5EF4-FFF2-40B4-BE49-F238E27FC236}">
                  <a16:creationId xmlns:a16="http://schemas.microsoft.com/office/drawing/2014/main" id="{7353B72C-FD1F-2EAF-4D0F-C4C5B0132359}"/>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4" name="Google Shape;1533;p32">
              <a:extLst>
                <a:ext uri="{FF2B5EF4-FFF2-40B4-BE49-F238E27FC236}">
                  <a16:creationId xmlns:a16="http://schemas.microsoft.com/office/drawing/2014/main" id="{7FE1A78B-8985-98F2-30FE-8ED9C5848FF4}"/>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 name="Google Shape;1534;p32">
              <a:extLst>
                <a:ext uri="{FF2B5EF4-FFF2-40B4-BE49-F238E27FC236}">
                  <a16:creationId xmlns:a16="http://schemas.microsoft.com/office/drawing/2014/main" id="{088CFF9A-2D65-192F-9710-261770495C07}"/>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 name="Google Shape;1535;p32">
              <a:extLst>
                <a:ext uri="{FF2B5EF4-FFF2-40B4-BE49-F238E27FC236}">
                  <a16:creationId xmlns:a16="http://schemas.microsoft.com/office/drawing/2014/main" id="{08827BA6-D4EE-F00F-A3EA-65C3152CE1C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7" name="Google Shape;1536;p32">
              <a:extLst>
                <a:ext uri="{FF2B5EF4-FFF2-40B4-BE49-F238E27FC236}">
                  <a16:creationId xmlns:a16="http://schemas.microsoft.com/office/drawing/2014/main" id="{84088D47-9BAA-B538-8E80-38D8061BAFE8}"/>
                </a:ext>
              </a:extLst>
            </p:cNvPr>
            <p:cNvCxnSpPr>
              <a:stCxn id="53" idx="5"/>
              <a:endCxn id="5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1537;p32">
              <a:extLst>
                <a:ext uri="{FF2B5EF4-FFF2-40B4-BE49-F238E27FC236}">
                  <a16:creationId xmlns:a16="http://schemas.microsoft.com/office/drawing/2014/main" id="{E342388E-681A-EFF1-099C-95BA2A71E9FE}"/>
                </a:ext>
              </a:extLst>
            </p:cNvPr>
            <p:cNvCxnSpPr>
              <a:stCxn id="54" idx="4"/>
              <a:endCxn id="5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1538;p32">
              <a:extLst>
                <a:ext uri="{FF2B5EF4-FFF2-40B4-BE49-F238E27FC236}">
                  <a16:creationId xmlns:a16="http://schemas.microsoft.com/office/drawing/2014/main" id="{DC987990-538F-21B2-482D-EC3BAC5689E3}"/>
                </a:ext>
              </a:extLst>
            </p:cNvPr>
            <p:cNvCxnSpPr>
              <a:stCxn id="49" idx="6"/>
              <a:endCxn id="5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39;p32">
              <a:extLst>
                <a:ext uri="{FF2B5EF4-FFF2-40B4-BE49-F238E27FC236}">
                  <a16:creationId xmlns:a16="http://schemas.microsoft.com/office/drawing/2014/main" id="{DDB96233-D6FA-EECD-F0CE-EE2615E88A40}"/>
                </a:ext>
              </a:extLst>
            </p:cNvPr>
            <p:cNvCxnSpPr>
              <a:stCxn id="49" idx="0"/>
              <a:endCxn id="5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40;p32">
              <a:extLst>
                <a:ext uri="{FF2B5EF4-FFF2-40B4-BE49-F238E27FC236}">
                  <a16:creationId xmlns:a16="http://schemas.microsoft.com/office/drawing/2014/main" id="{BC5A1111-EBAB-5C25-4047-39E33D450E2B}"/>
                </a:ext>
              </a:extLst>
            </p:cNvPr>
            <p:cNvCxnSpPr>
              <a:stCxn id="53" idx="7"/>
              <a:endCxn id="5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41;p32">
              <a:extLst>
                <a:ext uri="{FF2B5EF4-FFF2-40B4-BE49-F238E27FC236}">
                  <a16:creationId xmlns:a16="http://schemas.microsoft.com/office/drawing/2014/main" id="{2E7A8CEC-EB1C-608A-8052-03B23413F73C}"/>
                </a:ext>
              </a:extLst>
            </p:cNvPr>
            <p:cNvCxnSpPr>
              <a:stCxn id="54" idx="6"/>
              <a:endCxn id="50"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2;p32">
              <a:extLst>
                <a:ext uri="{FF2B5EF4-FFF2-40B4-BE49-F238E27FC236}">
                  <a16:creationId xmlns:a16="http://schemas.microsoft.com/office/drawing/2014/main" id="{8A8E36CD-41BD-2E8E-A99E-EF084CBE5AF4}"/>
                </a:ext>
              </a:extLst>
            </p:cNvPr>
            <p:cNvCxnSpPr>
              <a:stCxn id="52" idx="7"/>
              <a:endCxn id="50"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543;p32">
              <a:extLst>
                <a:ext uri="{FF2B5EF4-FFF2-40B4-BE49-F238E27FC236}">
                  <a16:creationId xmlns:a16="http://schemas.microsoft.com/office/drawing/2014/main" id="{07755E8B-7644-BB56-0376-78946D7C5468}"/>
                </a:ext>
              </a:extLst>
            </p:cNvPr>
            <p:cNvCxnSpPr>
              <a:stCxn id="49" idx="5"/>
              <a:endCxn id="5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544;p32">
              <a:extLst>
                <a:ext uri="{FF2B5EF4-FFF2-40B4-BE49-F238E27FC236}">
                  <a16:creationId xmlns:a16="http://schemas.microsoft.com/office/drawing/2014/main" id="{9CEDDBD0-3C02-DA51-AF13-C565325766FF}"/>
                </a:ext>
              </a:extLst>
            </p:cNvPr>
            <p:cNvCxnSpPr>
              <a:stCxn id="55" idx="7"/>
              <a:endCxn id="5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10" name="Google Shape;1545;p32">
              <a:extLst>
                <a:ext uri="{FF2B5EF4-FFF2-40B4-BE49-F238E27FC236}">
                  <a16:creationId xmlns:a16="http://schemas.microsoft.com/office/drawing/2014/main" id="{ECDA3D45-FBA7-5001-2F26-82320FD127AB}"/>
                </a:ext>
              </a:extLst>
            </p:cNvPr>
            <p:cNvCxnSpPr>
              <a:stCxn id="55" idx="5"/>
              <a:endCxn id="51"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411" name="Google Shape;1546;p32">
              <a:extLst>
                <a:ext uri="{FF2B5EF4-FFF2-40B4-BE49-F238E27FC236}">
                  <a16:creationId xmlns:a16="http://schemas.microsoft.com/office/drawing/2014/main" id="{F83140C4-4893-5AD8-A015-F2525D62CB20}"/>
                </a:ext>
              </a:extLst>
            </p:cNvPr>
            <p:cNvCxnSpPr>
              <a:stCxn id="51" idx="0"/>
              <a:endCxn id="5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547;p32">
              <a:extLst>
                <a:ext uri="{FF2B5EF4-FFF2-40B4-BE49-F238E27FC236}">
                  <a16:creationId xmlns:a16="http://schemas.microsoft.com/office/drawing/2014/main" id="{0446A376-2D1C-9E48-1557-18403F7CF72C}"/>
                </a:ext>
              </a:extLst>
            </p:cNvPr>
            <p:cNvCxnSpPr>
              <a:stCxn id="51" idx="7"/>
              <a:endCxn id="5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413" name="Google Shape;1548;p32">
              <a:extLst>
                <a:ext uri="{FF2B5EF4-FFF2-40B4-BE49-F238E27FC236}">
                  <a16:creationId xmlns:a16="http://schemas.microsoft.com/office/drawing/2014/main" id="{4CC10DEF-2773-37EB-47CB-906A12DCF1DF}"/>
                </a:ext>
              </a:extLst>
            </p:cNvPr>
            <p:cNvCxnSpPr>
              <a:stCxn id="52" idx="6"/>
              <a:endCxn id="5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414" name="Google Shape;1549;p32">
              <a:extLst>
                <a:ext uri="{FF2B5EF4-FFF2-40B4-BE49-F238E27FC236}">
                  <a16:creationId xmlns:a16="http://schemas.microsoft.com/office/drawing/2014/main" id="{A732D3E3-F72D-DF37-72A8-3E32B531F44E}"/>
                </a:ext>
              </a:extLst>
            </p:cNvPr>
            <p:cNvCxnSpPr>
              <a:stCxn id="56" idx="0"/>
              <a:endCxn id="50"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415" name="Google Shape;1550;p32">
              <a:extLst>
                <a:ext uri="{FF2B5EF4-FFF2-40B4-BE49-F238E27FC236}">
                  <a16:creationId xmlns:a16="http://schemas.microsoft.com/office/drawing/2014/main" id="{67033675-BAE9-3233-E2E8-2E506680C43A}"/>
                </a:ext>
              </a:extLst>
            </p:cNvPr>
            <p:cNvCxnSpPr>
              <a:stCxn id="53" idx="4"/>
              <a:endCxn id="51"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416" name="Google Shape;1551;p32">
              <a:extLst>
                <a:ext uri="{FF2B5EF4-FFF2-40B4-BE49-F238E27FC236}">
                  <a16:creationId xmlns:a16="http://schemas.microsoft.com/office/drawing/2014/main" id="{0FA7276F-19D7-E71C-F769-4D50E8FA1EB7}"/>
                </a:ext>
              </a:extLst>
            </p:cNvPr>
            <p:cNvCxnSpPr>
              <a:stCxn id="50" idx="4"/>
              <a:endCxn id="51"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417" name="Google Shape;1552;p32">
              <a:extLst>
                <a:ext uri="{FF2B5EF4-FFF2-40B4-BE49-F238E27FC236}">
                  <a16:creationId xmlns:a16="http://schemas.microsoft.com/office/drawing/2014/main" id="{27BB8FA6-306D-17EE-8DA4-34C311B8640F}"/>
                </a:ext>
              </a:extLst>
            </p:cNvPr>
            <p:cNvCxnSpPr>
              <a:stCxn id="49" idx="5"/>
              <a:endCxn id="51"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418" name="Google Shape;1553;p32">
              <a:extLst>
                <a:ext uri="{FF2B5EF4-FFF2-40B4-BE49-F238E27FC236}">
                  <a16:creationId xmlns:a16="http://schemas.microsoft.com/office/drawing/2014/main" id="{C087CCFB-0E80-3920-66BB-9DF938891B2C}"/>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19" name="Google Shape;1554;p32">
              <a:extLst>
                <a:ext uri="{FF2B5EF4-FFF2-40B4-BE49-F238E27FC236}">
                  <a16:creationId xmlns:a16="http://schemas.microsoft.com/office/drawing/2014/main" id="{2A420353-8D5E-0F71-2227-4CFD42C02FC5}"/>
                </a:ext>
              </a:extLst>
            </p:cNvPr>
            <p:cNvCxnSpPr>
              <a:stCxn id="56" idx="4"/>
              <a:endCxn id="1418"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420" name="Google Shape;1555;p32">
              <a:extLst>
                <a:ext uri="{FF2B5EF4-FFF2-40B4-BE49-F238E27FC236}">
                  <a16:creationId xmlns:a16="http://schemas.microsoft.com/office/drawing/2014/main" id="{D4E23CA6-575F-96E3-1B09-53036E4D1470}"/>
                </a:ext>
              </a:extLst>
            </p:cNvPr>
            <p:cNvCxnSpPr>
              <a:stCxn id="1418" idx="2"/>
              <a:endCxn id="51"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421" name="Google Shape;1556;p32">
              <a:extLst>
                <a:ext uri="{FF2B5EF4-FFF2-40B4-BE49-F238E27FC236}">
                  <a16:creationId xmlns:a16="http://schemas.microsoft.com/office/drawing/2014/main" id="{E413068A-99F7-7B6C-6C54-2442985BC176}"/>
                </a:ext>
              </a:extLst>
            </p:cNvPr>
            <p:cNvCxnSpPr>
              <a:stCxn id="1418" idx="0"/>
              <a:endCxn id="50"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422" name="Google Shape;1557;p32">
              <a:extLst>
                <a:ext uri="{FF2B5EF4-FFF2-40B4-BE49-F238E27FC236}">
                  <a16:creationId xmlns:a16="http://schemas.microsoft.com/office/drawing/2014/main" id="{8971EEB2-AE37-35C6-FFE8-489E238104FD}"/>
                </a:ext>
              </a:extLst>
            </p:cNvPr>
            <p:cNvCxnSpPr>
              <a:stCxn id="1418" idx="1"/>
              <a:endCxn id="5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423" name="Google Shape;1558;p32">
              <a:extLst>
                <a:ext uri="{FF2B5EF4-FFF2-40B4-BE49-F238E27FC236}">
                  <a16:creationId xmlns:a16="http://schemas.microsoft.com/office/drawing/2014/main" id="{313C669C-A93B-6200-61DB-4EBBBE6D17A6}"/>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24" name="Google Shape;1559;p32">
              <a:extLst>
                <a:ext uri="{FF2B5EF4-FFF2-40B4-BE49-F238E27FC236}">
                  <a16:creationId xmlns:a16="http://schemas.microsoft.com/office/drawing/2014/main" id="{A19B717C-8E03-8F23-6AFD-9BE3467D2754}"/>
                </a:ext>
              </a:extLst>
            </p:cNvPr>
            <p:cNvCxnSpPr>
              <a:stCxn id="1418" idx="2"/>
              <a:endCxn id="1423"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425" name="Google Shape;1560;p32">
              <a:extLst>
                <a:ext uri="{FF2B5EF4-FFF2-40B4-BE49-F238E27FC236}">
                  <a16:creationId xmlns:a16="http://schemas.microsoft.com/office/drawing/2014/main" id="{39FE8493-22E6-5EDB-4CA3-74AF54C0EE0B}"/>
                </a:ext>
              </a:extLst>
            </p:cNvPr>
            <p:cNvCxnSpPr>
              <a:stCxn id="1423" idx="1"/>
              <a:endCxn id="5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15" name="Google Shape;1527;p32">
            <a:extLst>
              <a:ext uri="{FF2B5EF4-FFF2-40B4-BE49-F238E27FC236}">
                <a16:creationId xmlns:a16="http://schemas.microsoft.com/office/drawing/2014/main" id="{3CA8ED7E-1BC7-C920-E84D-A13CEFC0B3B4}"/>
              </a:ext>
            </a:extLst>
          </p:cNvPr>
          <p:cNvGrpSpPr/>
          <p:nvPr/>
        </p:nvGrpSpPr>
        <p:grpSpPr>
          <a:xfrm rot="8810917">
            <a:off x="-489952" y="125508"/>
            <a:ext cx="1616389" cy="1798319"/>
            <a:chOff x="447667" y="285337"/>
            <a:chExt cx="3863732" cy="3776132"/>
          </a:xfrm>
        </p:grpSpPr>
        <p:sp>
          <p:nvSpPr>
            <p:cNvPr id="16" name="Google Shape;1528;p32">
              <a:extLst>
                <a:ext uri="{FF2B5EF4-FFF2-40B4-BE49-F238E27FC236}">
                  <a16:creationId xmlns:a16="http://schemas.microsoft.com/office/drawing/2014/main" id="{D67B8FF5-9FCA-0B82-FA3C-9DDA3BA5CD2C}"/>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529;p32">
              <a:extLst>
                <a:ext uri="{FF2B5EF4-FFF2-40B4-BE49-F238E27FC236}">
                  <a16:creationId xmlns:a16="http://schemas.microsoft.com/office/drawing/2014/main" id="{462310FF-EA7D-10D3-3B8E-9BFD491F0FBD}"/>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530;p32">
              <a:extLst>
                <a:ext uri="{FF2B5EF4-FFF2-40B4-BE49-F238E27FC236}">
                  <a16:creationId xmlns:a16="http://schemas.microsoft.com/office/drawing/2014/main" id="{A957B6BB-EB51-76DB-9053-A29E54F8D32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531;p32">
              <a:extLst>
                <a:ext uri="{FF2B5EF4-FFF2-40B4-BE49-F238E27FC236}">
                  <a16:creationId xmlns:a16="http://schemas.microsoft.com/office/drawing/2014/main" id="{3987F8BE-9B6C-0197-2A8E-27A1582FB381}"/>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1532;p32">
              <a:extLst>
                <a:ext uri="{FF2B5EF4-FFF2-40B4-BE49-F238E27FC236}">
                  <a16:creationId xmlns:a16="http://schemas.microsoft.com/office/drawing/2014/main" id="{379F03E1-A12F-4341-17B1-61AC189ECF6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533;p32">
              <a:extLst>
                <a:ext uri="{FF2B5EF4-FFF2-40B4-BE49-F238E27FC236}">
                  <a16:creationId xmlns:a16="http://schemas.microsoft.com/office/drawing/2014/main" id="{70FFACB9-F027-92F8-55E3-0C9AD844DE2F}"/>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534;p32">
              <a:extLst>
                <a:ext uri="{FF2B5EF4-FFF2-40B4-BE49-F238E27FC236}">
                  <a16:creationId xmlns:a16="http://schemas.microsoft.com/office/drawing/2014/main" id="{E0684FFF-5E73-3F21-6B6F-EDA924C493C8}"/>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535;p32">
              <a:extLst>
                <a:ext uri="{FF2B5EF4-FFF2-40B4-BE49-F238E27FC236}">
                  <a16:creationId xmlns:a16="http://schemas.microsoft.com/office/drawing/2014/main" id="{2899ED1B-FCFC-46FF-6BBB-DDA3A6FB970B}"/>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4" name="Google Shape;1536;p32">
              <a:extLst>
                <a:ext uri="{FF2B5EF4-FFF2-40B4-BE49-F238E27FC236}">
                  <a16:creationId xmlns:a16="http://schemas.microsoft.com/office/drawing/2014/main" id="{AF633BF2-83A4-2FC8-3D09-FFC9535C0D96}"/>
                </a:ext>
              </a:extLst>
            </p:cNvPr>
            <p:cNvCxnSpPr>
              <a:stCxn id="20" idx="5"/>
              <a:endCxn id="19"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1537;p32">
              <a:extLst>
                <a:ext uri="{FF2B5EF4-FFF2-40B4-BE49-F238E27FC236}">
                  <a16:creationId xmlns:a16="http://schemas.microsoft.com/office/drawing/2014/main" id="{C00BFEF1-1777-75C4-6A93-11C4C9FF3F0A}"/>
                </a:ext>
              </a:extLst>
            </p:cNvPr>
            <p:cNvCxnSpPr>
              <a:stCxn id="21" idx="4"/>
              <a:endCxn id="19"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1538;p32">
              <a:extLst>
                <a:ext uri="{FF2B5EF4-FFF2-40B4-BE49-F238E27FC236}">
                  <a16:creationId xmlns:a16="http://schemas.microsoft.com/office/drawing/2014/main" id="{7E2F12C2-A474-7BF2-C367-3D3E4E8E2609}"/>
                </a:ext>
              </a:extLst>
            </p:cNvPr>
            <p:cNvCxnSpPr>
              <a:stCxn id="16" idx="6"/>
              <a:endCxn id="19"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39;p32">
              <a:extLst>
                <a:ext uri="{FF2B5EF4-FFF2-40B4-BE49-F238E27FC236}">
                  <a16:creationId xmlns:a16="http://schemas.microsoft.com/office/drawing/2014/main" id="{FF72CD5F-ED72-D741-2146-4F226CC0BD6D}"/>
                </a:ext>
              </a:extLst>
            </p:cNvPr>
            <p:cNvCxnSpPr>
              <a:stCxn id="16" idx="0"/>
              <a:endCxn id="20"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40;p32">
              <a:extLst>
                <a:ext uri="{FF2B5EF4-FFF2-40B4-BE49-F238E27FC236}">
                  <a16:creationId xmlns:a16="http://schemas.microsoft.com/office/drawing/2014/main" id="{361FF701-B950-9A4A-D2DB-51B942E1096A}"/>
                </a:ext>
              </a:extLst>
            </p:cNvPr>
            <p:cNvCxnSpPr>
              <a:stCxn id="20" idx="7"/>
              <a:endCxn id="21"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41;p32">
              <a:extLst>
                <a:ext uri="{FF2B5EF4-FFF2-40B4-BE49-F238E27FC236}">
                  <a16:creationId xmlns:a16="http://schemas.microsoft.com/office/drawing/2014/main" id="{1749442C-EB98-22AE-B353-CA0A114C849A}"/>
                </a:ext>
              </a:extLst>
            </p:cNvPr>
            <p:cNvCxnSpPr>
              <a:stCxn id="21" idx="6"/>
              <a:endCxn id="17"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2;p32">
              <a:extLst>
                <a:ext uri="{FF2B5EF4-FFF2-40B4-BE49-F238E27FC236}">
                  <a16:creationId xmlns:a16="http://schemas.microsoft.com/office/drawing/2014/main" id="{B553129A-A7D4-5CF0-4325-6FEC51CC8FD6}"/>
                </a:ext>
              </a:extLst>
            </p:cNvPr>
            <p:cNvCxnSpPr>
              <a:stCxn id="19" idx="7"/>
              <a:endCxn id="17"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3;p32">
              <a:extLst>
                <a:ext uri="{FF2B5EF4-FFF2-40B4-BE49-F238E27FC236}">
                  <a16:creationId xmlns:a16="http://schemas.microsoft.com/office/drawing/2014/main" id="{BBBFBC9A-E2B6-8922-C2AB-6DFA94D0168E}"/>
                </a:ext>
              </a:extLst>
            </p:cNvPr>
            <p:cNvCxnSpPr>
              <a:stCxn id="16" idx="5"/>
              <a:endCxn id="22"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44;p32">
              <a:extLst>
                <a:ext uri="{FF2B5EF4-FFF2-40B4-BE49-F238E27FC236}">
                  <a16:creationId xmlns:a16="http://schemas.microsoft.com/office/drawing/2014/main" id="{1E72F4BB-58EA-256A-1A82-D2C7BB5BC6EF}"/>
                </a:ext>
              </a:extLst>
            </p:cNvPr>
            <p:cNvCxnSpPr>
              <a:stCxn id="22" idx="7"/>
              <a:endCxn id="19"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45;p32">
              <a:extLst>
                <a:ext uri="{FF2B5EF4-FFF2-40B4-BE49-F238E27FC236}">
                  <a16:creationId xmlns:a16="http://schemas.microsoft.com/office/drawing/2014/main" id="{D130E1C8-EA0A-8790-1B02-28906C85C0E9}"/>
                </a:ext>
              </a:extLst>
            </p:cNvPr>
            <p:cNvCxnSpPr>
              <a:stCxn id="22" idx="5"/>
              <a:endCxn id="18"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46;p32">
              <a:extLst>
                <a:ext uri="{FF2B5EF4-FFF2-40B4-BE49-F238E27FC236}">
                  <a16:creationId xmlns:a16="http://schemas.microsoft.com/office/drawing/2014/main" id="{F13ECF5C-4EBE-F887-A960-BBF880E5D0EC}"/>
                </a:ext>
              </a:extLst>
            </p:cNvPr>
            <p:cNvCxnSpPr>
              <a:stCxn id="18" idx="0"/>
              <a:endCxn id="19"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1547;p32">
              <a:extLst>
                <a:ext uri="{FF2B5EF4-FFF2-40B4-BE49-F238E27FC236}">
                  <a16:creationId xmlns:a16="http://schemas.microsoft.com/office/drawing/2014/main" id="{A6CE1CA4-2838-3B27-CFC8-D59D0C2B3240}"/>
                </a:ext>
              </a:extLst>
            </p:cNvPr>
            <p:cNvCxnSpPr>
              <a:stCxn id="18" idx="7"/>
              <a:endCxn id="23"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1548;p32">
              <a:extLst>
                <a:ext uri="{FF2B5EF4-FFF2-40B4-BE49-F238E27FC236}">
                  <a16:creationId xmlns:a16="http://schemas.microsoft.com/office/drawing/2014/main" id="{402A2CA3-A8B5-5899-12D4-BADC58E09D0C}"/>
                </a:ext>
              </a:extLst>
            </p:cNvPr>
            <p:cNvCxnSpPr>
              <a:stCxn id="19" idx="6"/>
              <a:endCxn id="23"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49;p32">
              <a:extLst>
                <a:ext uri="{FF2B5EF4-FFF2-40B4-BE49-F238E27FC236}">
                  <a16:creationId xmlns:a16="http://schemas.microsoft.com/office/drawing/2014/main" id="{8093C2A6-4C23-E509-CE3B-E9C9B81545B9}"/>
                </a:ext>
              </a:extLst>
            </p:cNvPr>
            <p:cNvCxnSpPr>
              <a:stCxn id="23" idx="0"/>
              <a:endCxn id="17"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50;p32">
              <a:extLst>
                <a:ext uri="{FF2B5EF4-FFF2-40B4-BE49-F238E27FC236}">
                  <a16:creationId xmlns:a16="http://schemas.microsoft.com/office/drawing/2014/main" id="{D6E553D7-7D95-35DC-5B44-E9D1D981395A}"/>
                </a:ext>
              </a:extLst>
            </p:cNvPr>
            <p:cNvCxnSpPr>
              <a:stCxn id="20" idx="4"/>
              <a:endCxn id="18"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51;p32">
              <a:extLst>
                <a:ext uri="{FF2B5EF4-FFF2-40B4-BE49-F238E27FC236}">
                  <a16:creationId xmlns:a16="http://schemas.microsoft.com/office/drawing/2014/main" id="{B5B3B2CF-EE48-061C-DAA1-2B56B2924A3B}"/>
                </a:ext>
              </a:extLst>
            </p:cNvPr>
            <p:cNvCxnSpPr>
              <a:stCxn id="17" idx="4"/>
              <a:endCxn id="18"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52;p32">
              <a:extLst>
                <a:ext uri="{FF2B5EF4-FFF2-40B4-BE49-F238E27FC236}">
                  <a16:creationId xmlns:a16="http://schemas.microsoft.com/office/drawing/2014/main" id="{D4728524-5B73-120C-CED7-ADE80A10E15F}"/>
                </a:ext>
              </a:extLst>
            </p:cNvPr>
            <p:cNvCxnSpPr>
              <a:stCxn id="16" idx="5"/>
              <a:endCxn id="18"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41" name="Google Shape;1553;p32">
              <a:extLst>
                <a:ext uri="{FF2B5EF4-FFF2-40B4-BE49-F238E27FC236}">
                  <a16:creationId xmlns:a16="http://schemas.microsoft.com/office/drawing/2014/main" id="{B6B1A8BE-0347-233C-B39A-F55946186D69}"/>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2" name="Google Shape;1554;p32">
              <a:extLst>
                <a:ext uri="{FF2B5EF4-FFF2-40B4-BE49-F238E27FC236}">
                  <a16:creationId xmlns:a16="http://schemas.microsoft.com/office/drawing/2014/main" id="{F56F3FC5-AC46-19BB-245C-3F2F1FC695B7}"/>
                </a:ext>
              </a:extLst>
            </p:cNvPr>
            <p:cNvCxnSpPr>
              <a:stCxn id="23" idx="4"/>
              <a:endCxn id="41"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55;p32">
              <a:extLst>
                <a:ext uri="{FF2B5EF4-FFF2-40B4-BE49-F238E27FC236}">
                  <a16:creationId xmlns:a16="http://schemas.microsoft.com/office/drawing/2014/main" id="{F1239E7C-3DB3-608E-8C39-B3BAD92A7C62}"/>
                </a:ext>
              </a:extLst>
            </p:cNvPr>
            <p:cNvCxnSpPr>
              <a:stCxn id="41" idx="2"/>
              <a:endCxn id="18"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56;p32">
              <a:extLst>
                <a:ext uri="{FF2B5EF4-FFF2-40B4-BE49-F238E27FC236}">
                  <a16:creationId xmlns:a16="http://schemas.microsoft.com/office/drawing/2014/main" id="{96A6A7D5-7695-66D8-4607-CC24B3628FF5}"/>
                </a:ext>
              </a:extLst>
            </p:cNvPr>
            <p:cNvCxnSpPr>
              <a:stCxn id="41" idx="0"/>
              <a:endCxn id="17"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57;p32">
              <a:extLst>
                <a:ext uri="{FF2B5EF4-FFF2-40B4-BE49-F238E27FC236}">
                  <a16:creationId xmlns:a16="http://schemas.microsoft.com/office/drawing/2014/main" id="{E48611B2-68B1-38A2-885B-11890D01EC15}"/>
                </a:ext>
              </a:extLst>
            </p:cNvPr>
            <p:cNvCxnSpPr>
              <a:stCxn id="41" idx="1"/>
              <a:endCxn id="19"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6" name="Google Shape;1558;p32">
              <a:extLst>
                <a:ext uri="{FF2B5EF4-FFF2-40B4-BE49-F238E27FC236}">
                  <a16:creationId xmlns:a16="http://schemas.microsoft.com/office/drawing/2014/main" id="{F67DE4C8-EC0B-8246-E6D7-1E924E6A37D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7" name="Google Shape;1559;p32">
              <a:extLst>
                <a:ext uri="{FF2B5EF4-FFF2-40B4-BE49-F238E27FC236}">
                  <a16:creationId xmlns:a16="http://schemas.microsoft.com/office/drawing/2014/main" id="{40D66993-2869-9575-D31B-0A0269B6AF6A}"/>
                </a:ext>
              </a:extLst>
            </p:cNvPr>
            <p:cNvCxnSpPr>
              <a:stCxn id="41" idx="2"/>
              <a:endCxn id="46"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60;p32">
              <a:extLst>
                <a:ext uri="{FF2B5EF4-FFF2-40B4-BE49-F238E27FC236}">
                  <a16:creationId xmlns:a16="http://schemas.microsoft.com/office/drawing/2014/main" id="{5570C316-CF21-0104-9738-09397EB19836}"/>
                </a:ext>
              </a:extLst>
            </p:cNvPr>
            <p:cNvCxnSpPr>
              <a:stCxn id="46" idx="1"/>
              <a:endCxn id="22"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2" name="ZoneTexte 1">
            <a:extLst>
              <a:ext uri="{FF2B5EF4-FFF2-40B4-BE49-F238E27FC236}">
                <a16:creationId xmlns:a16="http://schemas.microsoft.com/office/drawing/2014/main" id="{90FE2B5F-5A8C-2B89-2EF3-B232F84F0999}"/>
              </a:ext>
            </a:extLst>
          </p:cNvPr>
          <p:cNvSpPr txBox="1"/>
          <p:nvPr/>
        </p:nvSpPr>
        <p:spPr>
          <a:xfrm>
            <a:off x="1325362" y="1347590"/>
            <a:ext cx="6639761" cy="2308324"/>
          </a:xfrm>
          <a:prstGeom prst="rect">
            <a:avLst/>
          </a:prstGeom>
          <a:noFill/>
        </p:spPr>
        <p:txBody>
          <a:bodyPr wrap="square" rtlCol="0">
            <a:spAutoFit/>
          </a:bodyPr>
          <a:lstStyle/>
          <a:p>
            <a:pPr algn="l"/>
            <a:r>
              <a:rPr lang="fr-FR" sz="1800" b="0" i="0" u="none" strike="noStrike" baseline="0" dirty="0">
                <a:latin typeface="NimbusRomNo9L-Regu"/>
              </a:rPr>
              <a:t>Un graphe est une représentation visuelle des objets réels et des relations (ou liens) qui existe entre eux. Mathématiquement, Un graphe </a:t>
            </a:r>
            <a:r>
              <a:rPr lang="fr-FR" sz="1800" b="1" i="0" u="none" strike="noStrike" baseline="0" dirty="0">
                <a:latin typeface="NimbusRomNo9L-Regu"/>
              </a:rPr>
              <a:t>G</a:t>
            </a:r>
            <a:r>
              <a:rPr lang="fr-FR" sz="1800" b="1" i="0" u="none" strike="noStrike" baseline="0" dirty="0">
                <a:latin typeface="rtxr"/>
              </a:rPr>
              <a:t>=</a:t>
            </a:r>
            <a:r>
              <a:rPr lang="fr-FR" sz="1800" b="1" i="0" u="none" strike="noStrike" baseline="0" dirty="0">
                <a:latin typeface="NimbusRomNo9L-Regu"/>
              </a:rPr>
              <a:t>(V,E) </a:t>
            </a:r>
            <a:r>
              <a:rPr lang="fr-FR" sz="1800" b="0" i="0" u="none" strike="noStrike" baseline="0" dirty="0">
                <a:latin typeface="NimbusRomNo9L-Regu"/>
              </a:rPr>
              <a:t>est défini par l’ensemble fini </a:t>
            </a:r>
            <a:r>
              <a:rPr lang="fr-FR" sz="1800" b="1" i="0" u="none" strike="noStrike" baseline="0" dirty="0">
                <a:latin typeface="NimbusRomNo9L-Regu"/>
              </a:rPr>
              <a:t>V</a:t>
            </a:r>
            <a:r>
              <a:rPr lang="fr-FR" sz="1800" b="1" i="0" u="none" strike="noStrike" baseline="0" dirty="0">
                <a:latin typeface="rtxr"/>
              </a:rPr>
              <a:t>=</a:t>
            </a:r>
            <a:r>
              <a:rPr lang="fr-FR" sz="1800" b="1" i="0" u="none" strike="noStrike" baseline="0" dirty="0">
                <a:latin typeface="NimbusRomNo9L-Regu"/>
              </a:rPr>
              <a:t>(</a:t>
            </a:r>
            <a:r>
              <a:rPr lang="fr-FR" sz="1800" b="1" i="0" u="none" strike="noStrike" baseline="0" dirty="0">
                <a:latin typeface="NimbusRomNo9L-ReguItal"/>
              </a:rPr>
              <a:t>v</a:t>
            </a:r>
            <a:r>
              <a:rPr lang="fr-FR" sz="1800" b="1" i="0" u="none" strike="noStrike" baseline="0" dirty="0">
                <a:latin typeface="NimbusRomNo9L-Regu"/>
              </a:rPr>
              <a:t>1,</a:t>
            </a:r>
            <a:r>
              <a:rPr lang="fr-FR" sz="1800" b="1" i="0" u="none" strike="noStrike" baseline="0" dirty="0">
                <a:latin typeface="NimbusRomNo9L-ReguItal"/>
              </a:rPr>
              <a:t>v</a:t>
            </a:r>
            <a:r>
              <a:rPr lang="fr-FR" sz="1800" b="1" i="0" u="none" strike="noStrike" baseline="0" dirty="0">
                <a:latin typeface="NimbusRomNo9L-Regu"/>
              </a:rPr>
              <a:t>2, . . . , </a:t>
            </a:r>
            <a:r>
              <a:rPr lang="fr-FR" sz="1800" b="1" i="0" u="none" strike="noStrike" baseline="0" dirty="0" err="1">
                <a:latin typeface="NimbusRomNo9L-ReguItal"/>
              </a:rPr>
              <a:t>vn</a:t>
            </a:r>
            <a:r>
              <a:rPr lang="fr-FR" sz="1800" b="1" i="0" u="none" strike="noStrike" baseline="0" dirty="0">
                <a:latin typeface="NimbusRomNo9L-Regu"/>
              </a:rPr>
              <a:t>) </a:t>
            </a:r>
            <a:r>
              <a:rPr lang="fr-FR" sz="1800" b="0" i="0" u="none" strike="noStrike" baseline="0" dirty="0">
                <a:latin typeface="NimbusRomNo9L-Regu"/>
              </a:rPr>
              <a:t>dont les éléments sont appelés sommets , et par l’ensemble fini </a:t>
            </a:r>
            <a:r>
              <a:rPr lang="fr-FR" sz="1800" b="1" i="0" u="none" strike="noStrike" baseline="0" dirty="0">
                <a:latin typeface="NimbusRomNo9L-Regu"/>
              </a:rPr>
              <a:t>E</a:t>
            </a:r>
            <a:r>
              <a:rPr lang="fr-FR" sz="1800" b="1" i="0" u="none" strike="noStrike" baseline="0" dirty="0">
                <a:latin typeface="rtxr"/>
              </a:rPr>
              <a:t>=</a:t>
            </a:r>
            <a:r>
              <a:rPr lang="fr-FR" sz="1800" b="1" i="0" u="none" strike="noStrike" baseline="0" dirty="0">
                <a:latin typeface="NimbusRomNo9L-Regu"/>
              </a:rPr>
              <a:t>(</a:t>
            </a:r>
            <a:r>
              <a:rPr lang="fr-FR" sz="1800" b="1" i="0" u="none" strike="noStrike" baseline="0" dirty="0">
                <a:latin typeface="NimbusRomNo9L-ReguItal"/>
              </a:rPr>
              <a:t>e</a:t>
            </a:r>
            <a:r>
              <a:rPr lang="fr-FR" sz="1800" b="1" i="0" u="none" strike="noStrike" baseline="0" dirty="0">
                <a:latin typeface="NimbusRomNo9L-Regu"/>
              </a:rPr>
              <a:t>1, </a:t>
            </a:r>
            <a:r>
              <a:rPr lang="fr-FR" sz="1800" b="1" i="0" u="none" strike="noStrike" baseline="0" dirty="0">
                <a:latin typeface="NimbusRomNo9L-ReguItal"/>
              </a:rPr>
              <a:t>e</a:t>
            </a:r>
            <a:r>
              <a:rPr lang="fr-FR" sz="1800" b="1" i="0" u="none" strike="noStrike" baseline="0" dirty="0">
                <a:latin typeface="NimbusRomNo9L-Regu"/>
              </a:rPr>
              <a:t>2,. . . , </a:t>
            </a:r>
            <a:r>
              <a:rPr lang="fr-FR" sz="1800" b="1" i="0" u="none" strike="noStrike" baseline="0" dirty="0" err="1">
                <a:latin typeface="NimbusRomNo9L-ReguItal"/>
              </a:rPr>
              <a:t>em</a:t>
            </a:r>
            <a:r>
              <a:rPr lang="fr-FR" sz="1800" b="1" i="0" u="none" strike="noStrike" baseline="0" dirty="0">
                <a:latin typeface="NimbusRomNo9L-Regu"/>
              </a:rPr>
              <a:t>)</a:t>
            </a:r>
            <a:r>
              <a:rPr lang="fr-FR" sz="1800" b="0" i="0" u="none" strike="noStrike" baseline="0" dirty="0">
                <a:latin typeface="NimbusRomNo9L-Regu"/>
              </a:rPr>
              <a:t> dont les éléments sont appelés arêtes . Une arête e de l’ensemble E est définie par une paire non ordonnée de sommets, appelés les extrémités de </a:t>
            </a:r>
            <a:r>
              <a:rPr lang="fr-FR" sz="1800" b="1" i="0" u="none" strike="noStrike" baseline="0" dirty="0">
                <a:latin typeface="NimbusRomNo9L-Regu"/>
              </a:rPr>
              <a:t>e</a:t>
            </a:r>
            <a:r>
              <a:rPr lang="fr-FR" sz="1800" b="0" i="0" u="none" strike="noStrike" baseline="0" dirty="0">
                <a:latin typeface="NimbusRomNo9L-Regu"/>
              </a:rPr>
              <a:t>.</a:t>
            </a: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4" name="Google Shape;1484;p29"/>
          <p:cNvSpPr txBox="1">
            <a:spLocks noGrp="1"/>
          </p:cNvSpPr>
          <p:nvPr>
            <p:ph type="title"/>
          </p:nvPr>
        </p:nvSpPr>
        <p:spPr>
          <a:xfrm>
            <a:off x="1093060" y="18985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t>Types de graphes</a:t>
            </a:r>
            <a:endParaRPr sz="4000" b="1" dirty="0"/>
          </a:p>
        </p:txBody>
      </p:sp>
      <p:sp>
        <p:nvSpPr>
          <p:cNvPr id="24" name="Espace réservé du texte 3">
            <a:extLst>
              <a:ext uri="{FF2B5EF4-FFF2-40B4-BE49-F238E27FC236}">
                <a16:creationId xmlns:a16="http://schemas.microsoft.com/office/drawing/2014/main" id="{B7BD3D9F-8332-7D10-4A42-49DEAF90C59E}"/>
              </a:ext>
            </a:extLst>
          </p:cNvPr>
          <p:cNvSpPr txBox="1">
            <a:spLocks/>
          </p:cNvSpPr>
          <p:nvPr/>
        </p:nvSpPr>
        <p:spPr>
          <a:xfrm>
            <a:off x="232719" y="1239125"/>
            <a:ext cx="5297792" cy="254341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r>
              <a:rPr lang="fr-FR" sz="1800" dirty="0"/>
              <a:t>     </a:t>
            </a:r>
            <a:r>
              <a:rPr lang="fr-FR" sz="1800" b="0" dirty="0"/>
              <a:t>Les types de graphes incluent les graphes non orientés, les graphes orientés, les graphes pondérés, les graphes complets ,graphes connexes , et graphes bipartie etc. Chaque type de graphe a des caractéristiques et des applications spécifiques.</a:t>
            </a:r>
          </a:p>
        </p:txBody>
      </p:sp>
      <p:grpSp>
        <p:nvGrpSpPr>
          <p:cNvPr id="25" name="Groupe 24">
            <a:extLst>
              <a:ext uri="{FF2B5EF4-FFF2-40B4-BE49-F238E27FC236}">
                <a16:creationId xmlns:a16="http://schemas.microsoft.com/office/drawing/2014/main" id="{5D8C1199-96EE-567D-9E9E-237509823027}"/>
              </a:ext>
            </a:extLst>
          </p:cNvPr>
          <p:cNvGrpSpPr/>
          <p:nvPr/>
        </p:nvGrpSpPr>
        <p:grpSpPr>
          <a:xfrm>
            <a:off x="-2264381" y="-847336"/>
            <a:ext cx="11814242" cy="7257540"/>
            <a:chOff x="-1825469" y="-1176520"/>
            <a:chExt cx="11814242" cy="7257540"/>
          </a:xfrm>
        </p:grpSpPr>
        <p:grpSp>
          <p:nvGrpSpPr>
            <p:cNvPr id="26" name="Google Shape;1527;p32">
              <a:extLst>
                <a:ext uri="{FF2B5EF4-FFF2-40B4-BE49-F238E27FC236}">
                  <a16:creationId xmlns:a16="http://schemas.microsoft.com/office/drawing/2014/main" id="{EFEA245D-23DB-EC23-91AB-C619823AA4D7}"/>
                </a:ext>
              </a:extLst>
            </p:cNvPr>
            <p:cNvGrpSpPr/>
            <p:nvPr/>
          </p:nvGrpSpPr>
          <p:grpSpPr>
            <a:xfrm>
              <a:off x="6788444" y="2953250"/>
              <a:ext cx="3200329" cy="3127770"/>
              <a:chOff x="447667" y="285337"/>
              <a:chExt cx="3863732" cy="3776132"/>
            </a:xfrm>
          </p:grpSpPr>
          <p:sp>
            <p:nvSpPr>
              <p:cNvPr id="61" name="Google Shape;1528;p32">
                <a:extLst>
                  <a:ext uri="{FF2B5EF4-FFF2-40B4-BE49-F238E27FC236}">
                    <a16:creationId xmlns:a16="http://schemas.microsoft.com/office/drawing/2014/main" id="{1C7D7895-662F-E7D9-3B67-7E228FD7B053}"/>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 name="Google Shape;1529;p32">
                <a:extLst>
                  <a:ext uri="{FF2B5EF4-FFF2-40B4-BE49-F238E27FC236}">
                    <a16:creationId xmlns:a16="http://schemas.microsoft.com/office/drawing/2014/main" id="{772FF28D-F3B8-85E8-68F1-F77F61E9DB39}"/>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1530;p32">
                <a:extLst>
                  <a:ext uri="{FF2B5EF4-FFF2-40B4-BE49-F238E27FC236}">
                    <a16:creationId xmlns:a16="http://schemas.microsoft.com/office/drawing/2014/main" id="{946644E6-D825-E37A-028D-4316F429C35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2" name="Google Shape;1531;p32">
                <a:extLst>
                  <a:ext uri="{FF2B5EF4-FFF2-40B4-BE49-F238E27FC236}">
                    <a16:creationId xmlns:a16="http://schemas.microsoft.com/office/drawing/2014/main" id="{070CA742-943F-2FD2-20E2-17998E93C0FA}"/>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3" name="Google Shape;1532;p32">
                <a:extLst>
                  <a:ext uri="{FF2B5EF4-FFF2-40B4-BE49-F238E27FC236}">
                    <a16:creationId xmlns:a16="http://schemas.microsoft.com/office/drawing/2014/main" id="{A27285DE-4709-8AF3-A881-F27CF2C74CE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4" name="Google Shape;1533;p32">
                <a:extLst>
                  <a:ext uri="{FF2B5EF4-FFF2-40B4-BE49-F238E27FC236}">
                    <a16:creationId xmlns:a16="http://schemas.microsoft.com/office/drawing/2014/main" id="{21BE28D9-F4BE-9AE6-3852-07961B5FA5E0}"/>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5" name="Google Shape;1534;p32">
                <a:extLst>
                  <a:ext uri="{FF2B5EF4-FFF2-40B4-BE49-F238E27FC236}">
                    <a16:creationId xmlns:a16="http://schemas.microsoft.com/office/drawing/2014/main" id="{E4F5542E-1269-162F-60B6-0024D037E6C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6" name="Google Shape;1535;p32">
                <a:extLst>
                  <a:ext uri="{FF2B5EF4-FFF2-40B4-BE49-F238E27FC236}">
                    <a16:creationId xmlns:a16="http://schemas.microsoft.com/office/drawing/2014/main" id="{B2A6CB49-C4EA-3BF3-CA32-C7493C416D9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7" name="Google Shape;1536;p32">
                <a:extLst>
                  <a:ext uri="{FF2B5EF4-FFF2-40B4-BE49-F238E27FC236}">
                    <a16:creationId xmlns:a16="http://schemas.microsoft.com/office/drawing/2014/main" id="{B410C1BA-75CE-C19F-1F69-737C861C2977}"/>
                  </a:ext>
                </a:extLst>
              </p:cNvPr>
              <p:cNvCxnSpPr>
                <a:stCxn id="1473" idx="5"/>
                <a:endCxn id="147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37;p32">
                <a:extLst>
                  <a:ext uri="{FF2B5EF4-FFF2-40B4-BE49-F238E27FC236}">
                    <a16:creationId xmlns:a16="http://schemas.microsoft.com/office/drawing/2014/main" id="{E5D36E29-EA44-3B18-3967-175295CE18FA}"/>
                  </a:ext>
                </a:extLst>
              </p:cNvPr>
              <p:cNvCxnSpPr>
                <a:stCxn id="1474" idx="4"/>
                <a:endCxn id="147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38;p32">
                <a:extLst>
                  <a:ext uri="{FF2B5EF4-FFF2-40B4-BE49-F238E27FC236}">
                    <a16:creationId xmlns:a16="http://schemas.microsoft.com/office/drawing/2014/main" id="{702C3423-A78C-7310-13B3-6F6C9643E191}"/>
                  </a:ext>
                </a:extLst>
              </p:cNvPr>
              <p:cNvCxnSpPr>
                <a:stCxn id="61" idx="6"/>
                <a:endCxn id="147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539;p32">
                <a:extLst>
                  <a:ext uri="{FF2B5EF4-FFF2-40B4-BE49-F238E27FC236}">
                    <a16:creationId xmlns:a16="http://schemas.microsoft.com/office/drawing/2014/main" id="{BAB94F95-9FF9-9642-D911-B4D06F63E567}"/>
                  </a:ext>
                </a:extLst>
              </p:cNvPr>
              <p:cNvCxnSpPr>
                <a:stCxn id="61" idx="0"/>
                <a:endCxn id="147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540;p32">
                <a:extLst>
                  <a:ext uri="{FF2B5EF4-FFF2-40B4-BE49-F238E27FC236}">
                    <a16:creationId xmlns:a16="http://schemas.microsoft.com/office/drawing/2014/main" id="{C9A45073-7389-7637-C349-180D3B0C0A7C}"/>
                  </a:ext>
                </a:extLst>
              </p:cNvPr>
              <p:cNvCxnSpPr>
                <a:stCxn id="1473" idx="7"/>
                <a:endCxn id="147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95" name="Google Shape;1541;p32">
                <a:extLst>
                  <a:ext uri="{FF2B5EF4-FFF2-40B4-BE49-F238E27FC236}">
                    <a16:creationId xmlns:a16="http://schemas.microsoft.com/office/drawing/2014/main" id="{23C92256-6502-B825-FA2A-0F0F6B77AB5C}"/>
                  </a:ext>
                </a:extLst>
              </p:cNvPr>
              <p:cNvCxnSpPr>
                <a:stCxn id="1474" idx="6"/>
                <a:endCxn id="6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96" name="Google Shape;1542;p32">
                <a:extLst>
                  <a:ext uri="{FF2B5EF4-FFF2-40B4-BE49-F238E27FC236}">
                    <a16:creationId xmlns:a16="http://schemas.microsoft.com/office/drawing/2014/main" id="{3AA5E77F-726D-54B8-4B2E-03BC579324F6}"/>
                  </a:ext>
                </a:extLst>
              </p:cNvPr>
              <p:cNvCxnSpPr>
                <a:stCxn id="1472" idx="7"/>
                <a:endCxn id="6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97" name="Google Shape;1543;p32">
                <a:extLst>
                  <a:ext uri="{FF2B5EF4-FFF2-40B4-BE49-F238E27FC236}">
                    <a16:creationId xmlns:a16="http://schemas.microsoft.com/office/drawing/2014/main" id="{ACB2CAA4-5D5C-9390-CF4D-ECC06FE3E2D1}"/>
                  </a:ext>
                </a:extLst>
              </p:cNvPr>
              <p:cNvCxnSpPr>
                <a:stCxn id="61" idx="5"/>
                <a:endCxn id="147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98" name="Google Shape;1544;p32">
                <a:extLst>
                  <a:ext uri="{FF2B5EF4-FFF2-40B4-BE49-F238E27FC236}">
                    <a16:creationId xmlns:a16="http://schemas.microsoft.com/office/drawing/2014/main" id="{CB6B73BC-87A1-8E04-6A78-DF62484CC90E}"/>
                  </a:ext>
                </a:extLst>
              </p:cNvPr>
              <p:cNvCxnSpPr>
                <a:stCxn id="1475" idx="7"/>
                <a:endCxn id="147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99" name="Google Shape;1545;p32">
                <a:extLst>
                  <a:ext uri="{FF2B5EF4-FFF2-40B4-BE49-F238E27FC236}">
                    <a16:creationId xmlns:a16="http://schemas.microsoft.com/office/drawing/2014/main" id="{69466E22-9B35-3DF7-F3E9-D0140095B2FE}"/>
                  </a:ext>
                </a:extLst>
              </p:cNvPr>
              <p:cNvCxnSpPr>
                <a:stCxn id="1475" idx="5"/>
                <a:endCxn id="6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00" name="Google Shape;1546;p32">
                <a:extLst>
                  <a:ext uri="{FF2B5EF4-FFF2-40B4-BE49-F238E27FC236}">
                    <a16:creationId xmlns:a16="http://schemas.microsoft.com/office/drawing/2014/main" id="{D307DB20-18A0-78ED-09A0-F8EC4F905948}"/>
                  </a:ext>
                </a:extLst>
              </p:cNvPr>
              <p:cNvCxnSpPr>
                <a:stCxn id="63" idx="0"/>
                <a:endCxn id="147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01" name="Google Shape;1547;p32">
                <a:extLst>
                  <a:ext uri="{FF2B5EF4-FFF2-40B4-BE49-F238E27FC236}">
                    <a16:creationId xmlns:a16="http://schemas.microsoft.com/office/drawing/2014/main" id="{8D33C429-F936-7C25-BB27-D1F5A85C5C76}"/>
                  </a:ext>
                </a:extLst>
              </p:cNvPr>
              <p:cNvCxnSpPr>
                <a:stCxn id="63" idx="7"/>
                <a:endCxn id="147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48;p32">
                <a:extLst>
                  <a:ext uri="{FF2B5EF4-FFF2-40B4-BE49-F238E27FC236}">
                    <a16:creationId xmlns:a16="http://schemas.microsoft.com/office/drawing/2014/main" id="{CACFA461-B4B6-C205-0869-FF45EA6E3E50}"/>
                  </a:ext>
                </a:extLst>
              </p:cNvPr>
              <p:cNvCxnSpPr>
                <a:stCxn id="1472" idx="6"/>
                <a:endCxn id="147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49;p32">
                <a:extLst>
                  <a:ext uri="{FF2B5EF4-FFF2-40B4-BE49-F238E27FC236}">
                    <a16:creationId xmlns:a16="http://schemas.microsoft.com/office/drawing/2014/main" id="{7FE906F7-6DE4-6BC7-6E9D-8E0FA1C0E532}"/>
                  </a:ext>
                </a:extLst>
              </p:cNvPr>
              <p:cNvCxnSpPr>
                <a:stCxn id="1476" idx="0"/>
                <a:endCxn id="6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50;p32">
                <a:extLst>
                  <a:ext uri="{FF2B5EF4-FFF2-40B4-BE49-F238E27FC236}">
                    <a16:creationId xmlns:a16="http://schemas.microsoft.com/office/drawing/2014/main" id="{18BFC75E-3E03-97B3-C20F-D386FFA8F64F}"/>
                  </a:ext>
                </a:extLst>
              </p:cNvPr>
              <p:cNvCxnSpPr>
                <a:stCxn id="1473" idx="4"/>
                <a:endCxn id="6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51;p32">
                <a:extLst>
                  <a:ext uri="{FF2B5EF4-FFF2-40B4-BE49-F238E27FC236}">
                    <a16:creationId xmlns:a16="http://schemas.microsoft.com/office/drawing/2014/main" id="{045E426B-5D1D-D0D6-4338-735CD2782182}"/>
                  </a:ext>
                </a:extLst>
              </p:cNvPr>
              <p:cNvCxnSpPr>
                <a:stCxn id="62" idx="4"/>
                <a:endCxn id="6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06" name="Google Shape;1552;p32">
                <a:extLst>
                  <a:ext uri="{FF2B5EF4-FFF2-40B4-BE49-F238E27FC236}">
                    <a16:creationId xmlns:a16="http://schemas.microsoft.com/office/drawing/2014/main" id="{22862B2A-3E68-0E9E-4909-00A6A8EC5BF6}"/>
                  </a:ext>
                </a:extLst>
              </p:cNvPr>
              <p:cNvCxnSpPr>
                <a:stCxn id="61" idx="5"/>
                <a:endCxn id="6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07" name="Google Shape;1553;p32">
                <a:extLst>
                  <a:ext uri="{FF2B5EF4-FFF2-40B4-BE49-F238E27FC236}">
                    <a16:creationId xmlns:a16="http://schemas.microsoft.com/office/drawing/2014/main" id="{5451AE00-2570-0973-11B8-722C1A5D1AA7}"/>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08" name="Google Shape;1554;p32">
                <a:extLst>
                  <a:ext uri="{FF2B5EF4-FFF2-40B4-BE49-F238E27FC236}">
                    <a16:creationId xmlns:a16="http://schemas.microsoft.com/office/drawing/2014/main" id="{EBDCBCA0-6693-2D81-7A8E-BBEAD7DBA34C}"/>
                  </a:ext>
                </a:extLst>
              </p:cNvPr>
              <p:cNvCxnSpPr>
                <a:stCxn id="1476" idx="4"/>
                <a:endCxn id="1507"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55;p32">
                <a:extLst>
                  <a:ext uri="{FF2B5EF4-FFF2-40B4-BE49-F238E27FC236}">
                    <a16:creationId xmlns:a16="http://schemas.microsoft.com/office/drawing/2014/main" id="{3036F1D9-F9A8-C1D4-1280-FDDCA04FE59C}"/>
                  </a:ext>
                </a:extLst>
              </p:cNvPr>
              <p:cNvCxnSpPr>
                <a:stCxn id="1507" idx="2"/>
                <a:endCxn id="6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56;p32">
                <a:extLst>
                  <a:ext uri="{FF2B5EF4-FFF2-40B4-BE49-F238E27FC236}">
                    <a16:creationId xmlns:a16="http://schemas.microsoft.com/office/drawing/2014/main" id="{BA23BB04-4382-82BA-F82B-061A9E3E93F7}"/>
                  </a:ext>
                </a:extLst>
              </p:cNvPr>
              <p:cNvCxnSpPr>
                <a:stCxn id="1507" idx="0"/>
                <a:endCxn id="6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57;p32">
                <a:extLst>
                  <a:ext uri="{FF2B5EF4-FFF2-40B4-BE49-F238E27FC236}">
                    <a16:creationId xmlns:a16="http://schemas.microsoft.com/office/drawing/2014/main" id="{01489E5C-111C-3432-70FD-67874C3175CA}"/>
                  </a:ext>
                </a:extLst>
              </p:cNvPr>
              <p:cNvCxnSpPr>
                <a:stCxn id="1507" idx="1"/>
                <a:endCxn id="147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12" name="Google Shape;1558;p32">
                <a:extLst>
                  <a:ext uri="{FF2B5EF4-FFF2-40B4-BE49-F238E27FC236}">
                    <a16:creationId xmlns:a16="http://schemas.microsoft.com/office/drawing/2014/main" id="{E4E53872-D6CB-5308-71F0-65B8EADF136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13" name="Google Shape;1559;p32">
                <a:extLst>
                  <a:ext uri="{FF2B5EF4-FFF2-40B4-BE49-F238E27FC236}">
                    <a16:creationId xmlns:a16="http://schemas.microsoft.com/office/drawing/2014/main" id="{673FBF72-F90B-C2B6-8E97-D34E61E13B0E}"/>
                  </a:ext>
                </a:extLst>
              </p:cNvPr>
              <p:cNvCxnSpPr>
                <a:stCxn id="1507" idx="2"/>
                <a:endCxn id="1512"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60;p32">
                <a:extLst>
                  <a:ext uri="{FF2B5EF4-FFF2-40B4-BE49-F238E27FC236}">
                    <a16:creationId xmlns:a16="http://schemas.microsoft.com/office/drawing/2014/main" id="{E5574396-38E6-2FD2-D838-A2CDBB5F24A9}"/>
                  </a:ext>
                </a:extLst>
              </p:cNvPr>
              <p:cNvCxnSpPr>
                <a:stCxn id="1512" idx="1"/>
                <a:endCxn id="147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27" name="Google Shape;1527;p32">
              <a:extLst>
                <a:ext uri="{FF2B5EF4-FFF2-40B4-BE49-F238E27FC236}">
                  <a16:creationId xmlns:a16="http://schemas.microsoft.com/office/drawing/2014/main" id="{7EFB3B1A-3627-3FFF-4E06-6A7F3D93E1B4}"/>
                </a:ext>
              </a:extLst>
            </p:cNvPr>
            <p:cNvGrpSpPr/>
            <p:nvPr/>
          </p:nvGrpSpPr>
          <p:grpSpPr>
            <a:xfrm rot="8810917">
              <a:off x="-1825469" y="-1176520"/>
              <a:ext cx="3200329" cy="3127770"/>
              <a:chOff x="447667" y="285337"/>
              <a:chExt cx="3863732" cy="3776132"/>
            </a:xfrm>
          </p:grpSpPr>
          <p:sp>
            <p:nvSpPr>
              <p:cNvPr id="28" name="Google Shape;1528;p32">
                <a:extLst>
                  <a:ext uri="{FF2B5EF4-FFF2-40B4-BE49-F238E27FC236}">
                    <a16:creationId xmlns:a16="http://schemas.microsoft.com/office/drawing/2014/main" id="{25F55875-4554-B4CB-8FB6-E3F4E05F8C38}"/>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 name="Google Shape;1529;p32">
                <a:extLst>
                  <a:ext uri="{FF2B5EF4-FFF2-40B4-BE49-F238E27FC236}">
                    <a16:creationId xmlns:a16="http://schemas.microsoft.com/office/drawing/2014/main" id="{8F0FB9FC-F379-46B0-AFF2-DFEB36E84ED5}"/>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 name="Google Shape;1530;p32">
                <a:extLst>
                  <a:ext uri="{FF2B5EF4-FFF2-40B4-BE49-F238E27FC236}">
                    <a16:creationId xmlns:a16="http://schemas.microsoft.com/office/drawing/2014/main" id="{58977D86-A132-0262-17C5-D407D1896083}"/>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 name="Google Shape;1531;p32">
                <a:extLst>
                  <a:ext uri="{FF2B5EF4-FFF2-40B4-BE49-F238E27FC236}">
                    <a16:creationId xmlns:a16="http://schemas.microsoft.com/office/drawing/2014/main" id="{1310E6EA-C2AF-A120-E1C5-AA1D7EBDE377}"/>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 name="Google Shape;1532;p32">
                <a:extLst>
                  <a:ext uri="{FF2B5EF4-FFF2-40B4-BE49-F238E27FC236}">
                    <a16:creationId xmlns:a16="http://schemas.microsoft.com/office/drawing/2014/main" id="{7C3AC1B8-357F-DE8A-FD76-38FE79FFD453}"/>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 name="Google Shape;1533;p32">
                <a:extLst>
                  <a:ext uri="{FF2B5EF4-FFF2-40B4-BE49-F238E27FC236}">
                    <a16:creationId xmlns:a16="http://schemas.microsoft.com/office/drawing/2014/main" id="{04F8F203-3D38-7F36-49DF-FF0394DD7C4B}"/>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534;p32">
                <a:extLst>
                  <a:ext uri="{FF2B5EF4-FFF2-40B4-BE49-F238E27FC236}">
                    <a16:creationId xmlns:a16="http://schemas.microsoft.com/office/drawing/2014/main" id="{A9B5282E-AEB1-366F-15B7-4CDBE0476B9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5" name="Google Shape;1535;p32">
                <a:extLst>
                  <a:ext uri="{FF2B5EF4-FFF2-40B4-BE49-F238E27FC236}">
                    <a16:creationId xmlns:a16="http://schemas.microsoft.com/office/drawing/2014/main" id="{B0BD88A4-A884-58E7-267C-BF4B0D83DFE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36;p32">
                <a:extLst>
                  <a:ext uri="{FF2B5EF4-FFF2-40B4-BE49-F238E27FC236}">
                    <a16:creationId xmlns:a16="http://schemas.microsoft.com/office/drawing/2014/main" id="{BF929486-F5D7-4B06-72BE-8AD90703CAD5}"/>
                  </a:ext>
                </a:extLst>
              </p:cNvPr>
              <p:cNvCxnSpPr>
                <a:stCxn id="32" idx="5"/>
                <a:endCxn id="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37;p32">
                <a:extLst>
                  <a:ext uri="{FF2B5EF4-FFF2-40B4-BE49-F238E27FC236}">
                    <a16:creationId xmlns:a16="http://schemas.microsoft.com/office/drawing/2014/main" id="{58DABF2E-2C48-A91F-E0A9-DD664FB50589}"/>
                  </a:ext>
                </a:extLst>
              </p:cNvPr>
              <p:cNvCxnSpPr>
                <a:stCxn id="33" idx="4"/>
                <a:endCxn id="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38;p32">
                <a:extLst>
                  <a:ext uri="{FF2B5EF4-FFF2-40B4-BE49-F238E27FC236}">
                    <a16:creationId xmlns:a16="http://schemas.microsoft.com/office/drawing/2014/main" id="{398F70A0-1D5E-0B77-CACD-9146C509F912}"/>
                  </a:ext>
                </a:extLst>
              </p:cNvPr>
              <p:cNvCxnSpPr>
                <a:stCxn id="28" idx="6"/>
                <a:endCxn id="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39;p32">
                <a:extLst>
                  <a:ext uri="{FF2B5EF4-FFF2-40B4-BE49-F238E27FC236}">
                    <a16:creationId xmlns:a16="http://schemas.microsoft.com/office/drawing/2014/main" id="{2B8566F4-6DDE-5071-8304-887A1AC9EE7E}"/>
                  </a:ext>
                </a:extLst>
              </p:cNvPr>
              <p:cNvCxnSpPr>
                <a:stCxn id="28" idx="0"/>
                <a:endCxn id="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40;p32">
                <a:extLst>
                  <a:ext uri="{FF2B5EF4-FFF2-40B4-BE49-F238E27FC236}">
                    <a16:creationId xmlns:a16="http://schemas.microsoft.com/office/drawing/2014/main" id="{7BB0475E-36CE-9B51-0FC6-F85FE3DF709A}"/>
                  </a:ext>
                </a:extLst>
              </p:cNvPr>
              <p:cNvCxnSpPr>
                <a:stCxn id="32" idx="7"/>
                <a:endCxn id="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41;p32">
                <a:extLst>
                  <a:ext uri="{FF2B5EF4-FFF2-40B4-BE49-F238E27FC236}">
                    <a16:creationId xmlns:a16="http://schemas.microsoft.com/office/drawing/2014/main" id="{4686C517-8943-C0E3-F94A-BAAF755CDAE4}"/>
                  </a:ext>
                </a:extLst>
              </p:cNvPr>
              <p:cNvCxnSpPr>
                <a:stCxn id="33" idx="6"/>
                <a:endCxn id="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42;p32">
                <a:extLst>
                  <a:ext uri="{FF2B5EF4-FFF2-40B4-BE49-F238E27FC236}">
                    <a16:creationId xmlns:a16="http://schemas.microsoft.com/office/drawing/2014/main" id="{C03C618E-BC47-B546-C01F-E8ACADB94993}"/>
                  </a:ext>
                </a:extLst>
              </p:cNvPr>
              <p:cNvCxnSpPr>
                <a:stCxn id="31" idx="7"/>
                <a:endCxn id="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43;p32">
                <a:extLst>
                  <a:ext uri="{FF2B5EF4-FFF2-40B4-BE49-F238E27FC236}">
                    <a16:creationId xmlns:a16="http://schemas.microsoft.com/office/drawing/2014/main" id="{4DE351E4-AD7E-1BFF-4DBC-CA8E0A0FF656}"/>
                  </a:ext>
                </a:extLst>
              </p:cNvPr>
              <p:cNvCxnSpPr>
                <a:stCxn id="28" idx="5"/>
                <a:endCxn id="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44;p32">
                <a:extLst>
                  <a:ext uri="{FF2B5EF4-FFF2-40B4-BE49-F238E27FC236}">
                    <a16:creationId xmlns:a16="http://schemas.microsoft.com/office/drawing/2014/main" id="{69B1C82B-3310-BEBE-8507-7E2815D8CC92}"/>
                  </a:ext>
                </a:extLst>
              </p:cNvPr>
              <p:cNvCxnSpPr>
                <a:stCxn id="34" idx="7"/>
                <a:endCxn id="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45;p32">
                <a:extLst>
                  <a:ext uri="{FF2B5EF4-FFF2-40B4-BE49-F238E27FC236}">
                    <a16:creationId xmlns:a16="http://schemas.microsoft.com/office/drawing/2014/main" id="{01AFE7EC-1183-398D-B849-3C51FEBA4CAD}"/>
                  </a:ext>
                </a:extLst>
              </p:cNvPr>
              <p:cNvCxnSpPr>
                <a:stCxn id="34" idx="5"/>
                <a:endCxn id="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46;p32">
                <a:extLst>
                  <a:ext uri="{FF2B5EF4-FFF2-40B4-BE49-F238E27FC236}">
                    <a16:creationId xmlns:a16="http://schemas.microsoft.com/office/drawing/2014/main" id="{3EAFDCA1-D4E0-88DE-3E07-47F73E3880DA}"/>
                  </a:ext>
                </a:extLst>
              </p:cNvPr>
              <p:cNvCxnSpPr>
                <a:stCxn id="30" idx="0"/>
                <a:endCxn id="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47;p32">
                <a:extLst>
                  <a:ext uri="{FF2B5EF4-FFF2-40B4-BE49-F238E27FC236}">
                    <a16:creationId xmlns:a16="http://schemas.microsoft.com/office/drawing/2014/main" id="{290D48CB-D72F-FF42-2033-D5A31F651016}"/>
                  </a:ext>
                </a:extLst>
              </p:cNvPr>
              <p:cNvCxnSpPr>
                <a:stCxn id="30" idx="7"/>
                <a:endCxn id="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48;p32">
                <a:extLst>
                  <a:ext uri="{FF2B5EF4-FFF2-40B4-BE49-F238E27FC236}">
                    <a16:creationId xmlns:a16="http://schemas.microsoft.com/office/drawing/2014/main" id="{5BD77D40-190E-6835-B95C-9F300D25BACD}"/>
                  </a:ext>
                </a:extLst>
              </p:cNvPr>
              <p:cNvCxnSpPr>
                <a:stCxn id="31" idx="6"/>
                <a:endCxn id="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1549;p32">
                <a:extLst>
                  <a:ext uri="{FF2B5EF4-FFF2-40B4-BE49-F238E27FC236}">
                    <a16:creationId xmlns:a16="http://schemas.microsoft.com/office/drawing/2014/main" id="{CF96020A-E80C-1A12-AA74-C478AAD91E9F}"/>
                  </a:ext>
                </a:extLst>
              </p:cNvPr>
              <p:cNvCxnSpPr>
                <a:stCxn id="35" idx="0"/>
                <a:endCxn id="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50;p32">
                <a:extLst>
                  <a:ext uri="{FF2B5EF4-FFF2-40B4-BE49-F238E27FC236}">
                    <a16:creationId xmlns:a16="http://schemas.microsoft.com/office/drawing/2014/main" id="{30E0DCE1-4E90-31A7-81D9-FB04C2F42514}"/>
                  </a:ext>
                </a:extLst>
              </p:cNvPr>
              <p:cNvCxnSpPr>
                <a:stCxn id="32" idx="4"/>
                <a:endCxn id="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51" name="Google Shape;1551;p32">
                <a:extLst>
                  <a:ext uri="{FF2B5EF4-FFF2-40B4-BE49-F238E27FC236}">
                    <a16:creationId xmlns:a16="http://schemas.microsoft.com/office/drawing/2014/main" id="{725A89B2-8324-72B9-8D71-C97461B0F668}"/>
                  </a:ext>
                </a:extLst>
              </p:cNvPr>
              <p:cNvCxnSpPr>
                <a:stCxn id="29" idx="4"/>
                <a:endCxn id="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52;p32">
                <a:extLst>
                  <a:ext uri="{FF2B5EF4-FFF2-40B4-BE49-F238E27FC236}">
                    <a16:creationId xmlns:a16="http://schemas.microsoft.com/office/drawing/2014/main" id="{ADE8FC25-74CD-2DE8-27CC-4EC148D8E7D2}"/>
                  </a:ext>
                </a:extLst>
              </p:cNvPr>
              <p:cNvCxnSpPr>
                <a:stCxn id="28" idx="5"/>
                <a:endCxn id="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53" name="Google Shape;1553;p32">
                <a:extLst>
                  <a:ext uri="{FF2B5EF4-FFF2-40B4-BE49-F238E27FC236}">
                    <a16:creationId xmlns:a16="http://schemas.microsoft.com/office/drawing/2014/main" id="{B7358D38-5F54-E1D2-3F85-A2E8FADACD35}"/>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1554;p32">
                <a:extLst>
                  <a:ext uri="{FF2B5EF4-FFF2-40B4-BE49-F238E27FC236}">
                    <a16:creationId xmlns:a16="http://schemas.microsoft.com/office/drawing/2014/main" id="{B4253B6B-5263-72C0-9C59-3FC9D8BF5620}"/>
                  </a:ext>
                </a:extLst>
              </p:cNvPr>
              <p:cNvCxnSpPr>
                <a:stCxn id="35" idx="4"/>
                <a:endCxn id="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55;p32">
                <a:extLst>
                  <a:ext uri="{FF2B5EF4-FFF2-40B4-BE49-F238E27FC236}">
                    <a16:creationId xmlns:a16="http://schemas.microsoft.com/office/drawing/2014/main" id="{4FA028A6-6849-8EB9-0E42-92545A83C9B4}"/>
                  </a:ext>
                </a:extLst>
              </p:cNvPr>
              <p:cNvCxnSpPr>
                <a:stCxn id="53" idx="2"/>
                <a:endCxn id="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56;p32">
                <a:extLst>
                  <a:ext uri="{FF2B5EF4-FFF2-40B4-BE49-F238E27FC236}">
                    <a16:creationId xmlns:a16="http://schemas.microsoft.com/office/drawing/2014/main" id="{297FB2FE-445D-9723-AC2B-11BA6C3D7ECA}"/>
                  </a:ext>
                </a:extLst>
              </p:cNvPr>
              <p:cNvCxnSpPr>
                <a:stCxn id="53" idx="0"/>
                <a:endCxn id="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57;p32">
                <a:extLst>
                  <a:ext uri="{FF2B5EF4-FFF2-40B4-BE49-F238E27FC236}">
                    <a16:creationId xmlns:a16="http://schemas.microsoft.com/office/drawing/2014/main" id="{F0333CF7-1817-7F07-FD4A-94BC246A18C5}"/>
                  </a:ext>
                </a:extLst>
              </p:cNvPr>
              <p:cNvCxnSpPr>
                <a:stCxn id="53" idx="1"/>
                <a:endCxn id="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58" name="Google Shape;1558;p32">
                <a:extLst>
                  <a:ext uri="{FF2B5EF4-FFF2-40B4-BE49-F238E27FC236}">
                    <a16:creationId xmlns:a16="http://schemas.microsoft.com/office/drawing/2014/main" id="{D13D6831-38BE-F31D-3400-9550E780939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59;p32">
                <a:extLst>
                  <a:ext uri="{FF2B5EF4-FFF2-40B4-BE49-F238E27FC236}">
                    <a16:creationId xmlns:a16="http://schemas.microsoft.com/office/drawing/2014/main" id="{43968113-37B1-2AB3-9B52-8A06B32DB23C}"/>
                  </a:ext>
                </a:extLst>
              </p:cNvPr>
              <p:cNvCxnSpPr>
                <a:stCxn id="53" idx="2"/>
                <a:endCxn id="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60;p32">
                <a:extLst>
                  <a:ext uri="{FF2B5EF4-FFF2-40B4-BE49-F238E27FC236}">
                    <a16:creationId xmlns:a16="http://schemas.microsoft.com/office/drawing/2014/main" id="{3DD28D5B-6820-2626-20C6-886CB163DF02}"/>
                  </a:ext>
                </a:extLst>
              </p:cNvPr>
              <p:cNvCxnSpPr>
                <a:stCxn id="58" idx="1"/>
                <a:endCxn id="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4" name="Google Shape;1484;p29"/>
          <p:cNvSpPr txBox="1">
            <a:spLocks noGrp="1"/>
          </p:cNvSpPr>
          <p:nvPr>
            <p:ph type="title"/>
          </p:nvPr>
        </p:nvSpPr>
        <p:spPr>
          <a:xfrm>
            <a:off x="1093060" y="18985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t>Types de graphes</a:t>
            </a:r>
            <a:endParaRPr sz="4000" b="1" dirty="0"/>
          </a:p>
        </p:txBody>
      </p:sp>
      <p:grpSp>
        <p:nvGrpSpPr>
          <p:cNvPr id="25" name="Groupe 24">
            <a:extLst>
              <a:ext uri="{FF2B5EF4-FFF2-40B4-BE49-F238E27FC236}">
                <a16:creationId xmlns:a16="http://schemas.microsoft.com/office/drawing/2014/main" id="{5D8C1199-96EE-567D-9E9E-237509823027}"/>
              </a:ext>
            </a:extLst>
          </p:cNvPr>
          <p:cNvGrpSpPr/>
          <p:nvPr/>
        </p:nvGrpSpPr>
        <p:grpSpPr>
          <a:xfrm>
            <a:off x="-1579586" y="-921227"/>
            <a:ext cx="11814242" cy="7257540"/>
            <a:chOff x="-1825469" y="-1176520"/>
            <a:chExt cx="11814242" cy="7257540"/>
          </a:xfrm>
        </p:grpSpPr>
        <p:grpSp>
          <p:nvGrpSpPr>
            <p:cNvPr id="26" name="Google Shape;1527;p32">
              <a:extLst>
                <a:ext uri="{FF2B5EF4-FFF2-40B4-BE49-F238E27FC236}">
                  <a16:creationId xmlns:a16="http://schemas.microsoft.com/office/drawing/2014/main" id="{EFEA245D-23DB-EC23-91AB-C619823AA4D7}"/>
                </a:ext>
              </a:extLst>
            </p:cNvPr>
            <p:cNvGrpSpPr/>
            <p:nvPr/>
          </p:nvGrpSpPr>
          <p:grpSpPr>
            <a:xfrm>
              <a:off x="6788444" y="2953250"/>
              <a:ext cx="3200329" cy="3127770"/>
              <a:chOff x="447667" y="285337"/>
              <a:chExt cx="3863732" cy="3776132"/>
            </a:xfrm>
          </p:grpSpPr>
          <p:sp>
            <p:nvSpPr>
              <p:cNvPr id="61" name="Google Shape;1528;p32">
                <a:extLst>
                  <a:ext uri="{FF2B5EF4-FFF2-40B4-BE49-F238E27FC236}">
                    <a16:creationId xmlns:a16="http://schemas.microsoft.com/office/drawing/2014/main" id="{1C7D7895-662F-E7D9-3B67-7E228FD7B053}"/>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 name="Google Shape;1529;p32">
                <a:extLst>
                  <a:ext uri="{FF2B5EF4-FFF2-40B4-BE49-F238E27FC236}">
                    <a16:creationId xmlns:a16="http://schemas.microsoft.com/office/drawing/2014/main" id="{772FF28D-F3B8-85E8-68F1-F77F61E9DB39}"/>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1530;p32">
                <a:extLst>
                  <a:ext uri="{FF2B5EF4-FFF2-40B4-BE49-F238E27FC236}">
                    <a16:creationId xmlns:a16="http://schemas.microsoft.com/office/drawing/2014/main" id="{946644E6-D825-E37A-028D-4316F429C35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2" name="Google Shape;1531;p32">
                <a:extLst>
                  <a:ext uri="{FF2B5EF4-FFF2-40B4-BE49-F238E27FC236}">
                    <a16:creationId xmlns:a16="http://schemas.microsoft.com/office/drawing/2014/main" id="{070CA742-943F-2FD2-20E2-17998E93C0FA}"/>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3" name="Google Shape;1532;p32">
                <a:extLst>
                  <a:ext uri="{FF2B5EF4-FFF2-40B4-BE49-F238E27FC236}">
                    <a16:creationId xmlns:a16="http://schemas.microsoft.com/office/drawing/2014/main" id="{A27285DE-4709-8AF3-A881-F27CF2C74CE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4" name="Google Shape;1533;p32">
                <a:extLst>
                  <a:ext uri="{FF2B5EF4-FFF2-40B4-BE49-F238E27FC236}">
                    <a16:creationId xmlns:a16="http://schemas.microsoft.com/office/drawing/2014/main" id="{21BE28D9-F4BE-9AE6-3852-07961B5FA5E0}"/>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5" name="Google Shape;1534;p32">
                <a:extLst>
                  <a:ext uri="{FF2B5EF4-FFF2-40B4-BE49-F238E27FC236}">
                    <a16:creationId xmlns:a16="http://schemas.microsoft.com/office/drawing/2014/main" id="{E4F5542E-1269-162F-60B6-0024D037E6C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6" name="Google Shape;1535;p32">
                <a:extLst>
                  <a:ext uri="{FF2B5EF4-FFF2-40B4-BE49-F238E27FC236}">
                    <a16:creationId xmlns:a16="http://schemas.microsoft.com/office/drawing/2014/main" id="{B2A6CB49-C4EA-3BF3-CA32-C7493C416D9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7" name="Google Shape;1536;p32">
                <a:extLst>
                  <a:ext uri="{FF2B5EF4-FFF2-40B4-BE49-F238E27FC236}">
                    <a16:creationId xmlns:a16="http://schemas.microsoft.com/office/drawing/2014/main" id="{B410C1BA-75CE-C19F-1F69-737C861C2977}"/>
                  </a:ext>
                </a:extLst>
              </p:cNvPr>
              <p:cNvCxnSpPr>
                <a:stCxn id="1473" idx="5"/>
                <a:endCxn id="147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37;p32">
                <a:extLst>
                  <a:ext uri="{FF2B5EF4-FFF2-40B4-BE49-F238E27FC236}">
                    <a16:creationId xmlns:a16="http://schemas.microsoft.com/office/drawing/2014/main" id="{E5D36E29-EA44-3B18-3967-175295CE18FA}"/>
                  </a:ext>
                </a:extLst>
              </p:cNvPr>
              <p:cNvCxnSpPr>
                <a:stCxn id="1474" idx="4"/>
                <a:endCxn id="147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38;p32">
                <a:extLst>
                  <a:ext uri="{FF2B5EF4-FFF2-40B4-BE49-F238E27FC236}">
                    <a16:creationId xmlns:a16="http://schemas.microsoft.com/office/drawing/2014/main" id="{702C3423-A78C-7310-13B3-6F6C9643E191}"/>
                  </a:ext>
                </a:extLst>
              </p:cNvPr>
              <p:cNvCxnSpPr>
                <a:stCxn id="61" idx="6"/>
                <a:endCxn id="147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539;p32">
                <a:extLst>
                  <a:ext uri="{FF2B5EF4-FFF2-40B4-BE49-F238E27FC236}">
                    <a16:creationId xmlns:a16="http://schemas.microsoft.com/office/drawing/2014/main" id="{BAB94F95-9FF9-9642-D911-B4D06F63E567}"/>
                  </a:ext>
                </a:extLst>
              </p:cNvPr>
              <p:cNvCxnSpPr>
                <a:stCxn id="61" idx="0"/>
                <a:endCxn id="147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540;p32">
                <a:extLst>
                  <a:ext uri="{FF2B5EF4-FFF2-40B4-BE49-F238E27FC236}">
                    <a16:creationId xmlns:a16="http://schemas.microsoft.com/office/drawing/2014/main" id="{C9A45073-7389-7637-C349-180D3B0C0A7C}"/>
                  </a:ext>
                </a:extLst>
              </p:cNvPr>
              <p:cNvCxnSpPr>
                <a:stCxn id="1473" idx="7"/>
                <a:endCxn id="147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95" name="Google Shape;1541;p32">
                <a:extLst>
                  <a:ext uri="{FF2B5EF4-FFF2-40B4-BE49-F238E27FC236}">
                    <a16:creationId xmlns:a16="http://schemas.microsoft.com/office/drawing/2014/main" id="{23C92256-6502-B825-FA2A-0F0F6B77AB5C}"/>
                  </a:ext>
                </a:extLst>
              </p:cNvPr>
              <p:cNvCxnSpPr>
                <a:stCxn id="1474" idx="6"/>
                <a:endCxn id="6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96" name="Google Shape;1542;p32">
                <a:extLst>
                  <a:ext uri="{FF2B5EF4-FFF2-40B4-BE49-F238E27FC236}">
                    <a16:creationId xmlns:a16="http://schemas.microsoft.com/office/drawing/2014/main" id="{3AA5E77F-726D-54B8-4B2E-03BC579324F6}"/>
                  </a:ext>
                </a:extLst>
              </p:cNvPr>
              <p:cNvCxnSpPr>
                <a:stCxn id="1472" idx="7"/>
                <a:endCxn id="6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97" name="Google Shape;1543;p32">
                <a:extLst>
                  <a:ext uri="{FF2B5EF4-FFF2-40B4-BE49-F238E27FC236}">
                    <a16:creationId xmlns:a16="http://schemas.microsoft.com/office/drawing/2014/main" id="{ACB2CAA4-5D5C-9390-CF4D-ECC06FE3E2D1}"/>
                  </a:ext>
                </a:extLst>
              </p:cNvPr>
              <p:cNvCxnSpPr>
                <a:stCxn id="61" idx="5"/>
                <a:endCxn id="147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98" name="Google Shape;1544;p32">
                <a:extLst>
                  <a:ext uri="{FF2B5EF4-FFF2-40B4-BE49-F238E27FC236}">
                    <a16:creationId xmlns:a16="http://schemas.microsoft.com/office/drawing/2014/main" id="{CB6B73BC-87A1-8E04-6A78-DF62484CC90E}"/>
                  </a:ext>
                </a:extLst>
              </p:cNvPr>
              <p:cNvCxnSpPr>
                <a:stCxn id="1475" idx="7"/>
                <a:endCxn id="147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99" name="Google Shape;1545;p32">
                <a:extLst>
                  <a:ext uri="{FF2B5EF4-FFF2-40B4-BE49-F238E27FC236}">
                    <a16:creationId xmlns:a16="http://schemas.microsoft.com/office/drawing/2014/main" id="{69466E22-9B35-3DF7-F3E9-D0140095B2FE}"/>
                  </a:ext>
                </a:extLst>
              </p:cNvPr>
              <p:cNvCxnSpPr>
                <a:stCxn id="1475" idx="5"/>
                <a:endCxn id="6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00" name="Google Shape;1546;p32">
                <a:extLst>
                  <a:ext uri="{FF2B5EF4-FFF2-40B4-BE49-F238E27FC236}">
                    <a16:creationId xmlns:a16="http://schemas.microsoft.com/office/drawing/2014/main" id="{D307DB20-18A0-78ED-09A0-F8EC4F905948}"/>
                  </a:ext>
                </a:extLst>
              </p:cNvPr>
              <p:cNvCxnSpPr>
                <a:stCxn id="63" idx="0"/>
                <a:endCxn id="147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01" name="Google Shape;1547;p32">
                <a:extLst>
                  <a:ext uri="{FF2B5EF4-FFF2-40B4-BE49-F238E27FC236}">
                    <a16:creationId xmlns:a16="http://schemas.microsoft.com/office/drawing/2014/main" id="{8D33C429-F936-7C25-BB27-D1F5A85C5C76}"/>
                  </a:ext>
                </a:extLst>
              </p:cNvPr>
              <p:cNvCxnSpPr>
                <a:stCxn id="63" idx="7"/>
                <a:endCxn id="147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48;p32">
                <a:extLst>
                  <a:ext uri="{FF2B5EF4-FFF2-40B4-BE49-F238E27FC236}">
                    <a16:creationId xmlns:a16="http://schemas.microsoft.com/office/drawing/2014/main" id="{CACFA461-B4B6-C205-0869-FF45EA6E3E50}"/>
                  </a:ext>
                </a:extLst>
              </p:cNvPr>
              <p:cNvCxnSpPr>
                <a:stCxn id="1472" idx="6"/>
                <a:endCxn id="147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49;p32">
                <a:extLst>
                  <a:ext uri="{FF2B5EF4-FFF2-40B4-BE49-F238E27FC236}">
                    <a16:creationId xmlns:a16="http://schemas.microsoft.com/office/drawing/2014/main" id="{7FE906F7-6DE4-6BC7-6E9D-8E0FA1C0E532}"/>
                  </a:ext>
                </a:extLst>
              </p:cNvPr>
              <p:cNvCxnSpPr>
                <a:stCxn id="1476" idx="0"/>
                <a:endCxn id="6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50;p32">
                <a:extLst>
                  <a:ext uri="{FF2B5EF4-FFF2-40B4-BE49-F238E27FC236}">
                    <a16:creationId xmlns:a16="http://schemas.microsoft.com/office/drawing/2014/main" id="{18BFC75E-3E03-97B3-C20F-D386FFA8F64F}"/>
                  </a:ext>
                </a:extLst>
              </p:cNvPr>
              <p:cNvCxnSpPr>
                <a:stCxn id="1473" idx="4"/>
                <a:endCxn id="6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51;p32">
                <a:extLst>
                  <a:ext uri="{FF2B5EF4-FFF2-40B4-BE49-F238E27FC236}">
                    <a16:creationId xmlns:a16="http://schemas.microsoft.com/office/drawing/2014/main" id="{045E426B-5D1D-D0D6-4338-735CD2782182}"/>
                  </a:ext>
                </a:extLst>
              </p:cNvPr>
              <p:cNvCxnSpPr>
                <a:stCxn id="62" idx="4"/>
                <a:endCxn id="6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06" name="Google Shape;1552;p32">
                <a:extLst>
                  <a:ext uri="{FF2B5EF4-FFF2-40B4-BE49-F238E27FC236}">
                    <a16:creationId xmlns:a16="http://schemas.microsoft.com/office/drawing/2014/main" id="{22862B2A-3E68-0E9E-4909-00A6A8EC5BF6}"/>
                  </a:ext>
                </a:extLst>
              </p:cNvPr>
              <p:cNvCxnSpPr>
                <a:stCxn id="61" idx="5"/>
                <a:endCxn id="6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07" name="Google Shape;1553;p32">
                <a:extLst>
                  <a:ext uri="{FF2B5EF4-FFF2-40B4-BE49-F238E27FC236}">
                    <a16:creationId xmlns:a16="http://schemas.microsoft.com/office/drawing/2014/main" id="{5451AE00-2570-0973-11B8-722C1A5D1AA7}"/>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08" name="Google Shape;1554;p32">
                <a:extLst>
                  <a:ext uri="{FF2B5EF4-FFF2-40B4-BE49-F238E27FC236}">
                    <a16:creationId xmlns:a16="http://schemas.microsoft.com/office/drawing/2014/main" id="{EBDCBCA0-6693-2D81-7A8E-BBEAD7DBA34C}"/>
                  </a:ext>
                </a:extLst>
              </p:cNvPr>
              <p:cNvCxnSpPr>
                <a:stCxn id="1476" idx="4"/>
                <a:endCxn id="1507"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55;p32">
                <a:extLst>
                  <a:ext uri="{FF2B5EF4-FFF2-40B4-BE49-F238E27FC236}">
                    <a16:creationId xmlns:a16="http://schemas.microsoft.com/office/drawing/2014/main" id="{3036F1D9-F9A8-C1D4-1280-FDDCA04FE59C}"/>
                  </a:ext>
                </a:extLst>
              </p:cNvPr>
              <p:cNvCxnSpPr>
                <a:stCxn id="1507" idx="2"/>
                <a:endCxn id="6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56;p32">
                <a:extLst>
                  <a:ext uri="{FF2B5EF4-FFF2-40B4-BE49-F238E27FC236}">
                    <a16:creationId xmlns:a16="http://schemas.microsoft.com/office/drawing/2014/main" id="{BA23BB04-4382-82BA-F82B-061A9E3E93F7}"/>
                  </a:ext>
                </a:extLst>
              </p:cNvPr>
              <p:cNvCxnSpPr>
                <a:stCxn id="1507" idx="0"/>
                <a:endCxn id="6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57;p32">
                <a:extLst>
                  <a:ext uri="{FF2B5EF4-FFF2-40B4-BE49-F238E27FC236}">
                    <a16:creationId xmlns:a16="http://schemas.microsoft.com/office/drawing/2014/main" id="{01489E5C-111C-3432-70FD-67874C3175CA}"/>
                  </a:ext>
                </a:extLst>
              </p:cNvPr>
              <p:cNvCxnSpPr>
                <a:stCxn id="1507" idx="1"/>
                <a:endCxn id="147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12" name="Google Shape;1558;p32">
                <a:extLst>
                  <a:ext uri="{FF2B5EF4-FFF2-40B4-BE49-F238E27FC236}">
                    <a16:creationId xmlns:a16="http://schemas.microsoft.com/office/drawing/2014/main" id="{E4E53872-D6CB-5308-71F0-65B8EADF136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13" name="Google Shape;1559;p32">
                <a:extLst>
                  <a:ext uri="{FF2B5EF4-FFF2-40B4-BE49-F238E27FC236}">
                    <a16:creationId xmlns:a16="http://schemas.microsoft.com/office/drawing/2014/main" id="{673FBF72-F90B-C2B6-8E97-D34E61E13B0E}"/>
                  </a:ext>
                </a:extLst>
              </p:cNvPr>
              <p:cNvCxnSpPr>
                <a:stCxn id="1507" idx="2"/>
                <a:endCxn id="1512"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60;p32">
                <a:extLst>
                  <a:ext uri="{FF2B5EF4-FFF2-40B4-BE49-F238E27FC236}">
                    <a16:creationId xmlns:a16="http://schemas.microsoft.com/office/drawing/2014/main" id="{E5574396-38E6-2FD2-D838-A2CDBB5F24A9}"/>
                  </a:ext>
                </a:extLst>
              </p:cNvPr>
              <p:cNvCxnSpPr>
                <a:stCxn id="1512" idx="1"/>
                <a:endCxn id="147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27" name="Google Shape;1527;p32">
              <a:extLst>
                <a:ext uri="{FF2B5EF4-FFF2-40B4-BE49-F238E27FC236}">
                  <a16:creationId xmlns:a16="http://schemas.microsoft.com/office/drawing/2014/main" id="{7EFB3B1A-3627-3FFF-4E06-6A7F3D93E1B4}"/>
                </a:ext>
              </a:extLst>
            </p:cNvPr>
            <p:cNvGrpSpPr/>
            <p:nvPr/>
          </p:nvGrpSpPr>
          <p:grpSpPr>
            <a:xfrm rot="8810917">
              <a:off x="-1825469" y="-1176520"/>
              <a:ext cx="3200329" cy="3127770"/>
              <a:chOff x="447667" y="285337"/>
              <a:chExt cx="3863732" cy="3776132"/>
            </a:xfrm>
          </p:grpSpPr>
          <p:sp>
            <p:nvSpPr>
              <p:cNvPr id="28" name="Google Shape;1528;p32">
                <a:extLst>
                  <a:ext uri="{FF2B5EF4-FFF2-40B4-BE49-F238E27FC236}">
                    <a16:creationId xmlns:a16="http://schemas.microsoft.com/office/drawing/2014/main" id="{25F55875-4554-B4CB-8FB6-E3F4E05F8C38}"/>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 name="Google Shape;1529;p32">
                <a:extLst>
                  <a:ext uri="{FF2B5EF4-FFF2-40B4-BE49-F238E27FC236}">
                    <a16:creationId xmlns:a16="http://schemas.microsoft.com/office/drawing/2014/main" id="{8F0FB9FC-F379-46B0-AFF2-DFEB36E84ED5}"/>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 name="Google Shape;1530;p32">
                <a:extLst>
                  <a:ext uri="{FF2B5EF4-FFF2-40B4-BE49-F238E27FC236}">
                    <a16:creationId xmlns:a16="http://schemas.microsoft.com/office/drawing/2014/main" id="{58977D86-A132-0262-17C5-D407D1896083}"/>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 name="Google Shape;1531;p32">
                <a:extLst>
                  <a:ext uri="{FF2B5EF4-FFF2-40B4-BE49-F238E27FC236}">
                    <a16:creationId xmlns:a16="http://schemas.microsoft.com/office/drawing/2014/main" id="{1310E6EA-C2AF-A120-E1C5-AA1D7EBDE377}"/>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 name="Google Shape;1532;p32">
                <a:extLst>
                  <a:ext uri="{FF2B5EF4-FFF2-40B4-BE49-F238E27FC236}">
                    <a16:creationId xmlns:a16="http://schemas.microsoft.com/office/drawing/2014/main" id="{7C3AC1B8-357F-DE8A-FD76-38FE79FFD453}"/>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 name="Google Shape;1533;p32">
                <a:extLst>
                  <a:ext uri="{FF2B5EF4-FFF2-40B4-BE49-F238E27FC236}">
                    <a16:creationId xmlns:a16="http://schemas.microsoft.com/office/drawing/2014/main" id="{04F8F203-3D38-7F36-49DF-FF0394DD7C4B}"/>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534;p32">
                <a:extLst>
                  <a:ext uri="{FF2B5EF4-FFF2-40B4-BE49-F238E27FC236}">
                    <a16:creationId xmlns:a16="http://schemas.microsoft.com/office/drawing/2014/main" id="{A9B5282E-AEB1-366F-15B7-4CDBE0476B9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5" name="Google Shape;1535;p32">
                <a:extLst>
                  <a:ext uri="{FF2B5EF4-FFF2-40B4-BE49-F238E27FC236}">
                    <a16:creationId xmlns:a16="http://schemas.microsoft.com/office/drawing/2014/main" id="{B0BD88A4-A884-58E7-267C-BF4B0D83DFE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36;p32">
                <a:extLst>
                  <a:ext uri="{FF2B5EF4-FFF2-40B4-BE49-F238E27FC236}">
                    <a16:creationId xmlns:a16="http://schemas.microsoft.com/office/drawing/2014/main" id="{BF929486-F5D7-4B06-72BE-8AD90703CAD5}"/>
                  </a:ext>
                </a:extLst>
              </p:cNvPr>
              <p:cNvCxnSpPr>
                <a:stCxn id="32" idx="5"/>
                <a:endCxn id="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37;p32">
                <a:extLst>
                  <a:ext uri="{FF2B5EF4-FFF2-40B4-BE49-F238E27FC236}">
                    <a16:creationId xmlns:a16="http://schemas.microsoft.com/office/drawing/2014/main" id="{58DABF2E-2C48-A91F-E0A9-DD664FB50589}"/>
                  </a:ext>
                </a:extLst>
              </p:cNvPr>
              <p:cNvCxnSpPr>
                <a:stCxn id="33" idx="4"/>
                <a:endCxn id="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38;p32">
                <a:extLst>
                  <a:ext uri="{FF2B5EF4-FFF2-40B4-BE49-F238E27FC236}">
                    <a16:creationId xmlns:a16="http://schemas.microsoft.com/office/drawing/2014/main" id="{398F70A0-1D5E-0B77-CACD-9146C509F912}"/>
                  </a:ext>
                </a:extLst>
              </p:cNvPr>
              <p:cNvCxnSpPr>
                <a:stCxn id="28" idx="6"/>
                <a:endCxn id="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39;p32">
                <a:extLst>
                  <a:ext uri="{FF2B5EF4-FFF2-40B4-BE49-F238E27FC236}">
                    <a16:creationId xmlns:a16="http://schemas.microsoft.com/office/drawing/2014/main" id="{2B8566F4-6DDE-5071-8304-887A1AC9EE7E}"/>
                  </a:ext>
                </a:extLst>
              </p:cNvPr>
              <p:cNvCxnSpPr>
                <a:stCxn id="28" idx="0"/>
                <a:endCxn id="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40;p32">
                <a:extLst>
                  <a:ext uri="{FF2B5EF4-FFF2-40B4-BE49-F238E27FC236}">
                    <a16:creationId xmlns:a16="http://schemas.microsoft.com/office/drawing/2014/main" id="{7BB0475E-36CE-9B51-0FC6-F85FE3DF709A}"/>
                  </a:ext>
                </a:extLst>
              </p:cNvPr>
              <p:cNvCxnSpPr>
                <a:stCxn id="32" idx="7"/>
                <a:endCxn id="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41;p32">
                <a:extLst>
                  <a:ext uri="{FF2B5EF4-FFF2-40B4-BE49-F238E27FC236}">
                    <a16:creationId xmlns:a16="http://schemas.microsoft.com/office/drawing/2014/main" id="{4686C517-8943-C0E3-F94A-BAAF755CDAE4}"/>
                  </a:ext>
                </a:extLst>
              </p:cNvPr>
              <p:cNvCxnSpPr>
                <a:stCxn id="33" idx="6"/>
                <a:endCxn id="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42;p32">
                <a:extLst>
                  <a:ext uri="{FF2B5EF4-FFF2-40B4-BE49-F238E27FC236}">
                    <a16:creationId xmlns:a16="http://schemas.microsoft.com/office/drawing/2014/main" id="{C03C618E-BC47-B546-C01F-E8ACADB94993}"/>
                  </a:ext>
                </a:extLst>
              </p:cNvPr>
              <p:cNvCxnSpPr>
                <a:stCxn id="31" idx="7"/>
                <a:endCxn id="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43;p32">
                <a:extLst>
                  <a:ext uri="{FF2B5EF4-FFF2-40B4-BE49-F238E27FC236}">
                    <a16:creationId xmlns:a16="http://schemas.microsoft.com/office/drawing/2014/main" id="{4DE351E4-AD7E-1BFF-4DBC-CA8E0A0FF656}"/>
                  </a:ext>
                </a:extLst>
              </p:cNvPr>
              <p:cNvCxnSpPr>
                <a:stCxn id="28" idx="5"/>
                <a:endCxn id="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44;p32">
                <a:extLst>
                  <a:ext uri="{FF2B5EF4-FFF2-40B4-BE49-F238E27FC236}">
                    <a16:creationId xmlns:a16="http://schemas.microsoft.com/office/drawing/2014/main" id="{69B1C82B-3310-BEBE-8507-7E2815D8CC92}"/>
                  </a:ext>
                </a:extLst>
              </p:cNvPr>
              <p:cNvCxnSpPr>
                <a:stCxn id="34" idx="7"/>
                <a:endCxn id="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45;p32">
                <a:extLst>
                  <a:ext uri="{FF2B5EF4-FFF2-40B4-BE49-F238E27FC236}">
                    <a16:creationId xmlns:a16="http://schemas.microsoft.com/office/drawing/2014/main" id="{01AFE7EC-1183-398D-B849-3C51FEBA4CAD}"/>
                  </a:ext>
                </a:extLst>
              </p:cNvPr>
              <p:cNvCxnSpPr>
                <a:stCxn id="34" idx="5"/>
                <a:endCxn id="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46;p32">
                <a:extLst>
                  <a:ext uri="{FF2B5EF4-FFF2-40B4-BE49-F238E27FC236}">
                    <a16:creationId xmlns:a16="http://schemas.microsoft.com/office/drawing/2014/main" id="{3EAFDCA1-D4E0-88DE-3E07-47F73E3880DA}"/>
                  </a:ext>
                </a:extLst>
              </p:cNvPr>
              <p:cNvCxnSpPr>
                <a:stCxn id="30" idx="0"/>
                <a:endCxn id="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47;p32">
                <a:extLst>
                  <a:ext uri="{FF2B5EF4-FFF2-40B4-BE49-F238E27FC236}">
                    <a16:creationId xmlns:a16="http://schemas.microsoft.com/office/drawing/2014/main" id="{290D48CB-D72F-FF42-2033-D5A31F651016}"/>
                  </a:ext>
                </a:extLst>
              </p:cNvPr>
              <p:cNvCxnSpPr>
                <a:stCxn id="30" idx="7"/>
                <a:endCxn id="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48;p32">
                <a:extLst>
                  <a:ext uri="{FF2B5EF4-FFF2-40B4-BE49-F238E27FC236}">
                    <a16:creationId xmlns:a16="http://schemas.microsoft.com/office/drawing/2014/main" id="{5BD77D40-190E-6835-B95C-9F300D25BACD}"/>
                  </a:ext>
                </a:extLst>
              </p:cNvPr>
              <p:cNvCxnSpPr>
                <a:stCxn id="31" idx="6"/>
                <a:endCxn id="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1549;p32">
                <a:extLst>
                  <a:ext uri="{FF2B5EF4-FFF2-40B4-BE49-F238E27FC236}">
                    <a16:creationId xmlns:a16="http://schemas.microsoft.com/office/drawing/2014/main" id="{CF96020A-E80C-1A12-AA74-C478AAD91E9F}"/>
                  </a:ext>
                </a:extLst>
              </p:cNvPr>
              <p:cNvCxnSpPr>
                <a:stCxn id="35" idx="0"/>
                <a:endCxn id="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50;p32">
                <a:extLst>
                  <a:ext uri="{FF2B5EF4-FFF2-40B4-BE49-F238E27FC236}">
                    <a16:creationId xmlns:a16="http://schemas.microsoft.com/office/drawing/2014/main" id="{30E0DCE1-4E90-31A7-81D9-FB04C2F42514}"/>
                  </a:ext>
                </a:extLst>
              </p:cNvPr>
              <p:cNvCxnSpPr>
                <a:stCxn id="32" idx="4"/>
                <a:endCxn id="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51" name="Google Shape;1551;p32">
                <a:extLst>
                  <a:ext uri="{FF2B5EF4-FFF2-40B4-BE49-F238E27FC236}">
                    <a16:creationId xmlns:a16="http://schemas.microsoft.com/office/drawing/2014/main" id="{725A89B2-8324-72B9-8D71-C97461B0F668}"/>
                  </a:ext>
                </a:extLst>
              </p:cNvPr>
              <p:cNvCxnSpPr>
                <a:stCxn id="29" idx="4"/>
                <a:endCxn id="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52;p32">
                <a:extLst>
                  <a:ext uri="{FF2B5EF4-FFF2-40B4-BE49-F238E27FC236}">
                    <a16:creationId xmlns:a16="http://schemas.microsoft.com/office/drawing/2014/main" id="{ADE8FC25-74CD-2DE8-27CC-4EC148D8E7D2}"/>
                  </a:ext>
                </a:extLst>
              </p:cNvPr>
              <p:cNvCxnSpPr>
                <a:stCxn id="28" idx="5"/>
                <a:endCxn id="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53" name="Google Shape;1553;p32">
                <a:extLst>
                  <a:ext uri="{FF2B5EF4-FFF2-40B4-BE49-F238E27FC236}">
                    <a16:creationId xmlns:a16="http://schemas.microsoft.com/office/drawing/2014/main" id="{B7358D38-5F54-E1D2-3F85-A2E8FADACD35}"/>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1554;p32">
                <a:extLst>
                  <a:ext uri="{FF2B5EF4-FFF2-40B4-BE49-F238E27FC236}">
                    <a16:creationId xmlns:a16="http://schemas.microsoft.com/office/drawing/2014/main" id="{B4253B6B-5263-72C0-9C59-3FC9D8BF5620}"/>
                  </a:ext>
                </a:extLst>
              </p:cNvPr>
              <p:cNvCxnSpPr>
                <a:stCxn id="35" idx="4"/>
                <a:endCxn id="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55;p32">
                <a:extLst>
                  <a:ext uri="{FF2B5EF4-FFF2-40B4-BE49-F238E27FC236}">
                    <a16:creationId xmlns:a16="http://schemas.microsoft.com/office/drawing/2014/main" id="{4FA028A6-6849-8EB9-0E42-92545A83C9B4}"/>
                  </a:ext>
                </a:extLst>
              </p:cNvPr>
              <p:cNvCxnSpPr>
                <a:stCxn id="53" idx="2"/>
                <a:endCxn id="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56;p32">
                <a:extLst>
                  <a:ext uri="{FF2B5EF4-FFF2-40B4-BE49-F238E27FC236}">
                    <a16:creationId xmlns:a16="http://schemas.microsoft.com/office/drawing/2014/main" id="{297FB2FE-445D-9723-AC2B-11BA6C3D7ECA}"/>
                  </a:ext>
                </a:extLst>
              </p:cNvPr>
              <p:cNvCxnSpPr>
                <a:stCxn id="53" idx="0"/>
                <a:endCxn id="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57;p32">
                <a:extLst>
                  <a:ext uri="{FF2B5EF4-FFF2-40B4-BE49-F238E27FC236}">
                    <a16:creationId xmlns:a16="http://schemas.microsoft.com/office/drawing/2014/main" id="{F0333CF7-1817-7F07-FD4A-94BC246A18C5}"/>
                  </a:ext>
                </a:extLst>
              </p:cNvPr>
              <p:cNvCxnSpPr>
                <a:stCxn id="53" idx="1"/>
                <a:endCxn id="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58" name="Google Shape;1558;p32">
                <a:extLst>
                  <a:ext uri="{FF2B5EF4-FFF2-40B4-BE49-F238E27FC236}">
                    <a16:creationId xmlns:a16="http://schemas.microsoft.com/office/drawing/2014/main" id="{D13D6831-38BE-F31D-3400-9550E780939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59;p32">
                <a:extLst>
                  <a:ext uri="{FF2B5EF4-FFF2-40B4-BE49-F238E27FC236}">
                    <a16:creationId xmlns:a16="http://schemas.microsoft.com/office/drawing/2014/main" id="{43968113-37B1-2AB3-9B52-8A06B32DB23C}"/>
                  </a:ext>
                </a:extLst>
              </p:cNvPr>
              <p:cNvCxnSpPr>
                <a:stCxn id="53" idx="2"/>
                <a:endCxn id="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60;p32">
                <a:extLst>
                  <a:ext uri="{FF2B5EF4-FFF2-40B4-BE49-F238E27FC236}">
                    <a16:creationId xmlns:a16="http://schemas.microsoft.com/office/drawing/2014/main" id="{3DD28D5B-6820-2626-20C6-886CB163DF02}"/>
                  </a:ext>
                </a:extLst>
              </p:cNvPr>
              <p:cNvCxnSpPr>
                <a:stCxn id="58" idx="1"/>
                <a:endCxn id="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pic>
        <p:nvPicPr>
          <p:cNvPr id="5" name="Image 4">
            <a:extLst>
              <a:ext uri="{FF2B5EF4-FFF2-40B4-BE49-F238E27FC236}">
                <a16:creationId xmlns:a16="http://schemas.microsoft.com/office/drawing/2014/main" id="{34826062-AC2A-BB4C-B5AC-BC8093C9C4F0}"/>
              </a:ext>
            </a:extLst>
          </p:cNvPr>
          <p:cNvPicPr>
            <a:picLocks noChangeAspect="1"/>
          </p:cNvPicPr>
          <p:nvPr/>
        </p:nvPicPr>
        <p:blipFill>
          <a:blip r:embed="rId3"/>
          <a:stretch>
            <a:fillRect/>
          </a:stretch>
        </p:blipFill>
        <p:spPr>
          <a:xfrm>
            <a:off x="555635" y="2911098"/>
            <a:ext cx="3771900" cy="1923103"/>
          </a:xfrm>
          <a:prstGeom prst="rect">
            <a:avLst/>
          </a:prstGeom>
        </p:spPr>
      </p:pic>
      <p:pic>
        <p:nvPicPr>
          <p:cNvPr id="7" name="Image 6">
            <a:extLst>
              <a:ext uri="{FF2B5EF4-FFF2-40B4-BE49-F238E27FC236}">
                <a16:creationId xmlns:a16="http://schemas.microsoft.com/office/drawing/2014/main" id="{34D57AB6-6EA2-43E0-AE9A-0B241BCC25BD}"/>
              </a:ext>
            </a:extLst>
          </p:cNvPr>
          <p:cNvPicPr>
            <a:picLocks noChangeAspect="1"/>
          </p:cNvPicPr>
          <p:nvPr/>
        </p:nvPicPr>
        <p:blipFill>
          <a:blip r:embed="rId4"/>
          <a:stretch>
            <a:fillRect/>
          </a:stretch>
        </p:blipFill>
        <p:spPr>
          <a:xfrm>
            <a:off x="5711434" y="671145"/>
            <a:ext cx="3025919" cy="2383366"/>
          </a:xfrm>
          <a:prstGeom prst="rect">
            <a:avLst/>
          </a:prstGeom>
        </p:spPr>
      </p:pic>
      <p:sp>
        <p:nvSpPr>
          <p:cNvPr id="8" name="ZoneTexte 7">
            <a:extLst>
              <a:ext uri="{FF2B5EF4-FFF2-40B4-BE49-F238E27FC236}">
                <a16:creationId xmlns:a16="http://schemas.microsoft.com/office/drawing/2014/main" id="{58E2D070-9988-FF87-60DD-0355142EF22D}"/>
              </a:ext>
            </a:extLst>
          </p:cNvPr>
          <p:cNvSpPr txBox="1"/>
          <p:nvPr/>
        </p:nvSpPr>
        <p:spPr>
          <a:xfrm>
            <a:off x="1182255" y="1791855"/>
            <a:ext cx="2641600" cy="646331"/>
          </a:xfrm>
          <a:prstGeom prst="rect">
            <a:avLst/>
          </a:prstGeom>
          <a:noFill/>
        </p:spPr>
        <p:txBody>
          <a:bodyPr wrap="square" rtlCol="0">
            <a:spAutoFit/>
          </a:bodyPr>
          <a:lstStyle/>
          <a:p>
            <a:r>
              <a:rPr lang="fr-FR" b="1" dirty="0"/>
              <a:t>Voici un graphe pondéré orienté </a:t>
            </a:r>
          </a:p>
        </p:txBody>
      </p:sp>
      <p:sp>
        <p:nvSpPr>
          <p:cNvPr id="9" name="ZoneTexte 8">
            <a:extLst>
              <a:ext uri="{FF2B5EF4-FFF2-40B4-BE49-F238E27FC236}">
                <a16:creationId xmlns:a16="http://schemas.microsoft.com/office/drawing/2014/main" id="{D9EBC89F-984B-E985-B32D-306C9CB7A045}"/>
              </a:ext>
            </a:extLst>
          </p:cNvPr>
          <p:cNvSpPr txBox="1"/>
          <p:nvPr/>
        </p:nvSpPr>
        <p:spPr>
          <a:xfrm>
            <a:off x="5634188" y="3353238"/>
            <a:ext cx="1698578" cy="646331"/>
          </a:xfrm>
          <a:prstGeom prst="rect">
            <a:avLst/>
          </a:prstGeom>
          <a:noFill/>
        </p:spPr>
        <p:txBody>
          <a:bodyPr wrap="square" rtlCol="0">
            <a:spAutoFit/>
          </a:bodyPr>
          <a:lstStyle/>
          <a:p>
            <a:r>
              <a:rPr lang="fr-FR" b="1" dirty="0"/>
              <a:t>Un graphe complet</a:t>
            </a:r>
          </a:p>
        </p:txBody>
      </p:sp>
    </p:spTree>
    <p:extLst>
      <p:ext uri="{BB962C8B-B14F-4D97-AF65-F5344CB8AC3E}">
        <p14:creationId xmlns:p14="http://schemas.microsoft.com/office/powerpoint/2010/main" val="251061876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
                                        <p:tgtEl>
                                          <p:spTgt spid="8"/>
                                        </p:tgtEl>
                                      </p:cBhvr>
                                    </p:animEffect>
                                    <p:anim calcmode="lin" valueType="num">
                                      <p:cBhvr>
                                        <p:cTn id="8" dur="10" fill="hold"/>
                                        <p:tgtEl>
                                          <p:spTgt spid="8"/>
                                        </p:tgtEl>
                                        <p:attrNameLst>
                                          <p:attrName>ppt_x</p:attrName>
                                        </p:attrNameLst>
                                      </p:cBhvr>
                                      <p:tavLst>
                                        <p:tav tm="0">
                                          <p:val>
                                            <p:strVal val="#ppt_x"/>
                                          </p:val>
                                        </p:tav>
                                        <p:tav tm="100000">
                                          <p:val>
                                            <p:strVal val="#ppt_x"/>
                                          </p:val>
                                        </p:tav>
                                      </p:tavLst>
                                    </p:anim>
                                    <p:anim calcmode="lin" valueType="num">
                                      <p:cBhvr>
                                        <p:cTn id="9" dur="1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50"/>
                                        <p:tgtEl>
                                          <p:spTgt spid="5"/>
                                        </p:tgtEl>
                                      </p:cBhvr>
                                    </p:animEffect>
                                    <p:anim calcmode="lin" valueType="num">
                                      <p:cBhvr>
                                        <p:cTn id="15" dur="250" fill="hold"/>
                                        <p:tgtEl>
                                          <p:spTgt spid="5"/>
                                        </p:tgtEl>
                                        <p:attrNameLst>
                                          <p:attrName>ppt_x</p:attrName>
                                        </p:attrNameLst>
                                      </p:cBhvr>
                                      <p:tavLst>
                                        <p:tav tm="0">
                                          <p:val>
                                            <p:strVal val="#ppt_x"/>
                                          </p:val>
                                        </p:tav>
                                        <p:tav tm="100000">
                                          <p:val>
                                            <p:strVal val="#ppt_x"/>
                                          </p:val>
                                        </p:tav>
                                      </p:tavLst>
                                    </p:anim>
                                    <p:anim calcmode="lin" valueType="num">
                                      <p:cBhvr>
                                        <p:cTn id="16" dur="2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
                                        <p:tgtEl>
                                          <p:spTgt spid="9"/>
                                        </p:tgtEl>
                                      </p:cBhvr>
                                    </p:animEffect>
                                    <p:anim calcmode="lin" valueType="num">
                                      <p:cBhvr>
                                        <p:cTn id="22" dur="10" fill="hold"/>
                                        <p:tgtEl>
                                          <p:spTgt spid="9"/>
                                        </p:tgtEl>
                                        <p:attrNameLst>
                                          <p:attrName>ppt_x</p:attrName>
                                        </p:attrNameLst>
                                      </p:cBhvr>
                                      <p:tavLst>
                                        <p:tav tm="0">
                                          <p:val>
                                            <p:strVal val="#ppt_x"/>
                                          </p:val>
                                        </p:tav>
                                        <p:tav tm="100000">
                                          <p:val>
                                            <p:strVal val="#ppt_x"/>
                                          </p:val>
                                        </p:tav>
                                      </p:tavLst>
                                    </p:anim>
                                    <p:anim calcmode="lin" valueType="num">
                                      <p:cBhvr>
                                        <p:cTn id="23" dur="1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250"/>
                                        <p:tgtEl>
                                          <p:spTgt spid="7"/>
                                        </p:tgtEl>
                                      </p:cBhvr>
                                    </p:animEffect>
                                    <p:anim calcmode="lin" valueType="num">
                                      <p:cBhvr>
                                        <p:cTn id="29" dur="250" fill="hold"/>
                                        <p:tgtEl>
                                          <p:spTgt spid="7"/>
                                        </p:tgtEl>
                                        <p:attrNameLst>
                                          <p:attrName>ppt_x</p:attrName>
                                        </p:attrNameLst>
                                      </p:cBhvr>
                                      <p:tavLst>
                                        <p:tav tm="0">
                                          <p:val>
                                            <p:strVal val="#ppt_x"/>
                                          </p:val>
                                        </p:tav>
                                        <p:tav tm="100000">
                                          <p:val>
                                            <p:strVal val="#ppt_x"/>
                                          </p:val>
                                        </p:tav>
                                      </p:tavLst>
                                    </p:anim>
                                    <p:anim calcmode="lin" valueType="num">
                                      <p:cBhvr>
                                        <p:cTn id="30"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4" name="Google Shape;1484;p29"/>
          <p:cNvSpPr txBox="1">
            <a:spLocks noGrp="1"/>
          </p:cNvSpPr>
          <p:nvPr>
            <p:ph type="title"/>
          </p:nvPr>
        </p:nvSpPr>
        <p:spPr>
          <a:xfrm>
            <a:off x="1093060" y="18985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t>Types de graphes</a:t>
            </a:r>
            <a:endParaRPr sz="4000" b="1" dirty="0"/>
          </a:p>
        </p:txBody>
      </p:sp>
      <p:grpSp>
        <p:nvGrpSpPr>
          <p:cNvPr id="25" name="Groupe 24">
            <a:extLst>
              <a:ext uri="{FF2B5EF4-FFF2-40B4-BE49-F238E27FC236}">
                <a16:creationId xmlns:a16="http://schemas.microsoft.com/office/drawing/2014/main" id="{5D8C1199-96EE-567D-9E9E-237509823027}"/>
              </a:ext>
            </a:extLst>
          </p:cNvPr>
          <p:cNvGrpSpPr/>
          <p:nvPr/>
        </p:nvGrpSpPr>
        <p:grpSpPr>
          <a:xfrm>
            <a:off x="-1451581" y="-847336"/>
            <a:ext cx="11814242" cy="7257540"/>
            <a:chOff x="-1825469" y="-1176520"/>
            <a:chExt cx="11814242" cy="7257540"/>
          </a:xfrm>
        </p:grpSpPr>
        <p:grpSp>
          <p:nvGrpSpPr>
            <p:cNvPr id="26" name="Google Shape;1527;p32">
              <a:extLst>
                <a:ext uri="{FF2B5EF4-FFF2-40B4-BE49-F238E27FC236}">
                  <a16:creationId xmlns:a16="http://schemas.microsoft.com/office/drawing/2014/main" id="{EFEA245D-23DB-EC23-91AB-C619823AA4D7}"/>
                </a:ext>
              </a:extLst>
            </p:cNvPr>
            <p:cNvGrpSpPr/>
            <p:nvPr/>
          </p:nvGrpSpPr>
          <p:grpSpPr>
            <a:xfrm>
              <a:off x="6788444" y="2953250"/>
              <a:ext cx="3200329" cy="3127770"/>
              <a:chOff x="447667" y="285337"/>
              <a:chExt cx="3863732" cy="3776132"/>
            </a:xfrm>
          </p:grpSpPr>
          <p:sp>
            <p:nvSpPr>
              <p:cNvPr id="61" name="Google Shape;1528;p32">
                <a:extLst>
                  <a:ext uri="{FF2B5EF4-FFF2-40B4-BE49-F238E27FC236}">
                    <a16:creationId xmlns:a16="http://schemas.microsoft.com/office/drawing/2014/main" id="{1C7D7895-662F-E7D9-3B67-7E228FD7B053}"/>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 name="Google Shape;1529;p32">
                <a:extLst>
                  <a:ext uri="{FF2B5EF4-FFF2-40B4-BE49-F238E27FC236}">
                    <a16:creationId xmlns:a16="http://schemas.microsoft.com/office/drawing/2014/main" id="{772FF28D-F3B8-85E8-68F1-F77F61E9DB39}"/>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1530;p32">
                <a:extLst>
                  <a:ext uri="{FF2B5EF4-FFF2-40B4-BE49-F238E27FC236}">
                    <a16:creationId xmlns:a16="http://schemas.microsoft.com/office/drawing/2014/main" id="{946644E6-D825-E37A-028D-4316F429C35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2" name="Google Shape;1531;p32">
                <a:extLst>
                  <a:ext uri="{FF2B5EF4-FFF2-40B4-BE49-F238E27FC236}">
                    <a16:creationId xmlns:a16="http://schemas.microsoft.com/office/drawing/2014/main" id="{070CA742-943F-2FD2-20E2-17998E93C0FA}"/>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3" name="Google Shape;1532;p32">
                <a:extLst>
                  <a:ext uri="{FF2B5EF4-FFF2-40B4-BE49-F238E27FC236}">
                    <a16:creationId xmlns:a16="http://schemas.microsoft.com/office/drawing/2014/main" id="{A27285DE-4709-8AF3-A881-F27CF2C74CE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4" name="Google Shape;1533;p32">
                <a:extLst>
                  <a:ext uri="{FF2B5EF4-FFF2-40B4-BE49-F238E27FC236}">
                    <a16:creationId xmlns:a16="http://schemas.microsoft.com/office/drawing/2014/main" id="{21BE28D9-F4BE-9AE6-3852-07961B5FA5E0}"/>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5" name="Google Shape;1534;p32">
                <a:extLst>
                  <a:ext uri="{FF2B5EF4-FFF2-40B4-BE49-F238E27FC236}">
                    <a16:creationId xmlns:a16="http://schemas.microsoft.com/office/drawing/2014/main" id="{E4F5542E-1269-162F-60B6-0024D037E6C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6" name="Google Shape;1535;p32">
                <a:extLst>
                  <a:ext uri="{FF2B5EF4-FFF2-40B4-BE49-F238E27FC236}">
                    <a16:creationId xmlns:a16="http://schemas.microsoft.com/office/drawing/2014/main" id="{B2A6CB49-C4EA-3BF3-CA32-C7493C416D9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7" name="Google Shape;1536;p32">
                <a:extLst>
                  <a:ext uri="{FF2B5EF4-FFF2-40B4-BE49-F238E27FC236}">
                    <a16:creationId xmlns:a16="http://schemas.microsoft.com/office/drawing/2014/main" id="{B410C1BA-75CE-C19F-1F69-737C861C2977}"/>
                  </a:ext>
                </a:extLst>
              </p:cNvPr>
              <p:cNvCxnSpPr>
                <a:stCxn id="1473" idx="5"/>
                <a:endCxn id="147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37;p32">
                <a:extLst>
                  <a:ext uri="{FF2B5EF4-FFF2-40B4-BE49-F238E27FC236}">
                    <a16:creationId xmlns:a16="http://schemas.microsoft.com/office/drawing/2014/main" id="{E5D36E29-EA44-3B18-3967-175295CE18FA}"/>
                  </a:ext>
                </a:extLst>
              </p:cNvPr>
              <p:cNvCxnSpPr>
                <a:stCxn id="1474" idx="4"/>
                <a:endCxn id="147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38;p32">
                <a:extLst>
                  <a:ext uri="{FF2B5EF4-FFF2-40B4-BE49-F238E27FC236}">
                    <a16:creationId xmlns:a16="http://schemas.microsoft.com/office/drawing/2014/main" id="{702C3423-A78C-7310-13B3-6F6C9643E191}"/>
                  </a:ext>
                </a:extLst>
              </p:cNvPr>
              <p:cNvCxnSpPr>
                <a:stCxn id="61" idx="6"/>
                <a:endCxn id="147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539;p32">
                <a:extLst>
                  <a:ext uri="{FF2B5EF4-FFF2-40B4-BE49-F238E27FC236}">
                    <a16:creationId xmlns:a16="http://schemas.microsoft.com/office/drawing/2014/main" id="{BAB94F95-9FF9-9642-D911-B4D06F63E567}"/>
                  </a:ext>
                </a:extLst>
              </p:cNvPr>
              <p:cNvCxnSpPr>
                <a:stCxn id="61" idx="0"/>
                <a:endCxn id="147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540;p32">
                <a:extLst>
                  <a:ext uri="{FF2B5EF4-FFF2-40B4-BE49-F238E27FC236}">
                    <a16:creationId xmlns:a16="http://schemas.microsoft.com/office/drawing/2014/main" id="{C9A45073-7389-7637-C349-180D3B0C0A7C}"/>
                  </a:ext>
                </a:extLst>
              </p:cNvPr>
              <p:cNvCxnSpPr>
                <a:stCxn id="1473" idx="7"/>
                <a:endCxn id="147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95" name="Google Shape;1541;p32">
                <a:extLst>
                  <a:ext uri="{FF2B5EF4-FFF2-40B4-BE49-F238E27FC236}">
                    <a16:creationId xmlns:a16="http://schemas.microsoft.com/office/drawing/2014/main" id="{23C92256-6502-B825-FA2A-0F0F6B77AB5C}"/>
                  </a:ext>
                </a:extLst>
              </p:cNvPr>
              <p:cNvCxnSpPr>
                <a:stCxn id="1474" idx="6"/>
                <a:endCxn id="6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96" name="Google Shape;1542;p32">
                <a:extLst>
                  <a:ext uri="{FF2B5EF4-FFF2-40B4-BE49-F238E27FC236}">
                    <a16:creationId xmlns:a16="http://schemas.microsoft.com/office/drawing/2014/main" id="{3AA5E77F-726D-54B8-4B2E-03BC579324F6}"/>
                  </a:ext>
                </a:extLst>
              </p:cNvPr>
              <p:cNvCxnSpPr>
                <a:stCxn id="1472" idx="7"/>
                <a:endCxn id="6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97" name="Google Shape;1543;p32">
                <a:extLst>
                  <a:ext uri="{FF2B5EF4-FFF2-40B4-BE49-F238E27FC236}">
                    <a16:creationId xmlns:a16="http://schemas.microsoft.com/office/drawing/2014/main" id="{ACB2CAA4-5D5C-9390-CF4D-ECC06FE3E2D1}"/>
                  </a:ext>
                </a:extLst>
              </p:cNvPr>
              <p:cNvCxnSpPr>
                <a:stCxn id="61" idx="5"/>
                <a:endCxn id="147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98" name="Google Shape;1544;p32">
                <a:extLst>
                  <a:ext uri="{FF2B5EF4-FFF2-40B4-BE49-F238E27FC236}">
                    <a16:creationId xmlns:a16="http://schemas.microsoft.com/office/drawing/2014/main" id="{CB6B73BC-87A1-8E04-6A78-DF62484CC90E}"/>
                  </a:ext>
                </a:extLst>
              </p:cNvPr>
              <p:cNvCxnSpPr>
                <a:stCxn id="1475" idx="7"/>
                <a:endCxn id="147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99" name="Google Shape;1545;p32">
                <a:extLst>
                  <a:ext uri="{FF2B5EF4-FFF2-40B4-BE49-F238E27FC236}">
                    <a16:creationId xmlns:a16="http://schemas.microsoft.com/office/drawing/2014/main" id="{69466E22-9B35-3DF7-F3E9-D0140095B2FE}"/>
                  </a:ext>
                </a:extLst>
              </p:cNvPr>
              <p:cNvCxnSpPr>
                <a:stCxn id="1475" idx="5"/>
                <a:endCxn id="6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00" name="Google Shape;1546;p32">
                <a:extLst>
                  <a:ext uri="{FF2B5EF4-FFF2-40B4-BE49-F238E27FC236}">
                    <a16:creationId xmlns:a16="http://schemas.microsoft.com/office/drawing/2014/main" id="{D307DB20-18A0-78ED-09A0-F8EC4F905948}"/>
                  </a:ext>
                </a:extLst>
              </p:cNvPr>
              <p:cNvCxnSpPr>
                <a:stCxn id="63" idx="0"/>
                <a:endCxn id="147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01" name="Google Shape;1547;p32">
                <a:extLst>
                  <a:ext uri="{FF2B5EF4-FFF2-40B4-BE49-F238E27FC236}">
                    <a16:creationId xmlns:a16="http://schemas.microsoft.com/office/drawing/2014/main" id="{8D33C429-F936-7C25-BB27-D1F5A85C5C76}"/>
                  </a:ext>
                </a:extLst>
              </p:cNvPr>
              <p:cNvCxnSpPr>
                <a:stCxn id="63" idx="7"/>
                <a:endCxn id="147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48;p32">
                <a:extLst>
                  <a:ext uri="{FF2B5EF4-FFF2-40B4-BE49-F238E27FC236}">
                    <a16:creationId xmlns:a16="http://schemas.microsoft.com/office/drawing/2014/main" id="{CACFA461-B4B6-C205-0869-FF45EA6E3E50}"/>
                  </a:ext>
                </a:extLst>
              </p:cNvPr>
              <p:cNvCxnSpPr>
                <a:stCxn id="1472" idx="6"/>
                <a:endCxn id="147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49;p32">
                <a:extLst>
                  <a:ext uri="{FF2B5EF4-FFF2-40B4-BE49-F238E27FC236}">
                    <a16:creationId xmlns:a16="http://schemas.microsoft.com/office/drawing/2014/main" id="{7FE906F7-6DE4-6BC7-6E9D-8E0FA1C0E532}"/>
                  </a:ext>
                </a:extLst>
              </p:cNvPr>
              <p:cNvCxnSpPr>
                <a:stCxn id="1476" idx="0"/>
                <a:endCxn id="6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50;p32">
                <a:extLst>
                  <a:ext uri="{FF2B5EF4-FFF2-40B4-BE49-F238E27FC236}">
                    <a16:creationId xmlns:a16="http://schemas.microsoft.com/office/drawing/2014/main" id="{18BFC75E-3E03-97B3-C20F-D386FFA8F64F}"/>
                  </a:ext>
                </a:extLst>
              </p:cNvPr>
              <p:cNvCxnSpPr>
                <a:stCxn id="1473" idx="4"/>
                <a:endCxn id="6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51;p32">
                <a:extLst>
                  <a:ext uri="{FF2B5EF4-FFF2-40B4-BE49-F238E27FC236}">
                    <a16:creationId xmlns:a16="http://schemas.microsoft.com/office/drawing/2014/main" id="{045E426B-5D1D-D0D6-4338-735CD2782182}"/>
                  </a:ext>
                </a:extLst>
              </p:cNvPr>
              <p:cNvCxnSpPr>
                <a:stCxn id="62" idx="4"/>
                <a:endCxn id="6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06" name="Google Shape;1552;p32">
                <a:extLst>
                  <a:ext uri="{FF2B5EF4-FFF2-40B4-BE49-F238E27FC236}">
                    <a16:creationId xmlns:a16="http://schemas.microsoft.com/office/drawing/2014/main" id="{22862B2A-3E68-0E9E-4909-00A6A8EC5BF6}"/>
                  </a:ext>
                </a:extLst>
              </p:cNvPr>
              <p:cNvCxnSpPr>
                <a:stCxn id="61" idx="5"/>
                <a:endCxn id="6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07" name="Google Shape;1553;p32">
                <a:extLst>
                  <a:ext uri="{FF2B5EF4-FFF2-40B4-BE49-F238E27FC236}">
                    <a16:creationId xmlns:a16="http://schemas.microsoft.com/office/drawing/2014/main" id="{5451AE00-2570-0973-11B8-722C1A5D1AA7}"/>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08" name="Google Shape;1554;p32">
                <a:extLst>
                  <a:ext uri="{FF2B5EF4-FFF2-40B4-BE49-F238E27FC236}">
                    <a16:creationId xmlns:a16="http://schemas.microsoft.com/office/drawing/2014/main" id="{EBDCBCA0-6693-2D81-7A8E-BBEAD7DBA34C}"/>
                  </a:ext>
                </a:extLst>
              </p:cNvPr>
              <p:cNvCxnSpPr>
                <a:stCxn id="1476" idx="4"/>
                <a:endCxn id="1507"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55;p32">
                <a:extLst>
                  <a:ext uri="{FF2B5EF4-FFF2-40B4-BE49-F238E27FC236}">
                    <a16:creationId xmlns:a16="http://schemas.microsoft.com/office/drawing/2014/main" id="{3036F1D9-F9A8-C1D4-1280-FDDCA04FE59C}"/>
                  </a:ext>
                </a:extLst>
              </p:cNvPr>
              <p:cNvCxnSpPr>
                <a:stCxn id="1507" idx="2"/>
                <a:endCxn id="6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56;p32">
                <a:extLst>
                  <a:ext uri="{FF2B5EF4-FFF2-40B4-BE49-F238E27FC236}">
                    <a16:creationId xmlns:a16="http://schemas.microsoft.com/office/drawing/2014/main" id="{BA23BB04-4382-82BA-F82B-061A9E3E93F7}"/>
                  </a:ext>
                </a:extLst>
              </p:cNvPr>
              <p:cNvCxnSpPr>
                <a:stCxn id="1507" idx="0"/>
                <a:endCxn id="6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57;p32">
                <a:extLst>
                  <a:ext uri="{FF2B5EF4-FFF2-40B4-BE49-F238E27FC236}">
                    <a16:creationId xmlns:a16="http://schemas.microsoft.com/office/drawing/2014/main" id="{01489E5C-111C-3432-70FD-67874C3175CA}"/>
                  </a:ext>
                </a:extLst>
              </p:cNvPr>
              <p:cNvCxnSpPr>
                <a:stCxn id="1507" idx="1"/>
                <a:endCxn id="147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12" name="Google Shape;1558;p32">
                <a:extLst>
                  <a:ext uri="{FF2B5EF4-FFF2-40B4-BE49-F238E27FC236}">
                    <a16:creationId xmlns:a16="http://schemas.microsoft.com/office/drawing/2014/main" id="{E4E53872-D6CB-5308-71F0-65B8EADF136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13" name="Google Shape;1559;p32">
                <a:extLst>
                  <a:ext uri="{FF2B5EF4-FFF2-40B4-BE49-F238E27FC236}">
                    <a16:creationId xmlns:a16="http://schemas.microsoft.com/office/drawing/2014/main" id="{673FBF72-F90B-C2B6-8E97-D34E61E13B0E}"/>
                  </a:ext>
                </a:extLst>
              </p:cNvPr>
              <p:cNvCxnSpPr>
                <a:stCxn id="1507" idx="2"/>
                <a:endCxn id="1512"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60;p32">
                <a:extLst>
                  <a:ext uri="{FF2B5EF4-FFF2-40B4-BE49-F238E27FC236}">
                    <a16:creationId xmlns:a16="http://schemas.microsoft.com/office/drawing/2014/main" id="{E5574396-38E6-2FD2-D838-A2CDBB5F24A9}"/>
                  </a:ext>
                </a:extLst>
              </p:cNvPr>
              <p:cNvCxnSpPr>
                <a:stCxn id="1512" idx="1"/>
                <a:endCxn id="147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27" name="Google Shape;1527;p32">
              <a:extLst>
                <a:ext uri="{FF2B5EF4-FFF2-40B4-BE49-F238E27FC236}">
                  <a16:creationId xmlns:a16="http://schemas.microsoft.com/office/drawing/2014/main" id="{7EFB3B1A-3627-3FFF-4E06-6A7F3D93E1B4}"/>
                </a:ext>
              </a:extLst>
            </p:cNvPr>
            <p:cNvGrpSpPr/>
            <p:nvPr/>
          </p:nvGrpSpPr>
          <p:grpSpPr>
            <a:xfrm rot="8810917">
              <a:off x="-1825469" y="-1176520"/>
              <a:ext cx="3200329" cy="3127770"/>
              <a:chOff x="447667" y="285337"/>
              <a:chExt cx="3863732" cy="3776132"/>
            </a:xfrm>
          </p:grpSpPr>
          <p:sp>
            <p:nvSpPr>
              <p:cNvPr id="28" name="Google Shape;1528;p32">
                <a:extLst>
                  <a:ext uri="{FF2B5EF4-FFF2-40B4-BE49-F238E27FC236}">
                    <a16:creationId xmlns:a16="http://schemas.microsoft.com/office/drawing/2014/main" id="{25F55875-4554-B4CB-8FB6-E3F4E05F8C38}"/>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 name="Google Shape;1529;p32">
                <a:extLst>
                  <a:ext uri="{FF2B5EF4-FFF2-40B4-BE49-F238E27FC236}">
                    <a16:creationId xmlns:a16="http://schemas.microsoft.com/office/drawing/2014/main" id="{8F0FB9FC-F379-46B0-AFF2-DFEB36E84ED5}"/>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 name="Google Shape;1530;p32">
                <a:extLst>
                  <a:ext uri="{FF2B5EF4-FFF2-40B4-BE49-F238E27FC236}">
                    <a16:creationId xmlns:a16="http://schemas.microsoft.com/office/drawing/2014/main" id="{58977D86-A132-0262-17C5-D407D1896083}"/>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 name="Google Shape;1531;p32">
                <a:extLst>
                  <a:ext uri="{FF2B5EF4-FFF2-40B4-BE49-F238E27FC236}">
                    <a16:creationId xmlns:a16="http://schemas.microsoft.com/office/drawing/2014/main" id="{1310E6EA-C2AF-A120-E1C5-AA1D7EBDE377}"/>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 name="Google Shape;1532;p32">
                <a:extLst>
                  <a:ext uri="{FF2B5EF4-FFF2-40B4-BE49-F238E27FC236}">
                    <a16:creationId xmlns:a16="http://schemas.microsoft.com/office/drawing/2014/main" id="{7C3AC1B8-357F-DE8A-FD76-38FE79FFD453}"/>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 name="Google Shape;1533;p32">
                <a:extLst>
                  <a:ext uri="{FF2B5EF4-FFF2-40B4-BE49-F238E27FC236}">
                    <a16:creationId xmlns:a16="http://schemas.microsoft.com/office/drawing/2014/main" id="{04F8F203-3D38-7F36-49DF-FF0394DD7C4B}"/>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534;p32">
                <a:extLst>
                  <a:ext uri="{FF2B5EF4-FFF2-40B4-BE49-F238E27FC236}">
                    <a16:creationId xmlns:a16="http://schemas.microsoft.com/office/drawing/2014/main" id="{A9B5282E-AEB1-366F-15B7-4CDBE0476B9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5" name="Google Shape;1535;p32">
                <a:extLst>
                  <a:ext uri="{FF2B5EF4-FFF2-40B4-BE49-F238E27FC236}">
                    <a16:creationId xmlns:a16="http://schemas.microsoft.com/office/drawing/2014/main" id="{B0BD88A4-A884-58E7-267C-BF4B0D83DFE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36;p32">
                <a:extLst>
                  <a:ext uri="{FF2B5EF4-FFF2-40B4-BE49-F238E27FC236}">
                    <a16:creationId xmlns:a16="http://schemas.microsoft.com/office/drawing/2014/main" id="{BF929486-F5D7-4B06-72BE-8AD90703CAD5}"/>
                  </a:ext>
                </a:extLst>
              </p:cNvPr>
              <p:cNvCxnSpPr>
                <a:stCxn id="32" idx="5"/>
                <a:endCxn id="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37;p32">
                <a:extLst>
                  <a:ext uri="{FF2B5EF4-FFF2-40B4-BE49-F238E27FC236}">
                    <a16:creationId xmlns:a16="http://schemas.microsoft.com/office/drawing/2014/main" id="{58DABF2E-2C48-A91F-E0A9-DD664FB50589}"/>
                  </a:ext>
                </a:extLst>
              </p:cNvPr>
              <p:cNvCxnSpPr>
                <a:stCxn id="33" idx="4"/>
                <a:endCxn id="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38;p32">
                <a:extLst>
                  <a:ext uri="{FF2B5EF4-FFF2-40B4-BE49-F238E27FC236}">
                    <a16:creationId xmlns:a16="http://schemas.microsoft.com/office/drawing/2014/main" id="{398F70A0-1D5E-0B77-CACD-9146C509F912}"/>
                  </a:ext>
                </a:extLst>
              </p:cNvPr>
              <p:cNvCxnSpPr>
                <a:stCxn id="28" idx="6"/>
                <a:endCxn id="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39;p32">
                <a:extLst>
                  <a:ext uri="{FF2B5EF4-FFF2-40B4-BE49-F238E27FC236}">
                    <a16:creationId xmlns:a16="http://schemas.microsoft.com/office/drawing/2014/main" id="{2B8566F4-6DDE-5071-8304-887A1AC9EE7E}"/>
                  </a:ext>
                </a:extLst>
              </p:cNvPr>
              <p:cNvCxnSpPr>
                <a:stCxn id="28" idx="0"/>
                <a:endCxn id="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40;p32">
                <a:extLst>
                  <a:ext uri="{FF2B5EF4-FFF2-40B4-BE49-F238E27FC236}">
                    <a16:creationId xmlns:a16="http://schemas.microsoft.com/office/drawing/2014/main" id="{7BB0475E-36CE-9B51-0FC6-F85FE3DF709A}"/>
                  </a:ext>
                </a:extLst>
              </p:cNvPr>
              <p:cNvCxnSpPr>
                <a:stCxn id="32" idx="7"/>
                <a:endCxn id="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41;p32">
                <a:extLst>
                  <a:ext uri="{FF2B5EF4-FFF2-40B4-BE49-F238E27FC236}">
                    <a16:creationId xmlns:a16="http://schemas.microsoft.com/office/drawing/2014/main" id="{4686C517-8943-C0E3-F94A-BAAF755CDAE4}"/>
                  </a:ext>
                </a:extLst>
              </p:cNvPr>
              <p:cNvCxnSpPr>
                <a:stCxn id="33" idx="6"/>
                <a:endCxn id="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42;p32">
                <a:extLst>
                  <a:ext uri="{FF2B5EF4-FFF2-40B4-BE49-F238E27FC236}">
                    <a16:creationId xmlns:a16="http://schemas.microsoft.com/office/drawing/2014/main" id="{C03C618E-BC47-B546-C01F-E8ACADB94993}"/>
                  </a:ext>
                </a:extLst>
              </p:cNvPr>
              <p:cNvCxnSpPr>
                <a:stCxn id="31" idx="7"/>
                <a:endCxn id="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43;p32">
                <a:extLst>
                  <a:ext uri="{FF2B5EF4-FFF2-40B4-BE49-F238E27FC236}">
                    <a16:creationId xmlns:a16="http://schemas.microsoft.com/office/drawing/2014/main" id="{4DE351E4-AD7E-1BFF-4DBC-CA8E0A0FF656}"/>
                  </a:ext>
                </a:extLst>
              </p:cNvPr>
              <p:cNvCxnSpPr>
                <a:stCxn id="28" idx="5"/>
                <a:endCxn id="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44;p32">
                <a:extLst>
                  <a:ext uri="{FF2B5EF4-FFF2-40B4-BE49-F238E27FC236}">
                    <a16:creationId xmlns:a16="http://schemas.microsoft.com/office/drawing/2014/main" id="{69B1C82B-3310-BEBE-8507-7E2815D8CC92}"/>
                  </a:ext>
                </a:extLst>
              </p:cNvPr>
              <p:cNvCxnSpPr>
                <a:stCxn id="34" idx="7"/>
                <a:endCxn id="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45;p32">
                <a:extLst>
                  <a:ext uri="{FF2B5EF4-FFF2-40B4-BE49-F238E27FC236}">
                    <a16:creationId xmlns:a16="http://schemas.microsoft.com/office/drawing/2014/main" id="{01AFE7EC-1183-398D-B849-3C51FEBA4CAD}"/>
                  </a:ext>
                </a:extLst>
              </p:cNvPr>
              <p:cNvCxnSpPr>
                <a:stCxn id="34" idx="5"/>
                <a:endCxn id="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46;p32">
                <a:extLst>
                  <a:ext uri="{FF2B5EF4-FFF2-40B4-BE49-F238E27FC236}">
                    <a16:creationId xmlns:a16="http://schemas.microsoft.com/office/drawing/2014/main" id="{3EAFDCA1-D4E0-88DE-3E07-47F73E3880DA}"/>
                  </a:ext>
                </a:extLst>
              </p:cNvPr>
              <p:cNvCxnSpPr>
                <a:stCxn id="30" idx="0"/>
                <a:endCxn id="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47;p32">
                <a:extLst>
                  <a:ext uri="{FF2B5EF4-FFF2-40B4-BE49-F238E27FC236}">
                    <a16:creationId xmlns:a16="http://schemas.microsoft.com/office/drawing/2014/main" id="{290D48CB-D72F-FF42-2033-D5A31F651016}"/>
                  </a:ext>
                </a:extLst>
              </p:cNvPr>
              <p:cNvCxnSpPr>
                <a:stCxn id="30" idx="7"/>
                <a:endCxn id="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48;p32">
                <a:extLst>
                  <a:ext uri="{FF2B5EF4-FFF2-40B4-BE49-F238E27FC236}">
                    <a16:creationId xmlns:a16="http://schemas.microsoft.com/office/drawing/2014/main" id="{5BD77D40-190E-6835-B95C-9F300D25BACD}"/>
                  </a:ext>
                </a:extLst>
              </p:cNvPr>
              <p:cNvCxnSpPr>
                <a:stCxn id="31" idx="6"/>
                <a:endCxn id="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1549;p32">
                <a:extLst>
                  <a:ext uri="{FF2B5EF4-FFF2-40B4-BE49-F238E27FC236}">
                    <a16:creationId xmlns:a16="http://schemas.microsoft.com/office/drawing/2014/main" id="{CF96020A-E80C-1A12-AA74-C478AAD91E9F}"/>
                  </a:ext>
                </a:extLst>
              </p:cNvPr>
              <p:cNvCxnSpPr>
                <a:stCxn id="35" idx="0"/>
                <a:endCxn id="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50;p32">
                <a:extLst>
                  <a:ext uri="{FF2B5EF4-FFF2-40B4-BE49-F238E27FC236}">
                    <a16:creationId xmlns:a16="http://schemas.microsoft.com/office/drawing/2014/main" id="{30E0DCE1-4E90-31A7-81D9-FB04C2F42514}"/>
                  </a:ext>
                </a:extLst>
              </p:cNvPr>
              <p:cNvCxnSpPr>
                <a:stCxn id="32" idx="4"/>
                <a:endCxn id="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51" name="Google Shape;1551;p32">
                <a:extLst>
                  <a:ext uri="{FF2B5EF4-FFF2-40B4-BE49-F238E27FC236}">
                    <a16:creationId xmlns:a16="http://schemas.microsoft.com/office/drawing/2014/main" id="{725A89B2-8324-72B9-8D71-C97461B0F668}"/>
                  </a:ext>
                </a:extLst>
              </p:cNvPr>
              <p:cNvCxnSpPr>
                <a:stCxn id="29" idx="4"/>
                <a:endCxn id="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52;p32">
                <a:extLst>
                  <a:ext uri="{FF2B5EF4-FFF2-40B4-BE49-F238E27FC236}">
                    <a16:creationId xmlns:a16="http://schemas.microsoft.com/office/drawing/2014/main" id="{ADE8FC25-74CD-2DE8-27CC-4EC148D8E7D2}"/>
                  </a:ext>
                </a:extLst>
              </p:cNvPr>
              <p:cNvCxnSpPr>
                <a:stCxn id="28" idx="5"/>
                <a:endCxn id="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53" name="Google Shape;1553;p32">
                <a:extLst>
                  <a:ext uri="{FF2B5EF4-FFF2-40B4-BE49-F238E27FC236}">
                    <a16:creationId xmlns:a16="http://schemas.microsoft.com/office/drawing/2014/main" id="{B7358D38-5F54-E1D2-3F85-A2E8FADACD35}"/>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1554;p32">
                <a:extLst>
                  <a:ext uri="{FF2B5EF4-FFF2-40B4-BE49-F238E27FC236}">
                    <a16:creationId xmlns:a16="http://schemas.microsoft.com/office/drawing/2014/main" id="{B4253B6B-5263-72C0-9C59-3FC9D8BF5620}"/>
                  </a:ext>
                </a:extLst>
              </p:cNvPr>
              <p:cNvCxnSpPr>
                <a:stCxn id="35" idx="4"/>
                <a:endCxn id="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55;p32">
                <a:extLst>
                  <a:ext uri="{FF2B5EF4-FFF2-40B4-BE49-F238E27FC236}">
                    <a16:creationId xmlns:a16="http://schemas.microsoft.com/office/drawing/2014/main" id="{4FA028A6-6849-8EB9-0E42-92545A83C9B4}"/>
                  </a:ext>
                </a:extLst>
              </p:cNvPr>
              <p:cNvCxnSpPr>
                <a:stCxn id="53" idx="2"/>
                <a:endCxn id="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56;p32">
                <a:extLst>
                  <a:ext uri="{FF2B5EF4-FFF2-40B4-BE49-F238E27FC236}">
                    <a16:creationId xmlns:a16="http://schemas.microsoft.com/office/drawing/2014/main" id="{297FB2FE-445D-9723-AC2B-11BA6C3D7ECA}"/>
                  </a:ext>
                </a:extLst>
              </p:cNvPr>
              <p:cNvCxnSpPr>
                <a:stCxn id="53" idx="0"/>
                <a:endCxn id="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57;p32">
                <a:extLst>
                  <a:ext uri="{FF2B5EF4-FFF2-40B4-BE49-F238E27FC236}">
                    <a16:creationId xmlns:a16="http://schemas.microsoft.com/office/drawing/2014/main" id="{F0333CF7-1817-7F07-FD4A-94BC246A18C5}"/>
                  </a:ext>
                </a:extLst>
              </p:cNvPr>
              <p:cNvCxnSpPr>
                <a:stCxn id="53" idx="1"/>
                <a:endCxn id="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58" name="Google Shape;1558;p32">
                <a:extLst>
                  <a:ext uri="{FF2B5EF4-FFF2-40B4-BE49-F238E27FC236}">
                    <a16:creationId xmlns:a16="http://schemas.microsoft.com/office/drawing/2014/main" id="{D13D6831-38BE-F31D-3400-9550E780939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59;p32">
                <a:extLst>
                  <a:ext uri="{FF2B5EF4-FFF2-40B4-BE49-F238E27FC236}">
                    <a16:creationId xmlns:a16="http://schemas.microsoft.com/office/drawing/2014/main" id="{43968113-37B1-2AB3-9B52-8A06B32DB23C}"/>
                  </a:ext>
                </a:extLst>
              </p:cNvPr>
              <p:cNvCxnSpPr>
                <a:stCxn id="53" idx="2"/>
                <a:endCxn id="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60;p32">
                <a:extLst>
                  <a:ext uri="{FF2B5EF4-FFF2-40B4-BE49-F238E27FC236}">
                    <a16:creationId xmlns:a16="http://schemas.microsoft.com/office/drawing/2014/main" id="{3DD28D5B-6820-2626-20C6-886CB163DF02}"/>
                  </a:ext>
                </a:extLst>
              </p:cNvPr>
              <p:cNvCxnSpPr>
                <a:stCxn id="58" idx="1"/>
                <a:endCxn id="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pic>
        <p:nvPicPr>
          <p:cNvPr id="3" name="Image 2">
            <a:extLst>
              <a:ext uri="{FF2B5EF4-FFF2-40B4-BE49-F238E27FC236}">
                <a16:creationId xmlns:a16="http://schemas.microsoft.com/office/drawing/2014/main" id="{6D17505A-0D1D-AFD8-5103-B8CA9E1A8B4D}"/>
              </a:ext>
            </a:extLst>
          </p:cNvPr>
          <p:cNvPicPr>
            <a:picLocks noChangeAspect="1"/>
          </p:cNvPicPr>
          <p:nvPr/>
        </p:nvPicPr>
        <p:blipFill>
          <a:blip r:embed="rId3"/>
          <a:stretch>
            <a:fillRect/>
          </a:stretch>
        </p:blipFill>
        <p:spPr>
          <a:xfrm>
            <a:off x="5341059" y="581085"/>
            <a:ext cx="2505425" cy="2381582"/>
          </a:xfrm>
          <a:prstGeom prst="rect">
            <a:avLst/>
          </a:prstGeom>
        </p:spPr>
      </p:pic>
      <p:pic>
        <p:nvPicPr>
          <p:cNvPr id="5" name="Image 4">
            <a:extLst>
              <a:ext uri="{FF2B5EF4-FFF2-40B4-BE49-F238E27FC236}">
                <a16:creationId xmlns:a16="http://schemas.microsoft.com/office/drawing/2014/main" id="{28FAA949-FA9E-21D9-C659-CA4305503BB2}"/>
              </a:ext>
            </a:extLst>
          </p:cNvPr>
          <p:cNvPicPr>
            <a:picLocks noChangeAspect="1"/>
          </p:cNvPicPr>
          <p:nvPr/>
        </p:nvPicPr>
        <p:blipFill>
          <a:blip r:embed="rId4"/>
          <a:stretch>
            <a:fillRect/>
          </a:stretch>
        </p:blipFill>
        <p:spPr>
          <a:xfrm>
            <a:off x="1017399" y="2341433"/>
            <a:ext cx="2676899" cy="2448267"/>
          </a:xfrm>
          <a:prstGeom prst="rect">
            <a:avLst/>
          </a:prstGeom>
        </p:spPr>
      </p:pic>
      <p:sp>
        <p:nvSpPr>
          <p:cNvPr id="6" name="ZoneTexte 5">
            <a:extLst>
              <a:ext uri="{FF2B5EF4-FFF2-40B4-BE49-F238E27FC236}">
                <a16:creationId xmlns:a16="http://schemas.microsoft.com/office/drawing/2014/main" id="{B93A00A7-A08B-2B86-AAD1-6B270A64BFCD}"/>
              </a:ext>
            </a:extLst>
          </p:cNvPr>
          <p:cNvSpPr txBox="1"/>
          <p:nvPr/>
        </p:nvSpPr>
        <p:spPr>
          <a:xfrm>
            <a:off x="1051116" y="1698982"/>
            <a:ext cx="2505425" cy="369332"/>
          </a:xfrm>
          <a:prstGeom prst="rect">
            <a:avLst/>
          </a:prstGeom>
          <a:noFill/>
        </p:spPr>
        <p:txBody>
          <a:bodyPr wrap="square" rtlCol="0">
            <a:spAutoFit/>
          </a:bodyPr>
          <a:lstStyle/>
          <a:p>
            <a:r>
              <a:rPr lang="fr-FR" b="1" dirty="0"/>
              <a:t>Graphe non connexe</a:t>
            </a:r>
          </a:p>
        </p:txBody>
      </p:sp>
      <p:sp>
        <p:nvSpPr>
          <p:cNvPr id="8" name="ZoneTexte 7">
            <a:extLst>
              <a:ext uri="{FF2B5EF4-FFF2-40B4-BE49-F238E27FC236}">
                <a16:creationId xmlns:a16="http://schemas.microsoft.com/office/drawing/2014/main" id="{FD7CE369-3EF4-C7CC-77EC-9D83F38207FB}"/>
              </a:ext>
            </a:extLst>
          </p:cNvPr>
          <p:cNvSpPr txBox="1"/>
          <p:nvPr/>
        </p:nvSpPr>
        <p:spPr>
          <a:xfrm>
            <a:off x="5504290" y="3362162"/>
            <a:ext cx="1701508" cy="646331"/>
          </a:xfrm>
          <a:prstGeom prst="rect">
            <a:avLst/>
          </a:prstGeom>
          <a:noFill/>
        </p:spPr>
        <p:txBody>
          <a:bodyPr wrap="square" rtlCol="0">
            <a:spAutoFit/>
          </a:bodyPr>
          <a:lstStyle/>
          <a:p>
            <a:r>
              <a:rPr lang="fr-FR" b="1" dirty="0"/>
              <a:t>Graphe bipartie</a:t>
            </a:r>
          </a:p>
        </p:txBody>
      </p:sp>
    </p:spTree>
    <p:extLst>
      <p:ext uri="{BB962C8B-B14F-4D97-AF65-F5344CB8AC3E}">
        <p14:creationId xmlns:p14="http://schemas.microsoft.com/office/powerpoint/2010/main" val="1859400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
                                        <p:tgtEl>
                                          <p:spTgt spid="6"/>
                                        </p:tgtEl>
                                      </p:cBhvr>
                                    </p:animEffect>
                                    <p:anim calcmode="lin" valueType="num">
                                      <p:cBhvr>
                                        <p:cTn id="8" dur="10" fill="hold"/>
                                        <p:tgtEl>
                                          <p:spTgt spid="6"/>
                                        </p:tgtEl>
                                        <p:attrNameLst>
                                          <p:attrName>ppt_x</p:attrName>
                                        </p:attrNameLst>
                                      </p:cBhvr>
                                      <p:tavLst>
                                        <p:tav tm="0">
                                          <p:val>
                                            <p:strVal val="#ppt_x"/>
                                          </p:val>
                                        </p:tav>
                                        <p:tav tm="100000">
                                          <p:val>
                                            <p:strVal val="#ppt_x"/>
                                          </p:val>
                                        </p:tav>
                                      </p:tavLst>
                                    </p:anim>
                                    <p:anim calcmode="lin" valueType="num">
                                      <p:cBhvr>
                                        <p:cTn id="9" dur="1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50"/>
                                        <p:tgtEl>
                                          <p:spTgt spid="5"/>
                                        </p:tgtEl>
                                      </p:cBhvr>
                                    </p:animEffect>
                                    <p:anim calcmode="lin" valueType="num">
                                      <p:cBhvr>
                                        <p:cTn id="15" dur="250" fill="hold"/>
                                        <p:tgtEl>
                                          <p:spTgt spid="5"/>
                                        </p:tgtEl>
                                        <p:attrNameLst>
                                          <p:attrName>ppt_x</p:attrName>
                                        </p:attrNameLst>
                                      </p:cBhvr>
                                      <p:tavLst>
                                        <p:tav tm="0">
                                          <p:val>
                                            <p:strVal val="#ppt_x"/>
                                          </p:val>
                                        </p:tav>
                                        <p:tav tm="100000">
                                          <p:val>
                                            <p:strVal val="#ppt_x"/>
                                          </p:val>
                                        </p:tav>
                                      </p:tavLst>
                                    </p:anim>
                                    <p:anim calcmode="lin" valueType="num">
                                      <p:cBhvr>
                                        <p:cTn id="16" dur="2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
                                        <p:tgtEl>
                                          <p:spTgt spid="8"/>
                                        </p:tgtEl>
                                      </p:cBhvr>
                                    </p:animEffect>
                                    <p:anim calcmode="lin" valueType="num">
                                      <p:cBhvr>
                                        <p:cTn id="22" dur="10" fill="hold"/>
                                        <p:tgtEl>
                                          <p:spTgt spid="8"/>
                                        </p:tgtEl>
                                        <p:attrNameLst>
                                          <p:attrName>ppt_x</p:attrName>
                                        </p:attrNameLst>
                                      </p:cBhvr>
                                      <p:tavLst>
                                        <p:tav tm="0">
                                          <p:val>
                                            <p:strVal val="#ppt_x"/>
                                          </p:val>
                                        </p:tav>
                                        <p:tav tm="100000">
                                          <p:val>
                                            <p:strVal val="#ppt_x"/>
                                          </p:val>
                                        </p:tav>
                                      </p:tavLst>
                                    </p:anim>
                                    <p:anim calcmode="lin" valueType="num">
                                      <p:cBhvr>
                                        <p:cTn id="23" dur="1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250"/>
                                        <p:tgtEl>
                                          <p:spTgt spid="3"/>
                                        </p:tgtEl>
                                      </p:cBhvr>
                                    </p:animEffect>
                                    <p:anim calcmode="lin" valueType="num">
                                      <p:cBhvr>
                                        <p:cTn id="29" dur="250" fill="hold"/>
                                        <p:tgtEl>
                                          <p:spTgt spid="3"/>
                                        </p:tgtEl>
                                        <p:attrNameLst>
                                          <p:attrName>ppt_x</p:attrName>
                                        </p:attrNameLst>
                                      </p:cBhvr>
                                      <p:tavLst>
                                        <p:tav tm="0">
                                          <p:val>
                                            <p:strVal val="#ppt_x"/>
                                          </p:val>
                                        </p:tav>
                                        <p:tav tm="100000">
                                          <p:val>
                                            <p:strVal val="#ppt_x"/>
                                          </p:val>
                                        </p:tav>
                                      </p:tavLst>
                                    </p:anim>
                                    <p:anim calcmode="lin" valueType="num">
                                      <p:cBhvr>
                                        <p:cTn id="3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7" name="Titre 6">
            <a:extLst>
              <a:ext uri="{FF2B5EF4-FFF2-40B4-BE49-F238E27FC236}">
                <a16:creationId xmlns:a16="http://schemas.microsoft.com/office/drawing/2014/main" id="{FEF2F62A-1305-07C2-FD5D-868FA2E48D18}"/>
              </a:ext>
            </a:extLst>
          </p:cNvPr>
          <p:cNvSpPr>
            <a:spLocks noGrp="1"/>
          </p:cNvSpPr>
          <p:nvPr>
            <p:ph type="title"/>
          </p:nvPr>
        </p:nvSpPr>
        <p:spPr>
          <a:xfrm>
            <a:off x="1755823" y="278563"/>
            <a:ext cx="7704000" cy="572700"/>
          </a:xfrm>
        </p:spPr>
        <p:txBody>
          <a:bodyPr/>
          <a:lstStyle/>
          <a:p>
            <a:r>
              <a:rPr lang="fr-FR" sz="4000" b="1" dirty="0"/>
              <a:t>Propriétés d’un graphes</a:t>
            </a:r>
          </a:p>
        </p:txBody>
      </p:sp>
      <p:sp>
        <p:nvSpPr>
          <p:cNvPr id="9" name="ZoneTexte 8">
            <a:extLst>
              <a:ext uri="{FF2B5EF4-FFF2-40B4-BE49-F238E27FC236}">
                <a16:creationId xmlns:a16="http://schemas.microsoft.com/office/drawing/2014/main" id="{EA5EB663-5468-4643-4D4E-A8609FAC0323}"/>
              </a:ext>
            </a:extLst>
          </p:cNvPr>
          <p:cNvSpPr txBox="1"/>
          <p:nvPr/>
        </p:nvSpPr>
        <p:spPr>
          <a:xfrm>
            <a:off x="1173292" y="1346406"/>
            <a:ext cx="4356847" cy="2554545"/>
          </a:xfrm>
          <a:prstGeom prst="rect">
            <a:avLst/>
          </a:prstGeom>
          <a:noFill/>
        </p:spPr>
        <p:txBody>
          <a:bodyPr wrap="square">
            <a:spAutoFit/>
          </a:bodyPr>
          <a:lstStyle/>
          <a:p>
            <a:r>
              <a:rPr lang="fr-FR" sz="2000" dirty="0"/>
              <a:t>Les caractéristiques importantes des graphes comprennent l’ordre, la taille, les degrés des sommets, les chemins, les chaines , les cycles , les circuits, etc. Ces propriétés sont cruciales pour comprendre le comportement et les applications des graphes.</a:t>
            </a:r>
          </a:p>
        </p:txBody>
      </p:sp>
      <p:grpSp>
        <p:nvGrpSpPr>
          <p:cNvPr id="1486" name="Groupe 1485">
            <a:extLst>
              <a:ext uri="{FF2B5EF4-FFF2-40B4-BE49-F238E27FC236}">
                <a16:creationId xmlns:a16="http://schemas.microsoft.com/office/drawing/2014/main" id="{237849BE-E764-7CBB-EE2A-6C7214345CFB}"/>
              </a:ext>
            </a:extLst>
          </p:cNvPr>
          <p:cNvGrpSpPr/>
          <p:nvPr/>
        </p:nvGrpSpPr>
        <p:grpSpPr>
          <a:xfrm>
            <a:off x="-1787369" y="-1057020"/>
            <a:ext cx="11814242" cy="7257540"/>
            <a:chOff x="-1825469" y="-1176520"/>
            <a:chExt cx="11814242" cy="7257540"/>
          </a:xfrm>
        </p:grpSpPr>
        <p:grpSp>
          <p:nvGrpSpPr>
            <p:cNvPr id="10" name="Google Shape;1527;p32">
              <a:extLst>
                <a:ext uri="{FF2B5EF4-FFF2-40B4-BE49-F238E27FC236}">
                  <a16:creationId xmlns:a16="http://schemas.microsoft.com/office/drawing/2014/main" id="{1E6F8445-2387-BD31-874D-1922DF4D5005}"/>
                </a:ext>
              </a:extLst>
            </p:cNvPr>
            <p:cNvGrpSpPr/>
            <p:nvPr/>
          </p:nvGrpSpPr>
          <p:grpSpPr>
            <a:xfrm>
              <a:off x="6788444" y="2953250"/>
              <a:ext cx="3200329" cy="3127770"/>
              <a:chOff x="447667" y="285337"/>
              <a:chExt cx="3863732" cy="3776132"/>
            </a:xfrm>
          </p:grpSpPr>
          <p:sp>
            <p:nvSpPr>
              <p:cNvPr id="11" name="Google Shape;1528;p32">
                <a:extLst>
                  <a:ext uri="{FF2B5EF4-FFF2-40B4-BE49-F238E27FC236}">
                    <a16:creationId xmlns:a16="http://schemas.microsoft.com/office/drawing/2014/main" id="{56020CE4-C6E0-7DC8-9201-6BBBF47AE8B5}"/>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529;p32">
                <a:extLst>
                  <a:ext uri="{FF2B5EF4-FFF2-40B4-BE49-F238E27FC236}">
                    <a16:creationId xmlns:a16="http://schemas.microsoft.com/office/drawing/2014/main" id="{B89AE309-3237-7866-DD41-EC79157BC26A}"/>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530;p32">
                <a:extLst>
                  <a:ext uri="{FF2B5EF4-FFF2-40B4-BE49-F238E27FC236}">
                    <a16:creationId xmlns:a16="http://schemas.microsoft.com/office/drawing/2014/main" id="{6503A238-BE20-13AC-CB4A-71EE4995F8F1}"/>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531;p32">
                <a:extLst>
                  <a:ext uri="{FF2B5EF4-FFF2-40B4-BE49-F238E27FC236}">
                    <a16:creationId xmlns:a16="http://schemas.microsoft.com/office/drawing/2014/main" id="{91413D6C-56A2-86B5-FBD4-B954832308BB}"/>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32;p32">
                <a:extLst>
                  <a:ext uri="{FF2B5EF4-FFF2-40B4-BE49-F238E27FC236}">
                    <a16:creationId xmlns:a16="http://schemas.microsoft.com/office/drawing/2014/main" id="{591C4A4C-3CD6-C426-DD25-1C93D9300990}"/>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533;p32">
                <a:extLst>
                  <a:ext uri="{FF2B5EF4-FFF2-40B4-BE49-F238E27FC236}">
                    <a16:creationId xmlns:a16="http://schemas.microsoft.com/office/drawing/2014/main" id="{F7AE194E-DB7A-406E-5492-7ED2ED6D3ECD}"/>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534;p32">
                <a:extLst>
                  <a:ext uri="{FF2B5EF4-FFF2-40B4-BE49-F238E27FC236}">
                    <a16:creationId xmlns:a16="http://schemas.microsoft.com/office/drawing/2014/main" id="{5A58F01B-61EB-3D37-BC79-2C02143BCC57}"/>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535;p32">
                <a:extLst>
                  <a:ext uri="{FF2B5EF4-FFF2-40B4-BE49-F238E27FC236}">
                    <a16:creationId xmlns:a16="http://schemas.microsoft.com/office/drawing/2014/main" id="{3633EB96-F164-42C1-6B38-26EA47D127F2}"/>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9" name="Google Shape;1536;p32">
                <a:extLst>
                  <a:ext uri="{FF2B5EF4-FFF2-40B4-BE49-F238E27FC236}">
                    <a16:creationId xmlns:a16="http://schemas.microsoft.com/office/drawing/2014/main" id="{CBB6E4DA-DE56-1438-8A30-362BAAAC684F}"/>
                  </a:ext>
                </a:extLst>
              </p:cNvPr>
              <p:cNvCxnSpPr>
                <a:stCxn id="15" idx="5"/>
                <a:endCxn id="14"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1537;p32">
                <a:extLst>
                  <a:ext uri="{FF2B5EF4-FFF2-40B4-BE49-F238E27FC236}">
                    <a16:creationId xmlns:a16="http://schemas.microsoft.com/office/drawing/2014/main" id="{CAEAE968-F49E-CD40-D34F-24520AEA2B39}"/>
                  </a:ext>
                </a:extLst>
              </p:cNvPr>
              <p:cNvCxnSpPr>
                <a:stCxn id="16" idx="4"/>
                <a:endCxn id="14"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1538;p32">
                <a:extLst>
                  <a:ext uri="{FF2B5EF4-FFF2-40B4-BE49-F238E27FC236}">
                    <a16:creationId xmlns:a16="http://schemas.microsoft.com/office/drawing/2014/main" id="{6D242E54-D699-1A0F-966F-8BDA26212684}"/>
                  </a:ext>
                </a:extLst>
              </p:cNvPr>
              <p:cNvCxnSpPr>
                <a:stCxn id="11" idx="6"/>
                <a:endCxn id="14"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1539;p32">
                <a:extLst>
                  <a:ext uri="{FF2B5EF4-FFF2-40B4-BE49-F238E27FC236}">
                    <a16:creationId xmlns:a16="http://schemas.microsoft.com/office/drawing/2014/main" id="{379DC304-D3C0-D5DA-EBB8-29B7CD2FBB72}"/>
                  </a:ext>
                </a:extLst>
              </p:cNvPr>
              <p:cNvCxnSpPr>
                <a:stCxn id="11" idx="0"/>
                <a:endCxn id="15"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1540;p32">
                <a:extLst>
                  <a:ext uri="{FF2B5EF4-FFF2-40B4-BE49-F238E27FC236}">
                    <a16:creationId xmlns:a16="http://schemas.microsoft.com/office/drawing/2014/main" id="{FBF0F259-55DC-51D0-006A-C808F95E82FD}"/>
                  </a:ext>
                </a:extLst>
              </p:cNvPr>
              <p:cNvCxnSpPr>
                <a:stCxn id="15" idx="7"/>
                <a:endCxn id="16"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1541;p32">
                <a:extLst>
                  <a:ext uri="{FF2B5EF4-FFF2-40B4-BE49-F238E27FC236}">
                    <a16:creationId xmlns:a16="http://schemas.microsoft.com/office/drawing/2014/main" id="{13AD9352-7757-82E3-5F0B-83006EBD504E}"/>
                  </a:ext>
                </a:extLst>
              </p:cNvPr>
              <p:cNvCxnSpPr>
                <a:stCxn id="16" idx="6"/>
                <a:endCxn id="1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1542;p32">
                <a:extLst>
                  <a:ext uri="{FF2B5EF4-FFF2-40B4-BE49-F238E27FC236}">
                    <a16:creationId xmlns:a16="http://schemas.microsoft.com/office/drawing/2014/main" id="{5390A70D-AC07-82AA-F667-7B352E74B991}"/>
                  </a:ext>
                </a:extLst>
              </p:cNvPr>
              <p:cNvCxnSpPr>
                <a:stCxn id="14" idx="7"/>
                <a:endCxn id="1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1543;p32">
                <a:extLst>
                  <a:ext uri="{FF2B5EF4-FFF2-40B4-BE49-F238E27FC236}">
                    <a16:creationId xmlns:a16="http://schemas.microsoft.com/office/drawing/2014/main" id="{C427D527-EDD0-D551-C321-463A69829324}"/>
                  </a:ext>
                </a:extLst>
              </p:cNvPr>
              <p:cNvCxnSpPr>
                <a:stCxn id="11" idx="5"/>
                <a:endCxn id="17"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44;p32">
                <a:extLst>
                  <a:ext uri="{FF2B5EF4-FFF2-40B4-BE49-F238E27FC236}">
                    <a16:creationId xmlns:a16="http://schemas.microsoft.com/office/drawing/2014/main" id="{E68BDC03-03E3-397C-324E-BF2292DE6AEE}"/>
                  </a:ext>
                </a:extLst>
              </p:cNvPr>
              <p:cNvCxnSpPr>
                <a:stCxn id="17" idx="7"/>
                <a:endCxn id="14"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45;p32">
                <a:extLst>
                  <a:ext uri="{FF2B5EF4-FFF2-40B4-BE49-F238E27FC236}">
                    <a16:creationId xmlns:a16="http://schemas.microsoft.com/office/drawing/2014/main" id="{38F9B496-F4EF-05AB-1F98-B6331A171D65}"/>
                  </a:ext>
                </a:extLst>
              </p:cNvPr>
              <p:cNvCxnSpPr>
                <a:stCxn id="17" idx="5"/>
                <a:endCxn id="1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46;p32">
                <a:extLst>
                  <a:ext uri="{FF2B5EF4-FFF2-40B4-BE49-F238E27FC236}">
                    <a16:creationId xmlns:a16="http://schemas.microsoft.com/office/drawing/2014/main" id="{E17C5E61-8968-8C07-7796-C041690D8FBE}"/>
                  </a:ext>
                </a:extLst>
              </p:cNvPr>
              <p:cNvCxnSpPr>
                <a:stCxn id="13" idx="0"/>
                <a:endCxn id="14"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7;p32">
                <a:extLst>
                  <a:ext uri="{FF2B5EF4-FFF2-40B4-BE49-F238E27FC236}">
                    <a16:creationId xmlns:a16="http://schemas.microsoft.com/office/drawing/2014/main" id="{DC420EBF-5B18-54A1-3517-1340069836E9}"/>
                  </a:ext>
                </a:extLst>
              </p:cNvPr>
              <p:cNvCxnSpPr>
                <a:stCxn id="13" idx="7"/>
                <a:endCxn id="18"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8;p32">
                <a:extLst>
                  <a:ext uri="{FF2B5EF4-FFF2-40B4-BE49-F238E27FC236}">
                    <a16:creationId xmlns:a16="http://schemas.microsoft.com/office/drawing/2014/main" id="{A74420D2-7D21-9C85-48BE-10F000BE5891}"/>
                  </a:ext>
                </a:extLst>
              </p:cNvPr>
              <p:cNvCxnSpPr>
                <a:stCxn id="14" idx="6"/>
                <a:endCxn id="18"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49;p32">
                <a:extLst>
                  <a:ext uri="{FF2B5EF4-FFF2-40B4-BE49-F238E27FC236}">
                    <a16:creationId xmlns:a16="http://schemas.microsoft.com/office/drawing/2014/main" id="{A5E4A273-285A-F356-2DB3-F115D12BFB8A}"/>
                  </a:ext>
                </a:extLst>
              </p:cNvPr>
              <p:cNvCxnSpPr>
                <a:stCxn id="18" idx="0"/>
                <a:endCxn id="1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50;p32">
                <a:extLst>
                  <a:ext uri="{FF2B5EF4-FFF2-40B4-BE49-F238E27FC236}">
                    <a16:creationId xmlns:a16="http://schemas.microsoft.com/office/drawing/2014/main" id="{95D1500A-BB51-CF13-D870-4D7C731ABDBF}"/>
                  </a:ext>
                </a:extLst>
              </p:cNvPr>
              <p:cNvCxnSpPr>
                <a:stCxn id="15" idx="4"/>
                <a:endCxn id="1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51;p32">
                <a:extLst>
                  <a:ext uri="{FF2B5EF4-FFF2-40B4-BE49-F238E27FC236}">
                    <a16:creationId xmlns:a16="http://schemas.microsoft.com/office/drawing/2014/main" id="{F65D1303-8FBC-E1E4-9599-4BCD47375BB6}"/>
                  </a:ext>
                </a:extLst>
              </p:cNvPr>
              <p:cNvCxnSpPr>
                <a:stCxn id="12" idx="4"/>
                <a:endCxn id="1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1552;p32">
                <a:extLst>
                  <a:ext uri="{FF2B5EF4-FFF2-40B4-BE49-F238E27FC236}">
                    <a16:creationId xmlns:a16="http://schemas.microsoft.com/office/drawing/2014/main" id="{51D46D57-0AD6-1D68-5C5A-8FF855A7CC88}"/>
                  </a:ext>
                </a:extLst>
              </p:cNvPr>
              <p:cNvCxnSpPr>
                <a:stCxn id="11" idx="5"/>
                <a:endCxn id="1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36" name="Google Shape;1553;p32">
                <a:extLst>
                  <a:ext uri="{FF2B5EF4-FFF2-40B4-BE49-F238E27FC236}">
                    <a16:creationId xmlns:a16="http://schemas.microsoft.com/office/drawing/2014/main" id="{7D12A92C-ED1F-C367-A3A4-3376D9404CE8}"/>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7" name="Google Shape;1554;p32">
                <a:extLst>
                  <a:ext uri="{FF2B5EF4-FFF2-40B4-BE49-F238E27FC236}">
                    <a16:creationId xmlns:a16="http://schemas.microsoft.com/office/drawing/2014/main" id="{C1C9C45B-EDA0-B2EB-BB71-6208B8BB2422}"/>
                  </a:ext>
                </a:extLst>
              </p:cNvPr>
              <p:cNvCxnSpPr>
                <a:stCxn id="18" idx="4"/>
                <a:endCxn id="36"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55;p32">
                <a:extLst>
                  <a:ext uri="{FF2B5EF4-FFF2-40B4-BE49-F238E27FC236}">
                    <a16:creationId xmlns:a16="http://schemas.microsoft.com/office/drawing/2014/main" id="{27670BB9-D274-AEE5-93D3-732E2F6E33EF}"/>
                  </a:ext>
                </a:extLst>
              </p:cNvPr>
              <p:cNvCxnSpPr>
                <a:stCxn id="36" idx="2"/>
                <a:endCxn id="1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56;p32">
                <a:extLst>
                  <a:ext uri="{FF2B5EF4-FFF2-40B4-BE49-F238E27FC236}">
                    <a16:creationId xmlns:a16="http://schemas.microsoft.com/office/drawing/2014/main" id="{2DE1513B-07C0-D61A-6BB5-CF055FD31DBC}"/>
                  </a:ext>
                </a:extLst>
              </p:cNvPr>
              <p:cNvCxnSpPr>
                <a:stCxn id="36" idx="0"/>
                <a:endCxn id="1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57;p32">
                <a:extLst>
                  <a:ext uri="{FF2B5EF4-FFF2-40B4-BE49-F238E27FC236}">
                    <a16:creationId xmlns:a16="http://schemas.microsoft.com/office/drawing/2014/main" id="{6DC724E0-5018-8B8C-BD00-A872F7529951}"/>
                  </a:ext>
                </a:extLst>
              </p:cNvPr>
              <p:cNvCxnSpPr>
                <a:stCxn id="36" idx="1"/>
                <a:endCxn id="14"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1" name="Google Shape;1558;p32">
                <a:extLst>
                  <a:ext uri="{FF2B5EF4-FFF2-40B4-BE49-F238E27FC236}">
                    <a16:creationId xmlns:a16="http://schemas.microsoft.com/office/drawing/2014/main" id="{88BE3B94-70DE-7329-09CE-CFEA7D793FEB}"/>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2" name="Google Shape;1559;p32">
                <a:extLst>
                  <a:ext uri="{FF2B5EF4-FFF2-40B4-BE49-F238E27FC236}">
                    <a16:creationId xmlns:a16="http://schemas.microsoft.com/office/drawing/2014/main" id="{92062595-0AC4-DE9D-47E7-D0BCCA2CB5CD}"/>
                  </a:ext>
                </a:extLst>
              </p:cNvPr>
              <p:cNvCxnSpPr>
                <a:stCxn id="36" idx="2"/>
                <a:endCxn id="41"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60;p32">
                <a:extLst>
                  <a:ext uri="{FF2B5EF4-FFF2-40B4-BE49-F238E27FC236}">
                    <a16:creationId xmlns:a16="http://schemas.microsoft.com/office/drawing/2014/main" id="{603B94D6-97CE-81A5-7EF7-30F295C45EDB}"/>
                  </a:ext>
                </a:extLst>
              </p:cNvPr>
              <p:cNvCxnSpPr>
                <a:stCxn id="41" idx="1"/>
                <a:endCxn id="17"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44" name="Google Shape;1527;p32">
              <a:extLst>
                <a:ext uri="{FF2B5EF4-FFF2-40B4-BE49-F238E27FC236}">
                  <a16:creationId xmlns:a16="http://schemas.microsoft.com/office/drawing/2014/main" id="{477F8CBB-4826-617A-C642-FDECFC6DE490}"/>
                </a:ext>
              </a:extLst>
            </p:cNvPr>
            <p:cNvGrpSpPr/>
            <p:nvPr/>
          </p:nvGrpSpPr>
          <p:grpSpPr>
            <a:xfrm rot="8810917">
              <a:off x="-1825469" y="-1176520"/>
              <a:ext cx="3200329" cy="3127770"/>
              <a:chOff x="447667" y="285337"/>
              <a:chExt cx="3863732" cy="3776132"/>
            </a:xfrm>
          </p:grpSpPr>
          <p:sp>
            <p:nvSpPr>
              <p:cNvPr id="45" name="Google Shape;1528;p32">
                <a:extLst>
                  <a:ext uri="{FF2B5EF4-FFF2-40B4-BE49-F238E27FC236}">
                    <a16:creationId xmlns:a16="http://schemas.microsoft.com/office/drawing/2014/main" id="{E6336266-34B0-F77C-1C0F-DD8B813693CC}"/>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6" name="Google Shape;1529;p32">
                <a:extLst>
                  <a:ext uri="{FF2B5EF4-FFF2-40B4-BE49-F238E27FC236}">
                    <a16:creationId xmlns:a16="http://schemas.microsoft.com/office/drawing/2014/main" id="{7E998450-C40A-9B4E-DCFB-EFEB44AE4EED}"/>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1530;p32">
                <a:extLst>
                  <a:ext uri="{FF2B5EF4-FFF2-40B4-BE49-F238E27FC236}">
                    <a16:creationId xmlns:a16="http://schemas.microsoft.com/office/drawing/2014/main" id="{8FA1697A-4CD1-D451-BA7B-2BE9A20E9496}"/>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1531;p32">
                <a:extLst>
                  <a:ext uri="{FF2B5EF4-FFF2-40B4-BE49-F238E27FC236}">
                    <a16:creationId xmlns:a16="http://schemas.microsoft.com/office/drawing/2014/main" id="{F85172C1-2A84-AC92-9A14-670748814812}"/>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1532;p32">
                <a:extLst>
                  <a:ext uri="{FF2B5EF4-FFF2-40B4-BE49-F238E27FC236}">
                    <a16:creationId xmlns:a16="http://schemas.microsoft.com/office/drawing/2014/main" id="{8E3F502B-3638-7D02-2DFD-3286347C65AF}"/>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1533;p32">
                <a:extLst>
                  <a:ext uri="{FF2B5EF4-FFF2-40B4-BE49-F238E27FC236}">
                    <a16:creationId xmlns:a16="http://schemas.microsoft.com/office/drawing/2014/main" id="{AE3939C7-2196-6015-86BE-0D4EB966F1C9}"/>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 name="Google Shape;1534;p32">
                <a:extLst>
                  <a:ext uri="{FF2B5EF4-FFF2-40B4-BE49-F238E27FC236}">
                    <a16:creationId xmlns:a16="http://schemas.microsoft.com/office/drawing/2014/main" id="{ACC3419F-3F46-7766-4605-EF6B1BDF8DC9}"/>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535;p32">
                <a:extLst>
                  <a:ext uri="{FF2B5EF4-FFF2-40B4-BE49-F238E27FC236}">
                    <a16:creationId xmlns:a16="http://schemas.microsoft.com/office/drawing/2014/main" id="{1003490C-06F6-355C-6862-FF84CBA8D18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3" name="Google Shape;1536;p32">
                <a:extLst>
                  <a:ext uri="{FF2B5EF4-FFF2-40B4-BE49-F238E27FC236}">
                    <a16:creationId xmlns:a16="http://schemas.microsoft.com/office/drawing/2014/main" id="{4CCA0E95-B36A-D5E4-C2F7-545C84FA0630}"/>
                  </a:ext>
                </a:extLst>
              </p:cNvPr>
              <p:cNvCxnSpPr>
                <a:stCxn id="49" idx="5"/>
                <a:endCxn id="48"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1537;p32">
                <a:extLst>
                  <a:ext uri="{FF2B5EF4-FFF2-40B4-BE49-F238E27FC236}">
                    <a16:creationId xmlns:a16="http://schemas.microsoft.com/office/drawing/2014/main" id="{3BCCDCA7-52B3-B3D7-D393-DA5AFCA447B2}"/>
                  </a:ext>
                </a:extLst>
              </p:cNvPr>
              <p:cNvCxnSpPr>
                <a:stCxn id="50" idx="4"/>
                <a:endCxn id="48"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38;p32">
                <a:extLst>
                  <a:ext uri="{FF2B5EF4-FFF2-40B4-BE49-F238E27FC236}">
                    <a16:creationId xmlns:a16="http://schemas.microsoft.com/office/drawing/2014/main" id="{43B3A954-A04A-1A2A-CE9F-4AA90291350B}"/>
                  </a:ext>
                </a:extLst>
              </p:cNvPr>
              <p:cNvCxnSpPr>
                <a:stCxn id="45" idx="6"/>
                <a:endCxn id="48"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39;p32">
                <a:extLst>
                  <a:ext uri="{FF2B5EF4-FFF2-40B4-BE49-F238E27FC236}">
                    <a16:creationId xmlns:a16="http://schemas.microsoft.com/office/drawing/2014/main" id="{B6229E8F-EC88-CD1F-0274-5E4E63243AA2}"/>
                  </a:ext>
                </a:extLst>
              </p:cNvPr>
              <p:cNvCxnSpPr>
                <a:stCxn id="45" idx="0"/>
                <a:endCxn id="49"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40;p32">
                <a:extLst>
                  <a:ext uri="{FF2B5EF4-FFF2-40B4-BE49-F238E27FC236}">
                    <a16:creationId xmlns:a16="http://schemas.microsoft.com/office/drawing/2014/main" id="{85D91E04-A7AE-FE37-40FF-93CB89E9C8CB}"/>
                  </a:ext>
                </a:extLst>
              </p:cNvPr>
              <p:cNvCxnSpPr>
                <a:stCxn id="49" idx="7"/>
                <a:endCxn id="50"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1541;p32">
                <a:extLst>
                  <a:ext uri="{FF2B5EF4-FFF2-40B4-BE49-F238E27FC236}">
                    <a16:creationId xmlns:a16="http://schemas.microsoft.com/office/drawing/2014/main" id="{6D052531-BAA9-695E-437E-69DE42C431C9}"/>
                  </a:ext>
                </a:extLst>
              </p:cNvPr>
              <p:cNvCxnSpPr>
                <a:stCxn id="50" idx="6"/>
                <a:endCxn id="46"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1542;p32">
                <a:extLst>
                  <a:ext uri="{FF2B5EF4-FFF2-40B4-BE49-F238E27FC236}">
                    <a16:creationId xmlns:a16="http://schemas.microsoft.com/office/drawing/2014/main" id="{E086F37E-696C-1EB7-6AE4-A78CDB66A2E5}"/>
                  </a:ext>
                </a:extLst>
              </p:cNvPr>
              <p:cNvCxnSpPr>
                <a:stCxn id="48" idx="7"/>
                <a:endCxn id="46"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43;p32">
                <a:extLst>
                  <a:ext uri="{FF2B5EF4-FFF2-40B4-BE49-F238E27FC236}">
                    <a16:creationId xmlns:a16="http://schemas.microsoft.com/office/drawing/2014/main" id="{ACA2F015-C27D-71C7-EA69-19856745CA9C}"/>
                  </a:ext>
                </a:extLst>
              </p:cNvPr>
              <p:cNvCxnSpPr>
                <a:stCxn id="45" idx="5"/>
                <a:endCxn id="51"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44;p32">
                <a:extLst>
                  <a:ext uri="{FF2B5EF4-FFF2-40B4-BE49-F238E27FC236}">
                    <a16:creationId xmlns:a16="http://schemas.microsoft.com/office/drawing/2014/main" id="{0395A343-22DF-4C60-4CDD-372C28CD8385}"/>
                  </a:ext>
                </a:extLst>
              </p:cNvPr>
              <p:cNvCxnSpPr>
                <a:stCxn id="51" idx="7"/>
                <a:endCxn id="48"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45;p32">
                <a:extLst>
                  <a:ext uri="{FF2B5EF4-FFF2-40B4-BE49-F238E27FC236}">
                    <a16:creationId xmlns:a16="http://schemas.microsoft.com/office/drawing/2014/main" id="{8A75699E-72A8-780F-82B4-043344F24B7F}"/>
                  </a:ext>
                </a:extLst>
              </p:cNvPr>
              <p:cNvCxnSpPr>
                <a:stCxn id="51" idx="5"/>
                <a:endCxn id="47"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6;p32">
                <a:extLst>
                  <a:ext uri="{FF2B5EF4-FFF2-40B4-BE49-F238E27FC236}">
                    <a16:creationId xmlns:a16="http://schemas.microsoft.com/office/drawing/2014/main" id="{1BAC27ED-7193-315A-F7BC-EFFACFEC40F8}"/>
                  </a:ext>
                </a:extLst>
              </p:cNvPr>
              <p:cNvCxnSpPr>
                <a:stCxn id="47" idx="0"/>
                <a:endCxn id="48"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472" name="Google Shape;1547;p32">
                <a:extLst>
                  <a:ext uri="{FF2B5EF4-FFF2-40B4-BE49-F238E27FC236}">
                    <a16:creationId xmlns:a16="http://schemas.microsoft.com/office/drawing/2014/main" id="{69AF842E-54A9-113B-70E2-7ADEB09880BD}"/>
                  </a:ext>
                </a:extLst>
              </p:cNvPr>
              <p:cNvCxnSpPr>
                <a:stCxn id="47" idx="7"/>
                <a:endCxn id="52"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473" name="Google Shape;1548;p32">
                <a:extLst>
                  <a:ext uri="{FF2B5EF4-FFF2-40B4-BE49-F238E27FC236}">
                    <a16:creationId xmlns:a16="http://schemas.microsoft.com/office/drawing/2014/main" id="{794E8D7D-61F6-B102-FD4E-35C52A1B1C8D}"/>
                  </a:ext>
                </a:extLst>
              </p:cNvPr>
              <p:cNvCxnSpPr>
                <a:stCxn id="48" idx="6"/>
                <a:endCxn id="52"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474" name="Google Shape;1549;p32">
                <a:extLst>
                  <a:ext uri="{FF2B5EF4-FFF2-40B4-BE49-F238E27FC236}">
                    <a16:creationId xmlns:a16="http://schemas.microsoft.com/office/drawing/2014/main" id="{F0CB8629-3B9A-AF1D-05B5-31CCE4B2830C}"/>
                  </a:ext>
                </a:extLst>
              </p:cNvPr>
              <p:cNvCxnSpPr>
                <a:stCxn id="52" idx="0"/>
                <a:endCxn id="46"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475" name="Google Shape;1550;p32">
                <a:extLst>
                  <a:ext uri="{FF2B5EF4-FFF2-40B4-BE49-F238E27FC236}">
                    <a16:creationId xmlns:a16="http://schemas.microsoft.com/office/drawing/2014/main" id="{4D4C6C7E-C299-5E4F-AA55-19B5A2D6077A}"/>
                  </a:ext>
                </a:extLst>
              </p:cNvPr>
              <p:cNvCxnSpPr>
                <a:stCxn id="49" idx="4"/>
                <a:endCxn id="47"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476" name="Google Shape;1551;p32">
                <a:extLst>
                  <a:ext uri="{FF2B5EF4-FFF2-40B4-BE49-F238E27FC236}">
                    <a16:creationId xmlns:a16="http://schemas.microsoft.com/office/drawing/2014/main" id="{F69DC6C4-EFA8-32A2-0052-E8174657F12C}"/>
                  </a:ext>
                </a:extLst>
              </p:cNvPr>
              <p:cNvCxnSpPr>
                <a:stCxn id="46" idx="4"/>
                <a:endCxn id="47"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477" name="Google Shape;1552;p32">
                <a:extLst>
                  <a:ext uri="{FF2B5EF4-FFF2-40B4-BE49-F238E27FC236}">
                    <a16:creationId xmlns:a16="http://schemas.microsoft.com/office/drawing/2014/main" id="{897E6F80-45F5-3945-3241-9B58964DF6B1}"/>
                  </a:ext>
                </a:extLst>
              </p:cNvPr>
              <p:cNvCxnSpPr>
                <a:stCxn id="45" idx="5"/>
                <a:endCxn id="47"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478" name="Google Shape;1553;p32">
                <a:extLst>
                  <a:ext uri="{FF2B5EF4-FFF2-40B4-BE49-F238E27FC236}">
                    <a16:creationId xmlns:a16="http://schemas.microsoft.com/office/drawing/2014/main" id="{02913863-3095-4216-12E4-BBC959D6BA8D}"/>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9" name="Google Shape;1554;p32">
                <a:extLst>
                  <a:ext uri="{FF2B5EF4-FFF2-40B4-BE49-F238E27FC236}">
                    <a16:creationId xmlns:a16="http://schemas.microsoft.com/office/drawing/2014/main" id="{0BC39286-0A50-53AE-44B0-B22A4FD8135E}"/>
                  </a:ext>
                </a:extLst>
              </p:cNvPr>
              <p:cNvCxnSpPr>
                <a:stCxn id="52" idx="4"/>
                <a:endCxn id="1478"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480" name="Google Shape;1555;p32">
                <a:extLst>
                  <a:ext uri="{FF2B5EF4-FFF2-40B4-BE49-F238E27FC236}">
                    <a16:creationId xmlns:a16="http://schemas.microsoft.com/office/drawing/2014/main" id="{774CA848-B21D-009A-6660-0AB9CCA4EF12}"/>
                  </a:ext>
                </a:extLst>
              </p:cNvPr>
              <p:cNvCxnSpPr>
                <a:stCxn id="1478" idx="2"/>
                <a:endCxn id="47"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556;p32">
                <a:extLst>
                  <a:ext uri="{FF2B5EF4-FFF2-40B4-BE49-F238E27FC236}">
                    <a16:creationId xmlns:a16="http://schemas.microsoft.com/office/drawing/2014/main" id="{2A28D594-BE6D-16A6-8B58-E23A75EFEDFB}"/>
                  </a:ext>
                </a:extLst>
              </p:cNvPr>
              <p:cNvCxnSpPr>
                <a:stCxn id="1478" idx="0"/>
                <a:endCxn id="46"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557;p32">
                <a:extLst>
                  <a:ext uri="{FF2B5EF4-FFF2-40B4-BE49-F238E27FC236}">
                    <a16:creationId xmlns:a16="http://schemas.microsoft.com/office/drawing/2014/main" id="{1494E74E-1C3B-41FF-6A6E-0D2E1A106115}"/>
                  </a:ext>
                </a:extLst>
              </p:cNvPr>
              <p:cNvCxnSpPr>
                <a:stCxn id="1478" idx="1"/>
                <a:endCxn id="48"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483" name="Google Shape;1558;p32">
                <a:extLst>
                  <a:ext uri="{FF2B5EF4-FFF2-40B4-BE49-F238E27FC236}">
                    <a16:creationId xmlns:a16="http://schemas.microsoft.com/office/drawing/2014/main" id="{1506F93F-1F53-47A7-FC86-D41CEC67C1FA}"/>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4" name="Google Shape;1559;p32">
                <a:extLst>
                  <a:ext uri="{FF2B5EF4-FFF2-40B4-BE49-F238E27FC236}">
                    <a16:creationId xmlns:a16="http://schemas.microsoft.com/office/drawing/2014/main" id="{E5DC413D-2000-E1F9-2BE4-68CD7AA64619}"/>
                  </a:ext>
                </a:extLst>
              </p:cNvPr>
              <p:cNvCxnSpPr>
                <a:stCxn id="1478" idx="2"/>
                <a:endCxn id="1483"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485" name="Google Shape;1560;p32">
                <a:extLst>
                  <a:ext uri="{FF2B5EF4-FFF2-40B4-BE49-F238E27FC236}">
                    <a16:creationId xmlns:a16="http://schemas.microsoft.com/office/drawing/2014/main" id="{F0995D18-AF83-7A48-6450-3D42BA1FBF0E}"/>
                  </a:ext>
                </a:extLst>
              </p:cNvPr>
              <p:cNvCxnSpPr>
                <a:stCxn id="1483" idx="1"/>
                <a:endCxn id="51"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grpSp>
        <p:nvGrpSpPr>
          <p:cNvPr id="1507" name="Google Shape;1507;p31"/>
          <p:cNvGrpSpPr/>
          <p:nvPr/>
        </p:nvGrpSpPr>
        <p:grpSpPr>
          <a:xfrm rot="6922716">
            <a:off x="7561124" y="746898"/>
            <a:ext cx="435969" cy="322677"/>
            <a:chOff x="8529533" y="681525"/>
            <a:chExt cx="435967" cy="322675"/>
          </a:xfrm>
        </p:grpSpPr>
        <p:sp>
          <p:nvSpPr>
            <p:cNvPr id="1508" name="Google Shape;1508;p31"/>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9" name="Google Shape;1509;p31"/>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0" name="Google Shape;1510;p31"/>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11" name="Google Shape;1511;p31"/>
          <p:cNvGrpSpPr/>
          <p:nvPr/>
        </p:nvGrpSpPr>
        <p:grpSpPr>
          <a:xfrm>
            <a:off x="970225" y="3797250"/>
            <a:ext cx="406275" cy="563575"/>
            <a:chOff x="140150" y="4340075"/>
            <a:chExt cx="406275" cy="563575"/>
          </a:xfrm>
        </p:grpSpPr>
        <p:sp>
          <p:nvSpPr>
            <p:cNvPr id="1512" name="Google Shape;1512;p31"/>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3" name="Google Shape;1513;p31"/>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4" name="Google Shape;1514;p31"/>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5" name="Google Shape;1515;p31"/>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6" name="Titre 1">
            <a:extLst>
              <a:ext uri="{FF2B5EF4-FFF2-40B4-BE49-F238E27FC236}">
                <a16:creationId xmlns:a16="http://schemas.microsoft.com/office/drawing/2014/main" id="{FA68CEBA-E14A-6703-F694-0EAD61968DD9}"/>
              </a:ext>
            </a:extLst>
          </p:cNvPr>
          <p:cNvSpPr>
            <a:spLocks noGrp="1"/>
          </p:cNvSpPr>
          <p:nvPr>
            <p:ph type="title"/>
          </p:nvPr>
        </p:nvSpPr>
        <p:spPr>
          <a:xfrm>
            <a:off x="1725947" y="10926"/>
            <a:ext cx="6704310" cy="1769153"/>
          </a:xfrm>
        </p:spPr>
        <p:txBody>
          <a:bodyPr/>
          <a:lstStyle/>
          <a:p>
            <a:r>
              <a:rPr lang="fr-FR" sz="4000" b="1" dirty="0"/>
              <a:t>Applications de la théorie des graphes</a:t>
            </a:r>
          </a:p>
        </p:txBody>
      </p:sp>
      <p:sp>
        <p:nvSpPr>
          <p:cNvPr id="8" name="ZoneTexte 7">
            <a:extLst>
              <a:ext uri="{FF2B5EF4-FFF2-40B4-BE49-F238E27FC236}">
                <a16:creationId xmlns:a16="http://schemas.microsoft.com/office/drawing/2014/main" id="{B20F6D60-AEC8-B41B-67D7-D6AD04F22358}"/>
              </a:ext>
            </a:extLst>
          </p:cNvPr>
          <p:cNvSpPr txBox="1"/>
          <p:nvPr/>
        </p:nvSpPr>
        <p:spPr>
          <a:xfrm>
            <a:off x="1382250" y="1876246"/>
            <a:ext cx="2201400" cy="646331"/>
          </a:xfrm>
          <a:prstGeom prst="rect">
            <a:avLst/>
          </a:prstGeom>
          <a:noFill/>
        </p:spPr>
        <p:txBody>
          <a:bodyPr wrap="square">
            <a:spAutoFit/>
          </a:bodyPr>
          <a:lstStyle/>
          <a:p>
            <a:r>
              <a:rPr lang="fr-FR" b="1" u="sng" dirty="0">
                <a:solidFill>
                  <a:srgbClr val="002060"/>
                </a:solidFill>
              </a:rPr>
              <a:t>Domaines d'application</a:t>
            </a:r>
          </a:p>
        </p:txBody>
      </p:sp>
      <p:sp>
        <p:nvSpPr>
          <p:cNvPr id="10" name="ZoneTexte 9">
            <a:extLst>
              <a:ext uri="{FF2B5EF4-FFF2-40B4-BE49-F238E27FC236}">
                <a16:creationId xmlns:a16="http://schemas.microsoft.com/office/drawing/2014/main" id="{5F70F265-07E6-FFF5-B701-8203A3C34C3A}"/>
              </a:ext>
            </a:extLst>
          </p:cNvPr>
          <p:cNvSpPr txBox="1"/>
          <p:nvPr/>
        </p:nvSpPr>
        <p:spPr>
          <a:xfrm>
            <a:off x="1376500" y="2491237"/>
            <a:ext cx="3227704" cy="2308324"/>
          </a:xfrm>
          <a:prstGeom prst="rect">
            <a:avLst/>
          </a:prstGeom>
          <a:noFill/>
        </p:spPr>
        <p:txBody>
          <a:bodyPr wrap="square">
            <a:spAutoFit/>
          </a:bodyPr>
          <a:lstStyle/>
          <a:p>
            <a:r>
              <a:rPr lang="fr-FR" dirty="0"/>
              <a:t>La théorie des graphes est largement utilisée dans les réseaux sociaux, la logistique, la planification des transports les télécommunications, etc. Elle offre des outils puissants pour résoudre un large éventail de problèmes.</a:t>
            </a:r>
          </a:p>
        </p:txBody>
      </p:sp>
      <p:sp>
        <p:nvSpPr>
          <p:cNvPr id="12" name="ZoneTexte 11">
            <a:extLst>
              <a:ext uri="{FF2B5EF4-FFF2-40B4-BE49-F238E27FC236}">
                <a16:creationId xmlns:a16="http://schemas.microsoft.com/office/drawing/2014/main" id="{C63910B8-6005-6863-6ECE-6CBB27F84C31}"/>
              </a:ext>
            </a:extLst>
          </p:cNvPr>
          <p:cNvSpPr txBox="1"/>
          <p:nvPr/>
        </p:nvSpPr>
        <p:spPr>
          <a:xfrm>
            <a:off x="5366190" y="1811707"/>
            <a:ext cx="1863394" cy="646331"/>
          </a:xfrm>
          <a:prstGeom prst="rect">
            <a:avLst/>
          </a:prstGeom>
          <a:noFill/>
        </p:spPr>
        <p:txBody>
          <a:bodyPr wrap="square">
            <a:spAutoFit/>
          </a:bodyPr>
          <a:lstStyle/>
          <a:p>
            <a:r>
              <a:rPr lang="fr-FR" b="1" u="sng" dirty="0">
                <a:solidFill>
                  <a:srgbClr val="002060"/>
                </a:solidFill>
              </a:rPr>
              <a:t>Exemples concrets</a:t>
            </a:r>
          </a:p>
        </p:txBody>
      </p:sp>
      <p:sp>
        <p:nvSpPr>
          <p:cNvPr id="14" name="ZoneTexte 13">
            <a:extLst>
              <a:ext uri="{FF2B5EF4-FFF2-40B4-BE49-F238E27FC236}">
                <a16:creationId xmlns:a16="http://schemas.microsoft.com/office/drawing/2014/main" id="{00AB1F8D-08F4-4D83-6618-B0603C18D778}"/>
              </a:ext>
            </a:extLst>
          </p:cNvPr>
          <p:cNvSpPr txBox="1"/>
          <p:nvPr/>
        </p:nvSpPr>
        <p:spPr>
          <a:xfrm>
            <a:off x="5366190" y="2442086"/>
            <a:ext cx="3432027" cy="2585323"/>
          </a:xfrm>
          <a:prstGeom prst="rect">
            <a:avLst/>
          </a:prstGeom>
          <a:noFill/>
        </p:spPr>
        <p:txBody>
          <a:bodyPr wrap="square">
            <a:spAutoFit/>
          </a:bodyPr>
          <a:lstStyle/>
          <a:p>
            <a:r>
              <a:rPr lang="fr-FR" dirty="0"/>
              <a:t>Des applications pratiques incluent la détermination du plus court chemin, la planification des horaires, la modélisation des réseaux de transport, l'analyse des réseaux sociaux, etc. Les graphes offrent des solutions élégantes à des problèmes complexes.</a:t>
            </a:r>
          </a:p>
        </p:txBody>
      </p:sp>
      <p:grpSp>
        <p:nvGrpSpPr>
          <p:cNvPr id="15" name="Groupe 14">
            <a:extLst>
              <a:ext uri="{FF2B5EF4-FFF2-40B4-BE49-F238E27FC236}">
                <a16:creationId xmlns:a16="http://schemas.microsoft.com/office/drawing/2014/main" id="{AB77B0BB-0828-8C13-17F8-CC7BF7B56E6B}"/>
              </a:ext>
            </a:extLst>
          </p:cNvPr>
          <p:cNvGrpSpPr/>
          <p:nvPr/>
        </p:nvGrpSpPr>
        <p:grpSpPr>
          <a:xfrm>
            <a:off x="-1302917" y="-668520"/>
            <a:ext cx="11987026" cy="7629843"/>
            <a:chOff x="-1825469" y="-1176520"/>
            <a:chExt cx="11987026" cy="7629843"/>
          </a:xfrm>
        </p:grpSpPr>
        <p:grpSp>
          <p:nvGrpSpPr>
            <p:cNvPr id="16" name="Google Shape;1527;p32">
              <a:extLst>
                <a:ext uri="{FF2B5EF4-FFF2-40B4-BE49-F238E27FC236}">
                  <a16:creationId xmlns:a16="http://schemas.microsoft.com/office/drawing/2014/main" id="{EFB7E708-26EC-8B8F-E567-43C38C13BE31}"/>
                </a:ext>
              </a:extLst>
            </p:cNvPr>
            <p:cNvGrpSpPr/>
            <p:nvPr/>
          </p:nvGrpSpPr>
          <p:grpSpPr>
            <a:xfrm>
              <a:off x="3632810" y="2862287"/>
              <a:ext cx="6528747" cy="3591036"/>
              <a:chOff x="-3362105" y="175518"/>
              <a:chExt cx="7882105" cy="4335429"/>
            </a:xfrm>
          </p:grpSpPr>
          <p:sp>
            <p:nvSpPr>
              <p:cNvPr id="51" name="Google Shape;1528;p32">
                <a:extLst>
                  <a:ext uri="{FF2B5EF4-FFF2-40B4-BE49-F238E27FC236}">
                    <a16:creationId xmlns:a16="http://schemas.microsoft.com/office/drawing/2014/main" id="{5AB9400B-A734-90F1-575B-2BBAF6764920}"/>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529;p32">
                <a:extLst>
                  <a:ext uri="{FF2B5EF4-FFF2-40B4-BE49-F238E27FC236}">
                    <a16:creationId xmlns:a16="http://schemas.microsoft.com/office/drawing/2014/main" id="{FBFF705A-1628-1691-4EED-B11FBEE1DD51}"/>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3" name="Google Shape;1530;p32">
                <a:extLst>
                  <a:ext uri="{FF2B5EF4-FFF2-40B4-BE49-F238E27FC236}">
                    <a16:creationId xmlns:a16="http://schemas.microsoft.com/office/drawing/2014/main" id="{ED6AA827-A034-4805-F2DB-2020B5AD52B5}"/>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4" name="Google Shape;1531;p32">
                <a:extLst>
                  <a:ext uri="{FF2B5EF4-FFF2-40B4-BE49-F238E27FC236}">
                    <a16:creationId xmlns:a16="http://schemas.microsoft.com/office/drawing/2014/main" id="{CAED45C6-6EDF-1F27-B489-FDB68F4D898D}"/>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 name="Google Shape;1532;p32">
                <a:extLst>
                  <a:ext uri="{FF2B5EF4-FFF2-40B4-BE49-F238E27FC236}">
                    <a16:creationId xmlns:a16="http://schemas.microsoft.com/office/drawing/2014/main" id="{239C0823-433D-FE78-4A27-667D8806523D}"/>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 name="Google Shape;1533;p32">
                <a:extLst>
                  <a:ext uri="{FF2B5EF4-FFF2-40B4-BE49-F238E27FC236}">
                    <a16:creationId xmlns:a16="http://schemas.microsoft.com/office/drawing/2014/main" id="{CF23EE15-573F-FA51-3F02-D83371F5A136}"/>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 name="Google Shape;1534;p32">
                <a:extLst>
                  <a:ext uri="{FF2B5EF4-FFF2-40B4-BE49-F238E27FC236}">
                    <a16:creationId xmlns:a16="http://schemas.microsoft.com/office/drawing/2014/main" id="{321B5B4F-3C15-EB7F-0E73-DBD18A492FA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 name="Google Shape;1535;p32">
                <a:extLst>
                  <a:ext uri="{FF2B5EF4-FFF2-40B4-BE49-F238E27FC236}">
                    <a16:creationId xmlns:a16="http://schemas.microsoft.com/office/drawing/2014/main" id="{8B931EFC-918E-3947-8989-581575B5739F}"/>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36;p32">
                <a:extLst>
                  <a:ext uri="{FF2B5EF4-FFF2-40B4-BE49-F238E27FC236}">
                    <a16:creationId xmlns:a16="http://schemas.microsoft.com/office/drawing/2014/main" id="{D88C3A8E-B211-FCAE-B600-76447F78530E}"/>
                  </a:ext>
                </a:extLst>
              </p:cNvPr>
              <p:cNvCxnSpPr>
                <a:stCxn id="55" idx="5"/>
                <a:endCxn id="54"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37;p32">
                <a:extLst>
                  <a:ext uri="{FF2B5EF4-FFF2-40B4-BE49-F238E27FC236}">
                    <a16:creationId xmlns:a16="http://schemas.microsoft.com/office/drawing/2014/main" id="{F5E47A8F-C192-4E8D-1393-6A7F8F15275B}"/>
                  </a:ext>
                </a:extLst>
              </p:cNvPr>
              <p:cNvCxnSpPr>
                <a:stCxn id="56" idx="4"/>
                <a:endCxn id="54"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38;p32">
                <a:extLst>
                  <a:ext uri="{FF2B5EF4-FFF2-40B4-BE49-F238E27FC236}">
                    <a16:creationId xmlns:a16="http://schemas.microsoft.com/office/drawing/2014/main" id="{DA4A9430-59BC-C9D5-87C3-83E14F215DC7}"/>
                  </a:ext>
                </a:extLst>
              </p:cNvPr>
              <p:cNvCxnSpPr>
                <a:stCxn id="51" idx="6"/>
                <a:endCxn id="54"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39;p32">
                <a:extLst>
                  <a:ext uri="{FF2B5EF4-FFF2-40B4-BE49-F238E27FC236}">
                    <a16:creationId xmlns:a16="http://schemas.microsoft.com/office/drawing/2014/main" id="{FBA97DD1-8A39-ED90-ACB8-611A181209F9}"/>
                  </a:ext>
                </a:extLst>
              </p:cNvPr>
              <p:cNvCxnSpPr>
                <a:stCxn id="51" idx="0"/>
                <a:endCxn id="55"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0;p32">
                <a:extLst>
                  <a:ext uri="{FF2B5EF4-FFF2-40B4-BE49-F238E27FC236}">
                    <a16:creationId xmlns:a16="http://schemas.microsoft.com/office/drawing/2014/main" id="{7EE19BE8-D287-4BD1-0CC3-209805C07E49}"/>
                  </a:ext>
                </a:extLst>
              </p:cNvPr>
              <p:cNvCxnSpPr>
                <a:stCxn id="55" idx="7"/>
                <a:endCxn id="56"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72" name="Google Shape;1541;p32">
                <a:extLst>
                  <a:ext uri="{FF2B5EF4-FFF2-40B4-BE49-F238E27FC236}">
                    <a16:creationId xmlns:a16="http://schemas.microsoft.com/office/drawing/2014/main" id="{50E43AEF-BA94-28BC-BA7D-A6EA29CA8309}"/>
                  </a:ext>
                </a:extLst>
              </p:cNvPr>
              <p:cNvCxnSpPr>
                <a:stCxn id="56" idx="6"/>
                <a:endCxn id="5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73" name="Google Shape;1542;p32">
                <a:extLst>
                  <a:ext uri="{FF2B5EF4-FFF2-40B4-BE49-F238E27FC236}">
                    <a16:creationId xmlns:a16="http://schemas.microsoft.com/office/drawing/2014/main" id="{134C41F0-9DC3-10A6-4C4F-5420A7F43DCD}"/>
                  </a:ext>
                </a:extLst>
              </p:cNvPr>
              <p:cNvCxnSpPr>
                <a:stCxn id="54" idx="7"/>
                <a:endCxn id="5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74" name="Google Shape;1543;p32">
                <a:extLst>
                  <a:ext uri="{FF2B5EF4-FFF2-40B4-BE49-F238E27FC236}">
                    <a16:creationId xmlns:a16="http://schemas.microsoft.com/office/drawing/2014/main" id="{7A2FDE25-8BC1-401F-D175-F0B0B3D9341C}"/>
                  </a:ext>
                </a:extLst>
              </p:cNvPr>
              <p:cNvCxnSpPr>
                <a:stCxn id="51" idx="5"/>
                <a:endCxn id="57"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75" name="Google Shape;1544;p32">
                <a:extLst>
                  <a:ext uri="{FF2B5EF4-FFF2-40B4-BE49-F238E27FC236}">
                    <a16:creationId xmlns:a16="http://schemas.microsoft.com/office/drawing/2014/main" id="{DB2459CB-0090-57DE-A0E2-819E17D03A86}"/>
                  </a:ext>
                </a:extLst>
              </p:cNvPr>
              <p:cNvCxnSpPr>
                <a:stCxn id="57" idx="7"/>
                <a:endCxn id="54"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76" name="Google Shape;1545;p32">
                <a:extLst>
                  <a:ext uri="{FF2B5EF4-FFF2-40B4-BE49-F238E27FC236}">
                    <a16:creationId xmlns:a16="http://schemas.microsoft.com/office/drawing/2014/main" id="{603354C7-33C5-80B0-06AA-4A3C3E96A900}"/>
                  </a:ext>
                </a:extLst>
              </p:cNvPr>
              <p:cNvCxnSpPr>
                <a:stCxn id="57" idx="5"/>
                <a:endCxn id="5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477" name="Google Shape;1546;p32">
                <a:extLst>
                  <a:ext uri="{FF2B5EF4-FFF2-40B4-BE49-F238E27FC236}">
                    <a16:creationId xmlns:a16="http://schemas.microsoft.com/office/drawing/2014/main" id="{0EA11F42-EB40-9028-5AD2-39869B13DCA2}"/>
                  </a:ext>
                </a:extLst>
              </p:cNvPr>
              <p:cNvCxnSpPr>
                <a:stCxn id="53" idx="0"/>
                <a:endCxn id="54"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47;p32">
                <a:extLst>
                  <a:ext uri="{FF2B5EF4-FFF2-40B4-BE49-F238E27FC236}">
                    <a16:creationId xmlns:a16="http://schemas.microsoft.com/office/drawing/2014/main" id="{81C5D30D-FC7E-9B68-DA58-E368D0FA14E2}"/>
                  </a:ext>
                </a:extLst>
              </p:cNvPr>
              <p:cNvCxnSpPr>
                <a:stCxn id="53" idx="7"/>
                <a:endCxn id="58"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48;p32">
                <a:extLst>
                  <a:ext uri="{FF2B5EF4-FFF2-40B4-BE49-F238E27FC236}">
                    <a16:creationId xmlns:a16="http://schemas.microsoft.com/office/drawing/2014/main" id="{6A38678A-621D-EC6E-87EA-14817849F5D7}"/>
                  </a:ext>
                </a:extLst>
              </p:cNvPr>
              <p:cNvCxnSpPr>
                <a:stCxn id="54" idx="6"/>
                <a:endCxn id="58"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480" name="Google Shape;1549;p32">
                <a:extLst>
                  <a:ext uri="{FF2B5EF4-FFF2-40B4-BE49-F238E27FC236}">
                    <a16:creationId xmlns:a16="http://schemas.microsoft.com/office/drawing/2014/main" id="{C3E6D3F8-4F6B-52D2-7316-022267DBE3FD}"/>
                  </a:ext>
                </a:extLst>
              </p:cNvPr>
              <p:cNvCxnSpPr>
                <a:stCxn id="58" idx="0"/>
                <a:endCxn id="5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550;p32">
                <a:extLst>
                  <a:ext uri="{FF2B5EF4-FFF2-40B4-BE49-F238E27FC236}">
                    <a16:creationId xmlns:a16="http://schemas.microsoft.com/office/drawing/2014/main" id="{6074D7C9-BBDC-6397-698C-8F2BBFD7E8C6}"/>
                  </a:ext>
                </a:extLst>
              </p:cNvPr>
              <p:cNvCxnSpPr>
                <a:cxnSpLocks/>
              </p:cNvCxnSpPr>
              <p:nvPr/>
            </p:nvCxnSpPr>
            <p:spPr>
              <a:xfrm rot="10800000">
                <a:off x="2170094" y="1400649"/>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551;p32">
                <a:extLst>
                  <a:ext uri="{FF2B5EF4-FFF2-40B4-BE49-F238E27FC236}">
                    <a16:creationId xmlns:a16="http://schemas.microsoft.com/office/drawing/2014/main" id="{15A9C8E3-1DE5-0885-55D6-04D70AF44F51}"/>
                  </a:ext>
                </a:extLst>
              </p:cNvPr>
              <p:cNvCxnSpPr>
                <a:stCxn id="52" idx="4"/>
                <a:endCxn id="5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552;p32">
                <a:extLst>
                  <a:ext uri="{FF2B5EF4-FFF2-40B4-BE49-F238E27FC236}">
                    <a16:creationId xmlns:a16="http://schemas.microsoft.com/office/drawing/2014/main" id="{79475A83-54A5-7E3A-B708-FC7FD7C78D31}"/>
                  </a:ext>
                </a:extLst>
              </p:cNvPr>
              <p:cNvCxnSpPr>
                <a:stCxn id="51" idx="5"/>
                <a:endCxn id="5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484" name="Google Shape;1553;p32">
                <a:extLst>
                  <a:ext uri="{FF2B5EF4-FFF2-40B4-BE49-F238E27FC236}">
                    <a16:creationId xmlns:a16="http://schemas.microsoft.com/office/drawing/2014/main" id="{863C5D0D-0E3D-205F-A5E3-0AEFC9BAD352}"/>
                  </a:ext>
                </a:extLst>
              </p:cNvPr>
              <p:cNvSpPr/>
              <p:nvPr/>
            </p:nvSpPr>
            <p:spPr>
              <a:xfrm rot="10800000">
                <a:off x="-207356" y="2106208"/>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5" name="Google Shape;1554;p32">
                <a:extLst>
                  <a:ext uri="{FF2B5EF4-FFF2-40B4-BE49-F238E27FC236}">
                    <a16:creationId xmlns:a16="http://schemas.microsoft.com/office/drawing/2014/main" id="{B95AC642-D322-B5DB-1603-A2F4A4EE4494}"/>
                  </a:ext>
                </a:extLst>
              </p:cNvPr>
              <p:cNvCxnSpPr>
                <a:stCxn id="58" idx="4"/>
                <a:endCxn id="1484" idx="7"/>
              </p:cNvCxnSpPr>
              <p:nvPr/>
            </p:nvCxnSpPr>
            <p:spPr>
              <a:xfrm flipH="1" flipV="1">
                <a:off x="-184291" y="2240643"/>
                <a:ext cx="690009" cy="110627"/>
              </a:xfrm>
              <a:prstGeom prst="straightConnector1">
                <a:avLst/>
              </a:prstGeom>
              <a:noFill/>
              <a:ln w="9525" cap="flat" cmpd="sng">
                <a:solidFill>
                  <a:schemeClr val="dk2"/>
                </a:solidFill>
                <a:prstDash val="solid"/>
                <a:round/>
                <a:headEnd type="none" w="med" len="med"/>
                <a:tailEnd type="none" w="med" len="med"/>
              </a:ln>
            </p:spPr>
          </p:cxnSp>
          <p:cxnSp>
            <p:nvCxnSpPr>
              <p:cNvPr id="1486" name="Google Shape;1555;p32">
                <a:extLst>
                  <a:ext uri="{FF2B5EF4-FFF2-40B4-BE49-F238E27FC236}">
                    <a16:creationId xmlns:a16="http://schemas.microsoft.com/office/drawing/2014/main" id="{079E420D-EBFB-851F-3ACC-3668C340D556}"/>
                  </a:ext>
                </a:extLst>
              </p:cNvPr>
              <p:cNvCxnSpPr>
                <a:cxnSpLocks/>
              </p:cNvCxnSpPr>
              <p:nvPr/>
            </p:nvCxnSpPr>
            <p:spPr>
              <a:xfrm>
                <a:off x="-3362105" y="2207670"/>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487" name="Google Shape;1556;p32">
                <a:extLst>
                  <a:ext uri="{FF2B5EF4-FFF2-40B4-BE49-F238E27FC236}">
                    <a16:creationId xmlns:a16="http://schemas.microsoft.com/office/drawing/2014/main" id="{EC17707B-7F6B-29EA-0847-81691DBAA624}"/>
                  </a:ext>
                </a:extLst>
              </p:cNvPr>
              <p:cNvCxnSpPr>
                <a:cxnSpLocks/>
              </p:cNvCxnSpPr>
              <p:nvPr/>
            </p:nvCxnSpPr>
            <p:spPr>
              <a:xfrm>
                <a:off x="-2971571" y="1783048"/>
                <a:ext cx="302700" cy="2727899"/>
              </a:xfrm>
              <a:prstGeom prst="straightConnector1">
                <a:avLst/>
              </a:prstGeom>
              <a:noFill/>
              <a:ln w="9525" cap="flat" cmpd="sng">
                <a:solidFill>
                  <a:schemeClr val="dk2"/>
                </a:solidFill>
                <a:prstDash val="solid"/>
                <a:round/>
                <a:headEnd type="none" w="med" len="med"/>
                <a:tailEnd type="none" w="med" len="med"/>
              </a:ln>
            </p:spPr>
          </p:cxnSp>
          <p:cxnSp>
            <p:nvCxnSpPr>
              <p:cNvPr id="1488" name="Google Shape;1557;p32">
                <a:extLst>
                  <a:ext uri="{FF2B5EF4-FFF2-40B4-BE49-F238E27FC236}">
                    <a16:creationId xmlns:a16="http://schemas.microsoft.com/office/drawing/2014/main" id="{7BF17810-34E2-213C-701D-F961B30D7AB2}"/>
                  </a:ext>
                </a:extLst>
              </p:cNvPr>
              <p:cNvCxnSpPr>
                <a:stCxn id="1484" idx="1"/>
                <a:endCxn id="54" idx="5"/>
              </p:cNvCxnSpPr>
              <p:nvPr/>
            </p:nvCxnSpPr>
            <p:spPr>
              <a:xfrm>
                <a:off x="-72922" y="2240643"/>
                <a:ext cx="2350913" cy="288292"/>
              </a:xfrm>
              <a:prstGeom prst="straightConnector1">
                <a:avLst/>
              </a:prstGeom>
              <a:noFill/>
              <a:ln w="9525" cap="flat" cmpd="sng">
                <a:solidFill>
                  <a:schemeClr val="dk2"/>
                </a:solidFill>
                <a:prstDash val="solid"/>
                <a:round/>
                <a:headEnd type="none" w="med" len="med"/>
                <a:tailEnd type="none" w="med" len="med"/>
              </a:ln>
            </p:spPr>
          </p:cxnSp>
          <p:sp>
            <p:nvSpPr>
              <p:cNvPr id="1489" name="Google Shape;1558;p32">
                <a:extLst>
                  <a:ext uri="{FF2B5EF4-FFF2-40B4-BE49-F238E27FC236}">
                    <a16:creationId xmlns:a16="http://schemas.microsoft.com/office/drawing/2014/main" id="{30B94846-A7E7-054E-314B-5EC9FF3C706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90" name="Google Shape;1559;p32">
                <a:extLst>
                  <a:ext uri="{FF2B5EF4-FFF2-40B4-BE49-F238E27FC236}">
                    <a16:creationId xmlns:a16="http://schemas.microsoft.com/office/drawing/2014/main" id="{CECE6F59-9AC8-A872-DA0F-B2D704CC1A9F}"/>
                  </a:ext>
                </a:extLst>
              </p:cNvPr>
              <p:cNvCxnSpPr>
                <a:cxnSpLocks/>
              </p:cNvCxnSpPr>
              <p:nvPr/>
            </p:nvCxnSpPr>
            <p:spPr>
              <a:xfrm rot="10800000" flipH="1">
                <a:off x="3204200" y="175518"/>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491" name="Google Shape;1560;p32">
                <a:extLst>
                  <a:ext uri="{FF2B5EF4-FFF2-40B4-BE49-F238E27FC236}">
                    <a16:creationId xmlns:a16="http://schemas.microsoft.com/office/drawing/2014/main" id="{A53C9E02-5547-BEA7-2185-8DC9B1069844}"/>
                  </a:ext>
                </a:extLst>
              </p:cNvPr>
              <p:cNvCxnSpPr>
                <a:stCxn id="1489" idx="1"/>
                <a:endCxn id="57"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17" name="Google Shape;1527;p32">
              <a:extLst>
                <a:ext uri="{FF2B5EF4-FFF2-40B4-BE49-F238E27FC236}">
                  <a16:creationId xmlns:a16="http://schemas.microsoft.com/office/drawing/2014/main" id="{4EACBD7B-06F3-6CAC-B3DF-88E97570BD9D}"/>
                </a:ext>
              </a:extLst>
            </p:cNvPr>
            <p:cNvGrpSpPr/>
            <p:nvPr/>
          </p:nvGrpSpPr>
          <p:grpSpPr>
            <a:xfrm rot="8810917">
              <a:off x="-1825469" y="-1176520"/>
              <a:ext cx="3200329" cy="3127770"/>
              <a:chOff x="447667" y="285337"/>
              <a:chExt cx="3863732" cy="3776132"/>
            </a:xfrm>
          </p:grpSpPr>
          <p:sp>
            <p:nvSpPr>
              <p:cNvPr id="18" name="Google Shape;1528;p32">
                <a:extLst>
                  <a:ext uri="{FF2B5EF4-FFF2-40B4-BE49-F238E27FC236}">
                    <a16:creationId xmlns:a16="http://schemas.microsoft.com/office/drawing/2014/main" id="{92A0A166-09AA-ABC1-6AF4-0041A5B133E7}"/>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529;p32">
                <a:extLst>
                  <a:ext uri="{FF2B5EF4-FFF2-40B4-BE49-F238E27FC236}">
                    <a16:creationId xmlns:a16="http://schemas.microsoft.com/office/drawing/2014/main" id="{52C7EF4C-0C35-39F2-253F-A594516FEEFD}"/>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1530;p32">
                <a:extLst>
                  <a:ext uri="{FF2B5EF4-FFF2-40B4-BE49-F238E27FC236}">
                    <a16:creationId xmlns:a16="http://schemas.microsoft.com/office/drawing/2014/main" id="{296C8DEE-A976-9D85-93FC-2D15A5AF5201}"/>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531;p32">
                <a:extLst>
                  <a:ext uri="{FF2B5EF4-FFF2-40B4-BE49-F238E27FC236}">
                    <a16:creationId xmlns:a16="http://schemas.microsoft.com/office/drawing/2014/main" id="{70B9DEB4-9ECE-3409-3CB6-2F34019737E9}"/>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532;p32">
                <a:extLst>
                  <a:ext uri="{FF2B5EF4-FFF2-40B4-BE49-F238E27FC236}">
                    <a16:creationId xmlns:a16="http://schemas.microsoft.com/office/drawing/2014/main" id="{31291DD7-F51E-34B6-D7FD-F7FA5482430A}"/>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533;p32">
                <a:extLst>
                  <a:ext uri="{FF2B5EF4-FFF2-40B4-BE49-F238E27FC236}">
                    <a16:creationId xmlns:a16="http://schemas.microsoft.com/office/drawing/2014/main" id="{98345D07-1E3A-D812-8D2D-027F8D1D12AA}"/>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534;p32">
                <a:extLst>
                  <a:ext uri="{FF2B5EF4-FFF2-40B4-BE49-F238E27FC236}">
                    <a16:creationId xmlns:a16="http://schemas.microsoft.com/office/drawing/2014/main" id="{A83CFE1E-6B6A-43EC-82B3-DE35DD0FAA5A}"/>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5" name="Google Shape;1535;p32">
                <a:extLst>
                  <a:ext uri="{FF2B5EF4-FFF2-40B4-BE49-F238E27FC236}">
                    <a16:creationId xmlns:a16="http://schemas.microsoft.com/office/drawing/2014/main" id="{3BDFB2C8-587D-1B77-21DF-3DD0D01469D7}"/>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6" name="Google Shape;1536;p32">
                <a:extLst>
                  <a:ext uri="{FF2B5EF4-FFF2-40B4-BE49-F238E27FC236}">
                    <a16:creationId xmlns:a16="http://schemas.microsoft.com/office/drawing/2014/main" id="{F2F841D3-E775-4359-E3D2-22E11BF3805A}"/>
                  </a:ext>
                </a:extLst>
              </p:cNvPr>
              <p:cNvCxnSpPr>
                <a:stCxn id="22" idx="5"/>
                <a:endCxn id="2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37;p32">
                <a:extLst>
                  <a:ext uri="{FF2B5EF4-FFF2-40B4-BE49-F238E27FC236}">
                    <a16:creationId xmlns:a16="http://schemas.microsoft.com/office/drawing/2014/main" id="{8D38B6E7-E3CE-DF32-F787-2C81F53CC0A2}"/>
                  </a:ext>
                </a:extLst>
              </p:cNvPr>
              <p:cNvCxnSpPr>
                <a:stCxn id="23" idx="4"/>
                <a:endCxn id="2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38;p32">
                <a:extLst>
                  <a:ext uri="{FF2B5EF4-FFF2-40B4-BE49-F238E27FC236}">
                    <a16:creationId xmlns:a16="http://schemas.microsoft.com/office/drawing/2014/main" id="{F3D9C00B-22AF-699C-69BE-8F3CC544C98F}"/>
                  </a:ext>
                </a:extLst>
              </p:cNvPr>
              <p:cNvCxnSpPr>
                <a:stCxn id="18" idx="6"/>
                <a:endCxn id="2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39;p32">
                <a:extLst>
                  <a:ext uri="{FF2B5EF4-FFF2-40B4-BE49-F238E27FC236}">
                    <a16:creationId xmlns:a16="http://schemas.microsoft.com/office/drawing/2014/main" id="{4F951C78-035E-4DD5-4C61-9EBB414E1C01}"/>
                  </a:ext>
                </a:extLst>
              </p:cNvPr>
              <p:cNvCxnSpPr>
                <a:stCxn id="18" idx="0"/>
                <a:endCxn id="2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0;p32">
                <a:extLst>
                  <a:ext uri="{FF2B5EF4-FFF2-40B4-BE49-F238E27FC236}">
                    <a16:creationId xmlns:a16="http://schemas.microsoft.com/office/drawing/2014/main" id="{4BF94961-8C35-C91E-ECD4-F7E3AF2B164D}"/>
                  </a:ext>
                </a:extLst>
              </p:cNvPr>
              <p:cNvCxnSpPr>
                <a:stCxn id="22" idx="7"/>
                <a:endCxn id="2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1;p32">
                <a:extLst>
                  <a:ext uri="{FF2B5EF4-FFF2-40B4-BE49-F238E27FC236}">
                    <a16:creationId xmlns:a16="http://schemas.microsoft.com/office/drawing/2014/main" id="{4D6D195C-2414-4445-1E7F-C43728294A7C}"/>
                  </a:ext>
                </a:extLst>
              </p:cNvPr>
              <p:cNvCxnSpPr>
                <a:stCxn id="23" idx="6"/>
                <a:endCxn id="1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42;p32">
                <a:extLst>
                  <a:ext uri="{FF2B5EF4-FFF2-40B4-BE49-F238E27FC236}">
                    <a16:creationId xmlns:a16="http://schemas.microsoft.com/office/drawing/2014/main" id="{CDAF5241-2ED4-BC49-B300-4C7F3463C1F9}"/>
                  </a:ext>
                </a:extLst>
              </p:cNvPr>
              <p:cNvCxnSpPr>
                <a:stCxn id="21" idx="7"/>
                <a:endCxn id="1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43;p32">
                <a:extLst>
                  <a:ext uri="{FF2B5EF4-FFF2-40B4-BE49-F238E27FC236}">
                    <a16:creationId xmlns:a16="http://schemas.microsoft.com/office/drawing/2014/main" id="{C64E914C-0C81-300A-4CC3-9D30310C2FF5}"/>
                  </a:ext>
                </a:extLst>
              </p:cNvPr>
              <p:cNvCxnSpPr>
                <a:stCxn id="18" idx="5"/>
                <a:endCxn id="2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44;p32">
                <a:extLst>
                  <a:ext uri="{FF2B5EF4-FFF2-40B4-BE49-F238E27FC236}">
                    <a16:creationId xmlns:a16="http://schemas.microsoft.com/office/drawing/2014/main" id="{6AB20D03-8EFD-F1A9-A127-CE85727A19F3}"/>
                  </a:ext>
                </a:extLst>
              </p:cNvPr>
              <p:cNvCxnSpPr>
                <a:stCxn id="24" idx="7"/>
                <a:endCxn id="2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1545;p32">
                <a:extLst>
                  <a:ext uri="{FF2B5EF4-FFF2-40B4-BE49-F238E27FC236}">
                    <a16:creationId xmlns:a16="http://schemas.microsoft.com/office/drawing/2014/main" id="{17633585-6C24-498D-29D5-8DDDD74FE271}"/>
                  </a:ext>
                </a:extLst>
              </p:cNvPr>
              <p:cNvCxnSpPr>
                <a:stCxn id="24" idx="5"/>
                <a:endCxn id="2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1546;p32">
                <a:extLst>
                  <a:ext uri="{FF2B5EF4-FFF2-40B4-BE49-F238E27FC236}">
                    <a16:creationId xmlns:a16="http://schemas.microsoft.com/office/drawing/2014/main" id="{7560200B-F494-3F36-823B-E61D70BD85D0}"/>
                  </a:ext>
                </a:extLst>
              </p:cNvPr>
              <p:cNvCxnSpPr>
                <a:stCxn id="20" idx="0"/>
                <a:endCxn id="2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47;p32">
                <a:extLst>
                  <a:ext uri="{FF2B5EF4-FFF2-40B4-BE49-F238E27FC236}">
                    <a16:creationId xmlns:a16="http://schemas.microsoft.com/office/drawing/2014/main" id="{7BD79C22-16D7-2D62-9FF1-BCDB78FCFE2E}"/>
                  </a:ext>
                </a:extLst>
              </p:cNvPr>
              <p:cNvCxnSpPr>
                <a:stCxn id="20" idx="7"/>
                <a:endCxn id="2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48;p32">
                <a:extLst>
                  <a:ext uri="{FF2B5EF4-FFF2-40B4-BE49-F238E27FC236}">
                    <a16:creationId xmlns:a16="http://schemas.microsoft.com/office/drawing/2014/main" id="{68D3C057-D8A8-D662-6F0C-60DA2B8F3CAC}"/>
                  </a:ext>
                </a:extLst>
              </p:cNvPr>
              <p:cNvCxnSpPr>
                <a:stCxn id="21" idx="6"/>
                <a:endCxn id="2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49;p32">
                <a:extLst>
                  <a:ext uri="{FF2B5EF4-FFF2-40B4-BE49-F238E27FC236}">
                    <a16:creationId xmlns:a16="http://schemas.microsoft.com/office/drawing/2014/main" id="{5337638D-5680-B39B-93E0-C88D0476A8E6}"/>
                  </a:ext>
                </a:extLst>
              </p:cNvPr>
              <p:cNvCxnSpPr>
                <a:stCxn id="25" idx="0"/>
                <a:endCxn id="1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50;p32">
                <a:extLst>
                  <a:ext uri="{FF2B5EF4-FFF2-40B4-BE49-F238E27FC236}">
                    <a16:creationId xmlns:a16="http://schemas.microsoft.com/office/drawing/2014/main" id="{DC9BAA78-B3D8-222A-B7A3-D405C4EE0B93}"/>
                  </a:ext>
                </a:extLst>
              </p:cNvPr>
              <p:cNvCxnSpPr>
                <a:stCxn id="22" idx="4"/>
                <a:endCxn id="2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51;p32">
                <a:extLst>
                  <a:ext uri="{FF2B5EF4-FFF2-40B4-BE49-F238E27FC236}">
                    <a16:creationId xmlns:a16="http://schemas.microsoft.com/office/drawing/2014/main" id="{CBF59A5A-CCD9-E752-4B82-8A232E0A158F}"/>
                  </a:ext>
                </a:extLst>
              </p:cNvPr>
              <p:cNvCxnSpPr>
                <a:stCxn id="19" idx="4"/>
                <a:endCxn id="2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52;p32">
                <a:extLst>
                  <a:ext uri="{FF2B5EF4-FFF2-40B4-BE49-F238E27FC236}">
                    <a16:creationId xmlns:a16="http://schemas.microsoft.com/office/drawing/2014/main" id="{8AF78024-4F09-7F2C-ACA2-E39C27C4D94C}"/>
                  </a:ext>
                </a:extLst>
              </p:cNvPr>
              <p:cNvCxnSpPr>
                <a:stCxn id="18" idx="5"/>
                <a:endCxn id="2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43" name="Google Shape;1553;p32">
                <a:extLst>
                  <a:ext uri="{FF2B5EF4-FFF2-40B4-BE49-F238E27FC236}">
                    <a16:creationId xmlns:a16="http://schemas.microsoft.com/office/drawing/2014/main" id="{3E7E9FA3-9A93-E383-2CCF-BBDFFD3B4E83}"/>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4" name="Google Shape;1554;p32">
                <a:extLst>
                  <a:ext uri="{FF2B5EF4-FFF2-40B4-BE49-F238E27FC236}">
                    <a16:creationId xmlns:a16="http://schemas.microsoft.com/office/drawing/2014/main" id="{3810A941-BF50-238F-893F-245930F7C1A8}"/>
                  </a:ext>
                </a:extLst>
              </p:cNvPr>
              <p:cNvCxnSpPr>
                <a:stCxn id="25" idx="4"/>
                <a:endCxn id="4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55;p32">
                <a:extLst>
                  <a:ext uri="{FF2B5EF4-FFF2-40B4-BE49-F238E27FC236}">
                    <a16:creationId xmlns:a16="http://schemas.microsoft.com/office/drawing/2014/main" id="{46A39762-4931-E515-CB4B-79EE53AAAC72}"/>
                  </a:ext>
                </a:extLst>
              </p:cNvPr>
              <p:cNvCxnSpPr>
                <a:stCxn id="43" idx="2"/>
                <a:endCxn id="2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56;p32">
                <a:extLst>
                  <a:ext uri="{FF2B5EF4-FFF2-40B4-BE49-F238E27FC236}">
                    <a16:creationId xmlns:a16="http://schemas.microsoft.com/office/drawing/2014/main" id="{A2F0B927-ACF2-A807-8C55-D5DE095ADCAA}"/>
                  </a:ext>
                </a:extLst>
              </p:cNvPr>
              <p:cNvCxnSpPr>
                <a:stCxn id="43" idx="0"/>
                <a:endCxn id="1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57;p32">
                <a:extLst>
                  <a:ext uri="{FF2B5EF4-FFF2-40B4-BE49-F238E27FC236}">
                    <a16:creationId xmlns:a16="http://schemas.microsoft.com/office/drawing/2014/main" id="{F8DB701A-761C-1C0D-54D0-336E93E5F57F}"/>
                  </a:ext>
                </a:extLst>
              </p:cNvPr>
              <p:cNvCxnSpPr>
                <a:stCxn id="43" idx="1"/>
                <a:endCxn id="2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8" name="Google Shape;1558;p32">
                <a:extLst>
                  <a:ext uri="{FF2B5EF4-FFF2-40B4-BE49-F238E27FC236}">
                    <a16:creationId xmlns:a16="http://schemas.microsoft.com/office/drawing/2014/main" id="{367E4DE7-39EE-66B5-015F-29DD2F6EE99D}"/>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9" name="Google Shape;1559;p32">
                <a:extLst>
                  <a:ext uri="{FF2B5EF4-FFF2-40B4-BE49-F238E27FC236}">
                    <a16:creationId xmlns:a16="http://schemas.microsoft.com/office/drawing/2014/main" id="{700B63FA-1030-619F-214B-2A152E2D828C}"/>
                  </a:ext>
                </a:extLst>
              </p:cNvPr>
              <p:cNvCxnSpPr>
                <a:stCxn id="43" idx="2"/>
                <a:endCxn id="4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60;p32">
                <a:extLst>
                  <a:ext uri="{FF2B5EF4-FFF2-40B4-BE49-F238E27FC236}">
                    <a16:creationId xmlns:a16="http://schemas.microsoft.com/office/drawing/2014/main" id="{614BB3E5-04B3-5C4D-CC96-6F7CB3932A14}"/>
                  </a:ext>
                </a:extLst>
              </p:cNvPr>
              <p:cNvCxnSpPr>
                <a:stCxn id="48" idx="1"/>
                <a:endCxn id="2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450535" y="1944922"/>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980952" y="713034"/>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sz="3600" dirty="0" err="1"/>
              <a:t>Algorithmes</a:t>
            </a:r>
            <a:r>
              <a:rPr lang="en-US" sz="3600" dirty="0"/>
              <a:t> </a:t>
            </a:r>
            <a:r>
              <a:rPr lang="en-US" sz="3600" dirty="0" err="1"/>
              <a:t>classiques</a:t>
            </a:r>
            <a:endParaRPr lang="fr-FR" sz="3600"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32" name="ZoneTexte 31">
            <a:extLst>
              <a:ext uri="{FF2B5EF4-FFF2-40B4-BE49-F238E27FC236}">
                <a16:creationId xmlns:a16="http://schemas.microsoft.com/office/drawing/2014/main" id="{415BDAE0-1486-137F-A5B4-7316D9F748D1}"/>
              </a:ext>
            </a:extLst>
          </p:cNvPr>
          <p:cNvSpPr txBox="1"/>
          <p:nvPr/>
        </p:nvSpPr>
        <p:spPr>
          <a:xfrm>
            <a:off x="1090539" y="2038053"/>
            <a:ext cx="6205403" cy="523220"/>
          </a:xfrm>
          <a:prstGeom prst="rect">
            <a:avLst/>
          </a:prstGeom>
          <a:noFill/>
        </p:spPr>
        <p:txBody>
          <a:bodyPr wrap="square" rtlCol="0">
            <a:spAutoFit/>
          </a:bodyPr>
          <a:lstStyle/>
          <a:p>
            <a:r>
              <a:rPr lang="en-US" sz="2800" b="1" dirty="0" err="1">
                <a:solidFill>
                  <a:srgbClr val="002060"/>
                </a:solidFill>
              </a:rPr>
              <a:t>I.Algorithmes</a:t>
            </a:r>
            <a:r>
              <a:rPr lang="en-US" sz="2800" b="1" u="sng" dirty="0">
                <a:solidFill>
                  <a:srgbClr val="002060"/>
                </a:solidFill>
              </a:rPr>
              <a:t> de </a:t>
            </a:r>
            <a:r>
              <a:rPr lang="en-US" sz="2800" b="1" dirty="0" err="1">
                <a:solidFill>
                  <a:srgbClr val="002060"/>
                </a:solidFill>
              </a:rPr>
              <a:t>parcours</a:t>
            </a:r>
            <a:endParaRPr lang="fr-FR" sz="2800" b="1" dirty="0">
              <a:solidFill>
                <a:srgbClr val="002060"/>
              </a:solidFill>
            </a:endParaRPr>
          </a:p>
        </p:txBody>
      </p:sp>
      <p:sp>
        <p:nvSpPr>
          <p:cNvPr id="2" name="ZoneTexte 1">
            <a:extLst>
              <a:ext uri="{FF2B5EF4-FFF2-40B4-BE49-F238E27FC236}">
                <a16:creationId xmlns:a16="http://schemas.microsoft.com/office/drawing/2014/main" id="{049E9D50-E645-DCD7-5867-56DB92FA8E3C}"/>
              </a:ext>
            </a:extLst>
          </p:cNvPr>
          <p:cNvSpPr txBox="1"/>
          <p:nvPr/>
        </p:nvSpPr>
        <p:spPr>
          <a:xfrm>
            <a:off x="1131351" y="3130799"/>
            <a:ext cx="5564611" cy="461665"/>
          </a:xfrm>
          <a:prstGeom prst="rect">
            <a:avLst/>
          </a:prstGeom>
          <a:noFill/>
        </p:spPr>
        <p:txBody>
          <a:bodyPr wrap="square" rtlCol="0">
            <a:spAutoFit/>
          </a:bodyPr>
          <a:lstStyle/>
          <a:p>
            <a:r>
              <a:rPr lang="fr-FR" sz="2400" b="1" dirty="0" err="1">
                <a:solidFill>
                  <a:srgbClr val="002060"/>
                </a:solidFill>
              </a:rPr>
              <a:t>II.Recherche</a:t>
            </a:r>
            <a:r>
              <a:rPr lang="fr-FR" sz="2400" b="1" u="sng" dirty="0">
                <a:solidFill>
                  <a:srgbClr val="002060"/>
                </a:solidFill>
              </a:rPr>
              <a:t> du plus court chemin</a:t>
            </a:r>
          </a:p>
        </p:txBody>
      </p:sp>
    </p:spTree>
    <p:extLst>
      <p:ext uri="{BB962C8B-B14F-4D97-AF65-F5344CB8AC3E}">
        <p14:creationId xmlns:p14="http://schemas.microsoft.com/office/powerpoint/2010/main" val="11754656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695963" y="3264570"/>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838920" y="315045"/>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dirty="0" err="1"/>
              <a:t>Algorithmes</a:t>
            </a:r>
            <a:r>
              <a:rPr lang="en-US" dirty="0"/>
              <a:t> </a:t>
            </a:r>
            <a:r>
              <a:rPr lang="en-US" dirty="0" err="1"/>
              <a:t>classiques</a:t>
            </a:r>
            <a:endParaRPr lang="fr-FR"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22" name="Rectangle 1">
            <a:extLst>
              <a:ext uri="{FF2B5EF4-FFF2-40B4-BE49-F238E27FC236}">
                <a16:creationId xmlns:a16="http://schemas.microsoft.com/office/drawing/2014/main" id="{B607814E-0A06-93A1-5A5D-334C1B8BD8B8}"/>
              </a:ext>
            </a:extLst>
          </p:cNvPr>
          <p:cNvSpPr>
            <a:spLocks noChangeArrowheads="1"/>
          </p:cNvSpPr>
          <p:nvPr/>
        </p:nvSpPr>
        <p:spPr bwMode="auto">
          <a:xfrm>
            <a:off x="383338" y="1896150"/>
            <a:ext cx="6116491" cy="2308324"/>
          </a:xfrm>
          <a:prstGeom prst="rect">
            <a:avLst/>
          </a:prstGeom>
          <a:no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1" i="0" u="sng" strike="noStrike" cap="none" normalizeH="0" baseline="0" dirty="0">
                <a:ln>
                  <a:noFill/>
                </a:ln>
                <a:solidFill>
                  <a:srgbClr val="002060"/>
                </a:solidFill>
                <a:effectLst/>
                <a:latin typeface="Arial" panose="020B0604020202020204" pitchFamily="34" charset="0"/>
              </a:rPr>
              <a:t>1-Parcours en profondeur (</a:t>
            </a:r>
            <a:r>
              <a:rPr kumimoji="0" lang="fr-FR" altLang="fr-FR" sz="1800" b="1" i="0" u="sng" strike="noStrike" cap="none" normalizeH="0" baseline="0" dirty="0" err="1">
                <a:ln>
                  <a:noFill/>
                </a:ln>
                <a:solidFill>
                  <a:srgbClr val="002060"/>
                </a:solidFill>
                <a:effectLst/>
                <a:latin typeface="Arial" panose="020B0604020202020204" pitchFamily="34" charset="0"/>
              </a:rPr>
              <a:t>Depth</a:t>
            </a:r>
            <a:r>
              <a:rPr kumimoji="0" lang="fr-FR" altLang="fr-FR" sz="1800" b="1" i="0" u="sng" strike="noStrike" cap="none" normalizeH="0" baseline="0" dirty="0">
                <a:ln>
                  <a:noFill/>
                </a:ln>
                <a:solidFill>
                  <a:srgbClr val="002060"/>
                </a:solidFill>
                <a:effectLst/>
                <a:latin typeface="Arial" panose="020B0604020202020204" pitchFamily="34" charset="0"/>
              </a:rPr>
              <a:t>-First </a:t>
            </a:r>
            <a:r>
              <a:rPr kumimoji="0" lang="fr-FR" altLang="fr-FR" sz="1800" b="1" i="0" u="sng" strike="noStrike" cap="none" normalizeH="0" baseline="0" dirty="0" err="1">
                <a:ln>
                  <a:noFill/>
                </a:ln>
                <a:solidFill>
                  <a:srgbClr val="002060"/>
                </a:solidFill>
                <a:effectLst/>
                <a:latin typeface="Arial" panose="020B0604020202020204" pitchFamily="34" charset="0"/>
              </a:rPr>
              <a:t>Search</a:t>
            </a:r>
            <a:r>
              <a:rPr kumimoji="0" lang="fr-FR" altLang="fr-FR" sz="1800" b="1" i="0" u="sng" strike="noStrike" cap="none" normalizeH="0" baseline="0" dirty="0">
                <a:ln>
                  <a:noFill/>
                </a:ln>
                <a:solidFill>
                  <a:srgbClr val="002060"/>
                </a:solidFill>
                <a:effectLst/>
                <a:latin typeface="Arial" panose="020B0604020202020204" pitchFamily="34" charset="0"/>
              </a:rPr>
              <a:t> – DFS)</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L’algorithme de recherche en profondeur est utilisé pour parcourir tous les nœuds d’un</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Graphe en suivant les arêtes en profondeur. Il explore les nœuds autant que possible avant de</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Faire marche arrière. Cet algorithme est utilisé pour détecter les cycles dans un graphe et pour</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Trouver un chemin entre deux nœuds.</a:t>
            </a:r>
          </a:p>
        </p:txBody>
      </p:sp>
      <p:sp>
        <p:nvSpPr>
          <p:cNvPr id="32" name="ZoneTexte 31">
            <a:extLst>
              <a:ext uri="{FF2B5EF4-FFF2-40B4-BE49-F238E27FC236}">
                <a16:creationId xmlns:a16="http://schemas.microsoft.com/office/drawing/2014/main" id="{415BDAE0-1486-137F-A5B4-7316D9F748D1}"/>
              </a:ext>
            </a:extLst>
          </p:cNvPr>
          <p:cNvSpPr txBox="1"/>
          <p:nvPr/>
        </p:nvSpPr>
        <p:spPr>
          <a:xfrm>
            <a:off x="490560" y="1309017"/>
            <a:ext cx="6205403" cy="369332"/>
          </a:xfrm>
          <a:prstGeom prst="rect">
            <a:avLst/>
          </a:prstGeom>
          <a:noFill/>
        </p:spPr>
        <p:txBody>
          <a:bodyPr wrap="square" rtlCol="0">
            <a:spAutoFit/>
          </a:bodyPr>
          <a:lstStyle/>
          <a:p>
            <a:r>
              <a:rPr lang="en-US" b="1" dirty="0" err="1">
                <a:solidFill>
                  <a:srgbClr val="002060"/>
                </a:solidFill>
              </a:rPr>
              <a:t>I</a:t>
            </a:r>
            <a:r>
              <a:rPr lang="en-US" sz="1800" b="1" dirty="0" err="1">
                <a:solidFill>
                  <a:srgbClr val="002060"/>
                </a:solidFill>
              </a:rPr>
              <a:t>.Algorithmes</a:t>
            </a:r>
            <a:r>
              <a:rPr lang="en-US" sz="1800" b="1" dirty="0">
                <a:solidFill>
                  <a:srgbClr val="002060"/>
                </a:solidFill>
              </a:rPr>
              <a:t> de </a:t>
            </a:r>
            <a:r>
              <a:rPr lang="en-US" sz="1800" b="1" dirty="0" err="1">
                <a:solidFill>
                  <a:srgbClr val="002060"/>
                </a:solidFill>
              </a:rPr>
              <a:t>parcours</a:t>
            </a:r>
            <a:endParaRPr lang="fr-FR" sz="1800" b="1"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anim calcmode="lin" valueType="num">
                                      <p:cBhvr>
                                        <p:cTn id="8" dur="500" fill="hold"/>
                                        <p:tgtEl>
                                          <p:spTgt spid="22"/>
                                        </p:tgtEl>
                                        <p:attrNameLst>
                                          <p:attrName>ppt_x</p:attrName>
                                        </p:attrNameLst>
                                      </p:cBhvr>
                                      <p:tavLst>
                                        <p:tav tm="0">
                                          <p:val>
                                            <p:strVal val="#ppt_x"/>
                                          </p:val>
                                        </p:tav>
                                        <p:tav tm="100000">
                                          <p:val>
                                            <p:strVal val="#ppt_x"/>
                                          </p:val>
                                        </p:tav>
                                      </p:tavLst>
                                    </p:anim>
                                    <p:anim calcmode="lin" valueType="num">
                                      <p:cBhvr>
                                        <p:cTn id="9"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2" nodeType="clickEffect">
                                  <p:stCondLst>
                                    <p:cond delay="0"/>
                                  </p:stCondLst>
                                  <p:childTnLst>
                                    <p:animEffect transition="out" filter="fade">
                                      <p:cBhvr>
                                        <p:cTn id="13" dur="500"/>
                                        <p:tgtEl>
                                          <p:spTgt spid="22"/>
                                        </p:tgtEl>
                                      </p:cBhvr>
                                    </p:animEffect>
                                    <p:anim calcmode="lin" valueType="num">
                                      <p:cBhvr>
                                        <p:cTn id="14" dur="500"/>
                                        <p:tgtEl>
                                          <p:spTgt spid="22"/>
                                        </p:tgtEl>
                                        <p:attrNameLst>
                                          <p:attrName>ppt_x</p:attrName>
                                        </p:attrNameLst>
                                      </p:cBhvr>
                                      <p:tavLst>
                                        <p:tav tm="0">
                                          <p:val>
                                            <p:strVal val="ppt_x"/>
                                          </p:val>
                                        </p:tav>
                                        <p:tav tm="100000">
                                          <p:val>
                                            <p:strVal val="ppt_x"/>
                                          </p:val>
                                        </p:tav>
                                      </p:tavLst>
                                    </p:anim>
                                    <p:anim calcmode="lin" valueType="num">
                                      <p:cBhvr>
                                        <p:cTn id="15" dur="500"/>
                                        <p:tgtEl>
                                          <p:spTgt spid="22"/>
                                        </p:tgtEl>
                                        <p:attrNameLst>
                                          <p:attrName>ppt_y</p:attrName>
                                        </p:attrNameLst>
                                      </p:cBhvr>
                                      <p:tavLst>
                                        <p:tav tm="0">
                                          <p:val>
                                            <p:strVal val="ppt_y"/>
                                          </p:val>
                                        </p:tav>
                                        <p:tav tm="100000">
                                          <p:val>
                                            <p:strVal val="ppt_y+.1"/>
                                          </p:val>
                                        </p:tav>
                                      </p:tavLst>
                                    </p:anim>
                                    <p:set>
                                      <p:cBhvr>
                                        <p:cTn id="1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2"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788444" y="2953250"/>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0" y="-285760"/>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sz="2400" dirty="0" err="1"/>
              <a:t>Algorithmes</a:t>
            </a:r>
            <a:r>
              <a:rPr lang="en-US" sz="2400" dirty="0"/>
              <a:t> </a:t>
            </a:r>
            <a:r>
              <a:rPr lang="en-US" sz="2400" dirty="0" err="1"/>
              <a:t>classiques</a:t>
            </a:r>
            <a:endParaRPr lang="fr-FR" sz="2400"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2" name="ZoneTexte 1">
            <a:extLst>
              <a:ext uri="{FF2B5EF4-FFF2-40B4-BE49-F238E27FC236}">
                <a16:creationId xmlns:a16="http://schemas.microsoft.com/office/drawing/2014/main" id="{76DA8FC8-4602-4910-9D9F-9CAEEB2184F0}"/>
              </a:ext>
            </a:extLst>
          </p:cNvPr>
          <p:cNvSpPr txBox="1"/>
          <p:nvPr/>
        </p:nvSpPr>
        <p:spPr>
          <a:xfrm>
            <a:off x="861513" y="1295344"/>
            <a:ext cx="6179247" cy="2585323"/>
          </a:xfrm>
          <a:prstGeom prst="rect">
            <a:avLst/>
          </a:prstGeom>
          <a:solidFill>
            <a:schemeClr val="bg1">
              <a:alpha val="71000"/>
            </a:schemeClr>
          </a:solidFill>
        </p:spPr>
        <p:txBody>
          <a:bodyPr wrap="square">
            <a:spAutoFit/>
          </a:bodyPr>
          <a:lstStyle/>
          <a:p>
            <a:r>
              <a:rPr lang="fr-FR" b="1" u="sng" dirty="0">
                <a:solidFill>
                  <a:srgbClr val="002060"/>
                </a:solidFill>
              </a:rPr>
              <a:t>2-</a:t>
            </a:r>
            <a:r>
              <a:rPr lang="fr-FR" sz="1800" b="1" u="sng" dirty="0">
                <a:solidFill>
                  <a:srgbClr val="002060"/>
                </a:solidFill>
              </a:rPr>
              <a:t>Parcours en largeur (</a:t>
            </a:r>
            <a:r>
              <a:rPr lang="fr-FR" sz="1800" b="1" u="sng" dirty="0" err="1">
                <a:solidFill>
                  <a:srgbClr val="002060"/>
                </a:solidFill>
              </a:rPr>
              <a:t>Breadth</a:t>
            </a:r>
            <a:r>
              <a:rPr lang="fr-FR" sz="1800" b="1" u="sng" dirty="0">
                <a:solidFill>
                  <a:srgbClr val="002060"/>
                </a:solidFill>
              </a:rPr>
              <a:t>-First </a:t>
            </a:r>
            <a:r>
              <a:rPr lang="fr-FR" sz="1800" b="1" u="sng" dirty="0" err="1">
                <a:solidFill>
                  <a:srgbClr val="002060"/>
                </a:solidFill>
              </a:rPr>
              <a:t>Search</a:t>
            </a:r>
            <a:r>
              <a:rPr lang="fr-FR" sz="1800" b="1" u="sng" dirty="0">
                <a:solidFill>
                  <a:srgbClr val="002060"/>
                </a:solidFill>
              </a:rPr>
              <a:t> – BFS)</a:t>
            </a:r>
            <a:br>
              <a:rPr lang="fr-FR" u="sng" dirty="0"/>
            </a:br>
            <a:r>
              <a:rPr lang="fr-FR" sz="1800" dirty="0"/>
              <a:t>L’algorithme de recherche en largeur est utilisé pour parcourir tous les nœuds d’un graphe.</a:t>
            </a:r>
            <a:br>
              <a:rPr lang="fr-FR" sz="1800" dirty="0"/>
            </a:br>
            <a:r>
              <a:rPr lang="fr-FR" sz="1800" dirty="0"/>
              <a:t>En utilisant une exploration en largeur. Il commence par un nœud de départ, puis explore tout.</a:t>
            </a:r>
            <a:br>
              <a:rPr lang="fr-FR" sz="1800" dirty="0"/>
            </a:br>
            <a:r>
              <a:rPr lang="fr-FR" sz="1800" dirty="0"/>
              <a:t>Ses voisins avant de passer aux voisins des voisins. Cet algorithme peut être utilisé pour trouver.</a:t>
            </a:r>
            <a:br>
              <a:rPr lang="fr-FR" sz="1800" dirty="0"/>
            </a:br>
            <a:r>
              <a:rPr lang="fr-FR" sz="1800" dirty="0"/>
              <a:t>Le plus court chemin entre deux nœuds d’un graphe non pondéré. </a:t>
            </a:r>
          </a:p>
        </p:txBody>
      </p:sp>
      <p:sp>
        <p:nvSpPr>
          <p:cNvPr id="3" name="ZoneTexte 2">
            <a:extLst>
              <a:ext uri="{FF2B5EF4-FFF2-40B4-BE49-F238E27FC236}">
                <a16:creationId xmlns:a16="http://schemas.microsoft.com/office/drawing/2014/main" id="{D5F2D829-B02D-6A38-878B-288196FEEAD3}"/>
              </a:ext>
            </a:extLst>
          </p:cNvPr>
          <p:cNvSpPr txBox="1"/>
          <p:nvPr/>
        </p:nvSpPr>
        <p:spPr>
          <a:xfrm>
            <a:off x="490560" y="762214"/>
            <a:ext cx="6205403" cy="369332"/>
          </a:xfrm>
          <a:prstGeom prst="rect">
            <a:avLst/>
          </a:prstGeom>
          <a:noFill/>
        </p:spPr>
        <p:txBody>
          <a:bodyPr wrap="square" rtlCol="0">
            <a:spAutoFit/>
          </a:bodyPr>
          <a:lstStyle/>
          <a:p>
            <a:r>
              <a:rPr lang="en-US" b="1" dirty="0" err="1">
                <a:solidFill>
                  <a:srgbClr val="002060"/>
                </a:solidFill>
              </a:rPr>
              <a:t>I</a:t>
            </a:r>
            <a:r>
              <a:rPr lang="en-US" sz="1800" b="1" dirty="0" err="1">
                <a:solidFill>
                  <a:srgbClr val="002060"/>
                </a:solidFill>
              </a:rPr>
              <a:t>.Algorithmes</a:t>
            </a:r>
            <a:r>
              <a:rPr lang="en-US" sz="1800" b="1" dirty="0">
                <a:solidFill>
                  <a:srgbClr val="002060"/>
                </a:solidFill>
              </a:rPr>
              <a:t> de </a:t>
            </a:r>
            <a:r>
              <a:rPr lang="en-US" sz="1800" b="1" dirty="0" err="1">
                <a:solidFill>
                  <a:srgbClr val="002060"/>
                </a:solidFill>
              </a:rPr>
              <a:t>parcours</a:t>
            </a:r>
            <a:endParaRPr lang="fr-FR" sz="1800" b="1" dirty="0">
              <a:solidFill>
                <a:srgbClr val="002060"/>
              </a:solidFill>
            </a:endParaRPr>
          </a:p>
        </p:txBody>
      </p:sp>
    </p:spTree>
    <p:extLst>
      <p:ext uri="{BB962C8B-B14F-4D97-AF65-F5344CB8AC3E}">
        <p14:creationId xmlns:p14="http://schemas.microsoft.com/office/powerpoint/2010/main" val="175283678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500"/>
                                        <p:tgtEl>
                                          <p:spTgt spid="2"/>
                                        </p:tgtEl>
                                      </p:cBhvr>
                                    </p:animEffect>
                                    <p:anim calcmode="lin" valueType="num">
                                      <p:cBhvr>
                                        <p:cTn id="14" dur="500"/>
                                        <p:tgtEl>
                                          <p:spTgt spid="2"/>
                                        </p:tgtEl>
                                        <p:attrNameLst>
                                          <p:attrName>ppt_x</p:attrName>
                                        </p:attrNameLst>
                                      </p:cBhvr>
                                      <p:tavLst>
                                        <p:tav tm="0">
                                          <p:val>
                                            <p:strVal val="ppt_x"/>
                                          </p:val>
                                        </p:tav>
                                        <p:tav tm="100000">
                                          <p:val>
                                            <p:strVal val="ppt_x"/>
                                          </p:val>
                                        </p:tav>
                                      </p:tavLst>
                                    </p:anim>
                                    <p:anim calcmode="lin" valueType="num">
                                      <p:cBhvr>
                                        <p:cTn id="15" dur="500"/>
                                        <p:tgtEl>
                                          <p:spTgt spid="2"/>
                                        </p:tgtEl>
                                        <p:attrNameLst>
                                          <p:attrName>ppt_y</p:attrName>
                                        </p:attrNameLst>
                                      </p:cBhvr>
                                      <p:tavLst>
                                        <p:tav tm="0">
                                          <p:val>
                                            <p:strVal val="ppt_y"/>
                                          </p:val>
                                        </p:tav>
                                        <p:tav tm="100000">
                                          <p:val>
                                            <p:strVal val="ppt_y+.1"/>
                                          </p:val>
                                        </p:tav>
                                      </p:tavLst>
                                    </p:anim>
                                    <p:set>
                                      <p:cBhvr>
                                        <p:cTn id="16"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450535" y="1944922"/>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980952" y="713034"/>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sz="3600" dirty="0" err="1"/>
              <a:t>Algorithmes</a:t>
            </a:r>
            <a:r>
              <a:rPr lang="en-US" sz="3600" dirty="0"/>
              <a:t> </a:t>
            </a:r>
            <a:r>
              <a:rPr lang="en-US" sz="3600" dirty="0" err="1"/>
              <a:t>classiques</a:t>
            </a:r>
            <a:endParaRPr lang="fr-FR" sz="3600"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32" name="ZoneTexte 31">
            <a:extLst>
              <a:ext uri="{FF2B5EF4-FFF2-40B4-BE49-F238E27FC236}">
                <a16:creationId xmlns:a16="http://schemas.microsoft.com/office/drawing/2014/main" id="{415BDAE0-1486-137F-A5B4-7316D9F748D1}"/>
              </a:ext>
            </a:extLst>
          </p:cNvPr>
          <p:cNvSpPr txBox="1"/>
          <p:nvPr/>
        </p:nvSpPr>
        <p:spPr>
          <a:xfrm>
            <a:off x="1090539" y="2038053"/>
            <a:ext cx="6205403" cy="523220"/>
          </a:xfrm>
          <a:prstGeom prst="rect">
            <a:avLst/>
          </a:prstGeom>
          <a:noFill/>
        </p:spPr>
        <p:txBody>
          <a:bodyPr wrap="square" rtlCol="0">
            <a:spAutoFit/>
          </a:bodyPr>
          <a:lstStyle/>
          <a:p>
            <a:r>
              <a:rPr lang="en-US" sz="2800" b="1" dirty="0">
                <a:solidFill>
                  <a:srgbClr val="002060"/>
                </a:solidFill>
              </a:rPr>
              <a:t>I- </a:t>
            </a:r>
            <a:r>
              <a:rPr lang="en-US" sz="2800" b="1" dirty="0" err="1">
                <a:solidFill>
                  <a:srgbClr val="002060"/>
                </a:solidFill>
              </a:rPr>
              <a:t>Algorithmes</a:t>
            </a:r>
            <a:r>
              <a:rPr lang="en-US" sz="2800" b="1" dirty="0">
                <a:solidFill>
                  <a:srgbClr val="002060"/>
                </a:solidFill>
              </a:rPr>
              <a:t> de </a:t>
            </a:r>
            <a:r>
              <a:rPr lang="en-US" sz="2800" b="1" dirty="0" err="1">
                <a:solidFill>
                  <a:srgbClr val="002060"/>
                </a:solidFill>
              </a:rPr>
              <a:t>parcours</a:t>
            </a:r>
            <a:endParaRPr lang="fr-FR" sz="2800" b="1" dirty="0">
              <a:solidFill>
                <a:srgbClr val="002060"/>
              </a:solidFill>
            </a:endParaRPr>
          </a:p>
        </p:txBody>
      </p:sp>
      <p:sp>
        <p:nvSpPr>
          <p:cNvPr id="2" name="ZoneTexte 1">
            <a:extLst>
              <a:ext uri="{FF2B5EF4-FFF2-40B4-BE49-F238E27FC236}">
                <a16:creationId xmlns:a16="http://schemas.microsoft.com/office/drawing/2014/main" id="{049E9D50-E645-DCD7-5867-56DB92FA8E3C}"/>
              </a:ext>
            </a:extLst>
          </p:cNvPr>
          <p:cNvSpPr txBox="1"/>
          <p:nvPr/>
        </p:nvSpPr>
        <p:spPr>
          <a:xfrm>
            <a:off x="1131351" y="3130799"/>
            <a:ext cx="5564611" cy="461665"/>
          </a:xfrm>
          <a:prstGeom prst="rect">
            <a:avLst/>
          </a:prstGeom>
          <a:noFill/>
        </p:spPr>
        <p:txBody>
          <a:bodyPr wrap="square" rtlCol="0">
            <a:spAutoFit/>
          </a:bodyPr>
          <a:lstStyle/>
          <a:p>
            <a:r>
              <a:rPr lang="fr-FR" sz="2400" b="1" dirty="0">
                <a:solidFill>
                  <a:srgbClr val="002060"/>
                </a:solidFill>
              </a:rPr>
              <a:t>II- Recherche du plus court chemin</a:t>
            </a:r>
          </a:p>
        </p:txBody>
      </p:sp>
    </p:spTree>
    <p:extLst>
      <p:ext uri="{BB962C8B-B14F-4D97-AF65-F5344CB8AC3E}">
        <p14:creationId xmlns:p14="http://schemas.microsoft.com/office/powerpoint/2010/main" val="258321300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D440EE4-5342-FE9A-A4E8-04EF32AEA263}"/>
              </a:ext>
            </a:extLst>
          </p:cNvPr>
          <p:cNvSpPr>
            <a:spLocks noGrp="1"/>
          </p:cNvSpPr>
          <p:nvPr>
            <p:ph type="sldNum" sz="quarter" idx="12"/>
          </p:nvPr>
        </p:nvSpPr>
        <p:spPr/>
        <p:txBody>
          <a:bodyPr/>
          <a:lstStyle/>
          <a:p>
            <a:fld id="{A82C58F3-3795-4080-90EF-797C1431D8B7}" type="slidenum">
              <a:rPr lang="fr-FR" smtClean="0"/>
              <a:t>19</a:t>
            </a:fld>
            <a:endParaRPr lang="fr-FR"/>
          </a:p>
        </p:txBody>
      </p:sp>
      <p:sp>
        <p:nvSpPr>
          <p:cNvPr id="4" name="ZoneTexte 3">
            <a:extLst>
              <a:ext uri="{FF2B5EF4-FFF2-40B4-BE49-F238E27FC236}">
                <a16:creationId xmlns:a16="http://schemas.microsoft.com/office/drawing/2014/main" id="{6F658ADC-5CAE-7245-9E88-263A99ADFAF9}"/>
              </a:ext>
            </a:extLst>
          </p:cNvPr>
          <p:cNvSpPr txBox="1"/>
          <p:nvPr/>
        </p:nvSpPr>
        <p:spPr>
          <a:xfrm>
            <a:off x="696000" y="656868"/>
            <a:ext cx="6068840" cy="4247317"/>
          </a:xfrm>
          <a:prstGeom prst="rect">
            <a:avLst/>
          </a:prstGeom>
          <a:solidFill>
            <a:schemeClr val="bg1">
              <a:alpha val="71000"/>
            </a:schemeClr>
          </a:solid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l"/>
            <a:r>
              <a:rPr lang="fr-FR" b="1" i="0" u="sng" strike="noStrike" baseline="0" dirty="0">
                <a:solidFill>
                  <a:srgbClr val="002060"/>
                </a:solidFill>
                <a:latin typeface="NimbusRomNo9L-Regu"/>
              </a:rPr>
              <a:t>La recherche des chemins les plus courts </a:t>
            </a:r>
          </a:p>
          <a:p>
            <a:pPr algn="l"/>
            <a:r>
              <a:rPr lang="fr-FR" b="0" i="0" u="none" strike="noStrike" baseline="0" dirty="0">
                <a:solidFill>
                  <a:srgbClr val="000000"/>
                </a:solidFill>
                <a:latin typeface="NimbusRomNo9L-Regu"/>
              </a:rPr>
              <a:t>est un problème fondamental en th</a:t>
            </a:r>
            <a:r>
              <a:rPr lang="fr-FR" dirty="0">
                <a:solidFill>
                  <a:srgbClr val="000000"/>
                </a:solidFill>
                <a:latin typeface="NimbusRomNo9L-Regu"/>
              </a:rPr>
              <a:t>é</a:t>
            </a:r>
            <a:r>
              <a:rPr lang="fr-FR" b="0" i="0" u="none" strike="noStrike" baseline="0" dirty="0">
                <a:solidFill>
                  <a:srgbClr val="000000"/>
                </a:solidFill>
                <a:latin typeface="NimbusRomNo9L-Regu"/>
              </a:rPr>
              <a:t>orie des</a:t>
            </a:r>
          </a:p>
          <a:p>
            <a:pPr algn="l"/>
            <a:r>
              <a:rPr lang="fr-FR" b="0" i="0" u="none" strike="noStrike" baseline="0" dirty="0">
                <a:solidFill>
                  <a:srgbClr val="000000"/>
                </a:solidFill>
                <a:latin typeface="NimbusRomNo9L-Regu"/>
              </a:rPr>
              <a:t>graphes, qui consiste `a trouver le chemin de co</a:t>
            </a:r>
            <a:r>
              <a:rPr lang="fr-FR" dirty="0">
                <a:solidFill>
                  <a:srgbClr val="000000"/>
                </a:solidFill>
                <a:latin typeface="NimbusRomNo9L-Regu"/>
              </a:rPr>
              <a:t>u</a:t>
            </a:r>
            <a:r>
              <a:rPr lang="fr-FR" b="0" i="0" u="none" strike="noStrike" baseline="0" dirty="0">
                <a:solidFill>
                  <a:srgbClr val="000000"/>
                </a:solidFill>
                <a:latin typeface="NimbusRomNo9L-Regu"/>
              </a:rPr>
              <a:t>t minimal (poids, distance, temps, etc.) entre</a:t>
            </a:r>
          </a:p>
          <a:p>
            <a:pPr algn="l"/>
            <a:r>
              <a:rPr lang="fr-FR" b="0" i="0" u="none" strike="noStrike" baseline="0" dirty="0">
                <a:solidFill>
                  <a:srgbClr val="000000"/>
                </a:solidFill>
                <a:latin typeface="NimbusRomNo9L-Regu"/>
              </a:rPr>
              <a:t>deux nœuds dans un graphe. Il existe plusieurs algorithmes classiques pour r</a:t>
            </a:r>
            <a:r>
              <a:rPr lang="fr-FR" dirty="0">
                <a:solidFill>
                  <a:srgbClr val="000000"/>
                </a:solidFill>
                <a:latin typeface="NimbusRomNo9L-Regu"/>
              </a:rPr>
              <a:t>é</a:t>
            </a:r>
            <a:r>
              <a:rPr lang="fr-FR" b="0" i="0" u="none" strike="noStrike" baseline="0" dirty="0">
                <a:solidFill>
                  <a:srgbClr val="000000"/>
                </a:solidFill>
                <a:latin typeface="NimbusRomNo9L-Regu"/>
              </a:rPr>
              <a:t>soudre ce problème,</a:t>
            </a:r>
          </a:p>
          <a:p>
            <a:pPr algn="l"/>
            <a:r>
              <a:rPr lang="fr-FR" b="0" i="0" u="none" strike="noStrike" baseline="0" dirty="0">
                <a:solidFill>
                  <a:srgbClr val="000000"/>
                </a:solidFill>
                <a:latin typeface="NimbusRomNo9L-Regu"/>
              </a:rPr>
              <a:t>selon le type de graphe . Voici quelques algorithmes :</a:t>
            </a:r>
          </a:p>
          <a:p>
            <a:pPr algn="l"/>
            <a:r>
              <a:rPr lang="fr-FR" b="1" i="0" u="none" strike="noStrike" baseline="0" dirty="0">
                <a:solidFill>
                  <a:srgbClr val="000000"/>
                </a:solidFill>
                <a:latin typeface="NimbusRomNo9L-Regu"/>
              </a:rPr>
              <a:t>— </a:t>
            </a:r>
            <a:r>
              <a:rPr lang="fr-FR" b="1" i="0" u="none" strike="noStrike" baseline="0" dirty="0">
                <a:solidFill>
                  <a:schemeClr val="tx1"/>
                </a:solidFill>
                <a:latin typeface="NimbusRomNo9L-Medi"/>
              </a:rPr>
              <a:t>Algorithme de Dijkstra :</a:t>
            </a:r>
            <a:r>
              <a:rPr lang="fr-FR" b="1" i="0" u="none" strike="noStrike" baseline="0" dirty="0">
                <a:solidFill>
                  <a:schemeClr val="bg1"/>
                </a:solidFill>
                <a:latin typeface="NimbusRomNo9L-Regu"/>
              </a:rPr>
              <a:t>: </a:t>
            </a:r>
            <a:r>
              <a:rPr lang="fr-FR" b="0" i="0" u="none" strike="noStrike" baseline="0" dirty="0">
                <a:solidFill>
                  <a:srgbClr val="000000"/>
                </a:solidFill>
                <a:latin typeface="NimbusRomNo9L-Regu"/>
              </a:rPr>
              <a:t>Cet algorithme r</a:t>
            </a:r>
            <a:r>
              <a:rPr lang="fr-FR" dirty="0">
                <a:solidFill>
                  <a:srgbClr val="000000"/>
                </a:solidFill>
                <a:latin typeface="NimbusRomNo9L-Regu"/>
              </a:rPr>
              <a:t>é</a:t>
            </a:r>
            <a:r>
              <a:rPr lang="fr-FR" b="0" i="0" u="none" strike="noStrike" baseline="0" dirty="0">
                <a:solidFill>
                  <a:srgbClr val="000000"/>
                </a:solidFill>
                <a:latin typeface="NimbusRomNo9L-Regu"/>
              </a:rPr>
              <a:t>sout le probl</a:t>
            </a:r>
            <a:r>
              <a:rPr lang="fr-FR" dirty="0">
                <a:solidFill>
                  <a:srgbClr val="000000"/>
                </a:solidFill>
                <a:latin typeface="NimbusRomNo9L-Regu"/>
              </a:rPr>
              <a:t>è</a:t>
            </a:r>
            <a:r>
              <a:rPr lang="fr-FR" b="0" i="0" u="none" strike="noStrike" baseline="0" dirty="0">
                <a:solidFill>
                  <a:srgbClr val="000000"/>
                </a:solidFill>
                <a:latin typeface="NimbusRomNo9L-Regu"/>
              </a:rPr>
              <a:t>me du plus court chemin dans</a:t>
            </a:r>
          </a:p>
          <a:p>
            <a:pPr algn="l"/>
            <a:r>
              <a:rPr lang="fr-FR" b="0" i="0" u="none" strike="noStrike" baseline="0" dirty="0">
                <a:solidFill>
                  <a:srgbClr val="000000"/>
                </a:solidFill>
                <a:latin typeface="NimbusRomNo9L-Regu"/>
              </a:rPr>
              <a:t>un graphe pond</a:t>
            </a:r>
            <a:r>
              <a:rPr lang="fr-FR" dirty="0">
                <a:solidFill>
                  <a:srgbClr val="000000"/>
                </a:solidFill>
                <a:latin typeface="NimbusRomNo9L-Regu"/>
              </a:rPr>
              <a:t>é</a:t>
            </a:r>
            <a:r>
              <a:rPr lang="fr-FR" b="0" i="0" u="none" strike="noStrike" baseline="0" dirty="0">
                <a:solidFill>
                  <a:srgbClr val="000000"/>
                </a:solidFill>
                <a:latin typeface="NimbusRomNo9L-Regu"/>
              </a:rPr>
              <a:t>r</a:t>
            </a:r>
            <a:r>
              <a:rPr lang="fr-FR" dirty="0">
                <a:solidFill>
                  <a:srgbClr val="000000"/>
                </a:solidFill>
                <a:latin typeface="NimbusRomNo9L-Regu"/>
              </a:rPr>
              <a:t>é</a:t>
            </a:r>
            <a:r>
              <a:rPr lang="fr-FR" b="0" i="0" u="none" strike="noStrike" baseline="0" dirty="0">
                <a:solidFill>
                  <a:srgbClr val="000000"/>
                </a:solidFill>
                <a:latin typeface="NimbusRomNo9L-Regu"/>
              </a:rPr>
              <a:t>, où tous les poids des arêtes sont positifs.</a:t>
            </a:r>
          </a:p>
          <a:p>
            <a:pPr algn="l"/>
            <a:r>
              <a:rPr lang="fr-FR" b="1" i="0" u="none" strike="noStrike" baseline="0" dirty="0">
                <a:solidFill>
                  <a:srgbClr val="000000"/>
                </a:solidFill>
                <a:latin typeface="NimbusRomNo9L-Regu"/>
              </a:rPr>
              <a:t>— </a:t>
            </a:r>
            <a:r>
              <a:rPr lang="fr-FR" b="1" i="0" u="none" strike="noStrike" baseline="0" dirty="0">
                <a:solidFill>
                  <a:schemeClr val="tx1"/>
                </a:solidFill>
                <a:latin typeface="NimbusRomNo9L-Medi"/>
              </a:rPr>
              <a:t>Algorithme de Bellman-Ford :</a:t>
            </a:r>
            <a:r>
              <a:rPr lang="fr-FR" b="1" i="0" u="none" strike="noStrike" baseline="0" dirty="0">
                <a:solidFill>
                  <a:schemeClr val="bg1"/>
                </a:solidFill>
                <a:latin typeface="NimbusRomNo9L-Regu"/>
              </a:rPr>
              <a:t>: </a:t>
            </a:r>
            <a:r>
              <a:rPr lang="fr-FR" b="0" i="0" u="none" strike="noStrike" baseline="0" dirty="0">
                <a:solidFill>
                  <a:srgbClr val="000000"/>
                </a:solidFill>
                <a:latin typeface="NimbusRomNo9L-Regu"/>
              </a:rPr>
              <a:t>Cet algorithme r</a:t>
            </a:r>
            <a:r>
              <a:rPr lang="fr-FR" dirty="0">
                <a:solidFill>
                  <a:srgbClr val="000000"/>
                </a:solidFill>
                <a:latin typeface="NimbusRomNo9L-Regu"/>
              </a:rPr>
              <a:t>é</a:t>
            </a:r>
            <a:r>
              <a:rPr lang="fr-FR" b="0" i="0" u="none" strike="noStrike" baseline="0" dirty="0">
                <a:solidFill>
                  <a:srgbClr val="000000"/>
                </a:solidFill>
                <a:latin typeface="NimbusRomNo9L-Regu"/>
              </a:rPr>
              <a:t>sout le probl</a:t>
            </a:r>
            <a:r>
              <a:rPr lang="fr-FR" dirty="0">
                <a:solidFill>
                  <a:srgbClr val="000000"/>
                </a:solidFill>
                <a:latin typeface="NimbusRomNo9L-Regu"/>
              </a:rPr>
              <a:t>è</a:t>
            </a:r>
            <a:r>
              <a:rPr lang="fr-FR" b="0" i="0" u="none" strike="noStrike" baseline="0" dirty="0">
                <a:solidFill>
                  <a:srgbClr val="000000"/>
                </a:solidFill>
                <a:latin typeface="NimbusRomNo9L-Regu"/>
              </a:rPr>
              <a:t>me du plus court chemin</a:t>
            </a:r>
          </a:p>
          <a:p>
            <a:pPr algn="l"/>
            <a:r>
              <a:rPr lang="fr-FR" b="0" i="0" u="none" strike="noStrike" baseline="0" dirty="0">
                <a:solidFill>
                  <a:srgbClr val="000000"/>
                </a:solidFill>
                <a:latin typeface="NimbusRomNo9L-Regu"/>
              </a:rPr>
              <a:t>dans un graphe pond</a:t>
            </a:r>
            <a:r>
              <a:rPr lang="fr-FR" dirty="0">
                <a:solidFill>
                  <a:srgbClr val="000000"/>
                </a:solidFill>
                <a:latin typeface="NimbusRomNo9L-Regu"/>
              </a:rPr>
              <a:t>é</a:t>
            </a:r>
            <a:r>
              <a:rPr lang="fr-FR" b="0" i="0" u="none" strike="noStrike" baseline="0" dirty="0">
                <a:solidFill>
                  <a:srgbClr val="000000"/>
                </a:solidFill>
                <a:latin typeface="NimbusRomNo9L-Regu"/>
              </a:rPr>
              <a:t>r</a:t>
            </a:r>
            <a:r>
              <a:rPr lang="fr-FR" dirty="0">
                <a:solidFill>
                  <a:srgbClr val="000000"/>
                </a:solidFill>
                <a:latin typeface="NimbusRomNo9L-Regu"/>
              </a:rPr>
              <a:t>é</a:t>
            </a:r>
            <a:r>
              <a:rPr lang="fr-FR" b="0" i="0" u="none" strike="noStrike" baseline="0" dirty="0">
                <a:solidFill>
                  <a:srgbClr val="000000"/>
                </a:solidFill>
                <a:latin typeface="NimbusRomNo9L-Regu"/>
              </a:rPr>
              <a:t>, même en pr</a:t>
            </a:r>
            <a:r>
              <a:rPr lang="fr-FR" dirty="0">
                <a:solidFill>
                  <a:srgbClr val="000000"/>
                </a:solidFill>
                <a:latin typeface="NimbusRomNo9L-Regu"/>
              </a:rPr>
              <a:t>é</a:t>
            </a:r>
            <a:r>
              <a:rPr lang="fr-FR" b="0" i="0" u="none" strike="noStrike" baseline="0" dirty="0">
                <a:solidFill>
                  <a:srgbClr val="000000"/>
                </a:solidFill>
                <a:latin typeface="NimbusRomNo9L-Regu"/>
              </a:rPr>
              <a:t>sence d’arêtes de poids n</a:t>
            </a:r>
            <a:r>
              <a:rPr lang="fr-FR" dirty="0">
                <a:solidFill>
                  <a:srgbClr val="000000"/>
                </a:solidFill>
                <a:latin typeface="NimbusRomNo9L-Regu"/>
              </a:rPr>
              <a:t>é</a:t>
            </a:r>
            <a:r>
              <a:rPr lang="fr-FR" b="0" i="0" u="none" strike="noStrike" baseline="0" dirty="0">
                <a:solidFill>
                  <a:srgbClr val="000000"/>
                </a:solidFill>
                <a:latin typeface="NimbusRomNo9L-Regu"/>
              </a:rPr>
              <a:t>gatifs (mais pas de</a:t>
            </a:r>
          </a:p>
          <a:p>
            <a:pPr algn="l"/>
            <a:r>
              <a:rPr lang="fr-FR" b="0" i="0" u="none" strike="noStrike" baseline="0" dirty="0">
                <a:solidFill>
                  <a:srgbClr val="000000"/>
                </a:solidFill>
                <a:latin typeface="NimbusRomNo9L-Regu"/>
              </a:rPr>
              <a:t>cycles de poids n</a:t>
            </a:r>
            <a:r>
              <a:rPr lang="fr-FR" dirty="0">
                <a:solidFill>
                  <a:srgbClr val="000000"/>
                </a:solidFill>
                <a:latin typeface="NimbusRomNo9L-Regu"/>
              </a:rPr>
              <a:t>é</a:t>
            </a:r>
            <a:r>
              <a:rPr lang="fr-FR" b="0" i="0" u="none" strike="noStrike" baseline="0" dirty="0">
                <a:solidFill>
                  <a:srgbClr val="000000"/>
                </a:solidFill>
                <a:latin typeface="NimbusRomNo9L-Regu"/>
              </a:rPr>
              <a:t>gatifs).</a:t>
            </a:r>
          </a:p>
        </p:txBody>
      </p:sp>
      <p:sp>
        <p:nvSpPr>
          <p:cNvPr id="6" name="ZoneTexte 5">
            <a:extLst>
              <a:ext uri="{FF2B5EF4-FFF2-40B4-BE49-F238E27FC236}">
                <a16:creationId xmlns:a16="http://schemas.microsoft.com/office/drawing/2014/main" id="{1B9075A8-69DA-6D24-DBC3-8A79C4AA5048}"/>
              </a:ext>
            </a:extLst>
          </p:cNvPr>
          <p:cNvSpPr txBox="1"/>
          <p:nvPr/>
        </p:nvSpPr>
        <p:spPr>
          <a:xfrm>
            <a:off x="605444" y="150614"/>
            <a:ext cx="4593113" cy="369332"/>
          </a:xfrm>
          <a:prstGeom prst="rect">
            <a:avLst/>
          </a:prstGeom>
          <a:noFill/>
        </p:spPr>
        <p:txBody>
          <a:bodyPr wrap="square" rtlCol="0">
            <a:spAutoFit/>
          </a:bodyPr>
          <a:lstStyle/>
          <a:p>
            <a:r>
              <a:rPr lang="fr-FR" b="1" dirty="0" err="1">
                <a:solidFill>
                  <a:srgbClr val="002060"/>
                </a:solidFill>
              </a:rPr>
              <a:t>II</a:t>
            </a:r>
            <a:r>
              <a:rPr lang="fr-FR" sz="1800" b="1" dirty="0" err="1">
                <a:solidFill>
                  <a:srgbClr val="002060"/>
                </a:solidFill>
              </a:rPr>
              <a:t>.Recherche</a:t>
            </a:r>
            <a:r>
              <a:rPr lang="fr-FR" sz="1800" b="1" dirty="0">
                <a:solidFill>
                  <a:srgbClr val="002060"/>
                </a:solidFill>
              </a:rPr>
              <a:t> du plus court chemin</a:t>
            </a:r>
          </a:p>
        </p:txBody>
      </p:sp>
      <p:grpSp>
        <p:nvGrpSpPr>
          <p:cNvPr id="7" name="Groupe 6">
            <a:extLst>
              <a:ext uri="{FF2B5EF4-FFF2-40B4-BE49-F238E27FC236}">
                <a16:creationId xmlns:a16="http://schemas.microsoft.com/office/drawing/2014/main" id="{D21175C5-93D2-0770-D784-72267515AB46}"/>
              </a:ext>
            </a:extLst>
          </p:cNvPr>
          <p:cNvGrpSpPr/>
          <p:nvPr/>
        </p:nvGrpSpPr>
        <p:grpSpPr>
          <a:xfrm>
            <a:off x="-2383389" y="-1706241"/>
            <a:ext cx="12227617" cy="7611769"/>
            <a:chOff x="-2238844" y="-1530749"/>
            <a:chExt cx="12227617" cy="7611769"/>
          </a:xfrm>
        </p:grpSpPr>
        <p:grpSp>
          <p:nvGrpSpPr>
            <p:cNvPr id="8" name="Google Shape;1527;p32">
              <a:extLst>
                <a:ext uri="{FF2B5EF4-FFF2-40B4-BE49-F238E27FC236}">
                  <a16:creationId xmlns:a16="http://schemas.microsoft.com/office/drawing/2014/main" id="{4D6903B3-260C-2411-484E-604BFD5651EE}"/>
                </a:ext>
              </a:extLst>
            </p:cNvPr>
            <p:cNvGrpSpPr/>
            <p:nvPr/>
          </p:nvGrpSpPr>
          <p:grpSpPr>
            <a:xfrm>
              <a:off x="6788444" y="2953250"/>
              <a:ext cx="3200329" cy="3127770"/>
              <a:chOff x="447667" y="285337"/>
              <a:chExt cx="3863732" cy="3776132"/>
            </a:xfrm>
          </p:grpSpPr>
          <p:sp>
            <p:nvSpPr>
              <p:cNvPr id="43" name="Google Shape;1528;p32">
                <a:extLst>
                  <a:ext uri="{FF2B5EF4-FFF2-40B4-BE49-F238E27FC236}">
                    <a16:creationId xmlns:a16="http://schemas.microsoft.com/office/drawing/2014/main" id="{C4292721-1E4A-64B2-DFBA-372162407601}"/>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529;p32">
                <a:extLst>
                  <a:ext uri="{FF2B5EF4-FFF2-40B4-BE49-F238E27FC236}">
                    <a16:creationId xmlns:a16="http://schemas.microsoft.com/office/drawing/2014/main" id="{C2247F5C-465D-1929-BFFC-4A182A8DD0A6}"/>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530;p32">
                <a:extLst>
                  <a:ext uri="{FF2B5EF4-FFF2-40B4-BE49-F238E27FC236}">
                    <a16:creationId xmlns:a16="http://schemas.microsoft.com/office/drawing/2014/main" id="{96557B19-20CD-DF7A-3A32-12C39AB1E34B}"/>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6" name="Google Shape;1531;p32">
                <a:extLst>
                  <a:ext uri="{FF2B5EF4-FFF2-40B4-BE49-F238E27FC236}">
                    <a16:creationId xmlns:a16="http://schemas.microsoft.com/office/drawing/2014/main" id="{95D9B865-54CB-56DC-4FC4-936856E3F4AC}"/>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1532;p32">
                <a:extLst>
                  <a:ext uri="{FF2B5EF4-FFF2-40B4-BE49-F238E27FC236}">
                    <a16:creationId xmlns:a16="http://schemas.microsoft.com/office/drawing/2014/main" id="{89C029C3-2ECC-9BA8-E4E5-C619B55A62AE}"/>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1533;p32">
                <a:extLst>
                  <a:ext uri="{FF2B5EF4-FFF2-40B4-BE49-F238E27FC236}">
                    <a16:creationId xmlns:a16="http://schemas.microsoft.com/office/drawing/2014/main" id="{DB5FC9A2-B50D-0DB6-FB9D-5986DBB7664D}"/>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1534;p32">
                <a:extLst>
                  <a:ext uri="{FF2B5EF4-FFF2-40B4-BE49-F238E27FC236}">
                    <a16:creationId xmlns:a16="http://schemas.microsoft.com/office/drawing/2014/main" id="{45A0CE51-EA4D-11AE-59E3-44346F7B22A7}"/>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1535;p32">
                <a:extLst>
                  <a:ext uri="{FF2B5EF4-FFF2-40B4-BE49-F238E27FC236}">
                    <a16:creationId xmlns:a16="http://schemas.microsoft.com/office/drawing/2014/main" id="{7CAD7C28-3DB4-7AC1-63A9-22AA591F9C82}"/>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1" name="Google Shape;1536;p32">
                <a:extLst>
                  <a:ext uri="{FF2B5EF4-FFF2-40B4-BE49-F238E27FC236}">
                    <a16:creationId xmlns:a16="http://schemas.microsoft.com/office/drawing/2014/main" id="{84C5CA07-8832-D37D-1A77-1A37FAA5E32C}"/>
                  </a:ext>
                </a:extLst>
              </p:cNvPr>
              <p:cNvCxnSpPr>
                <a:stCxn id="47" idx="5"/>
                <a:endCxn id="46"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37;p32">
                <a:extLst>
                  <a:ext uri="{FF2B5EF4-FFF2-40B4-BE49-F238E27FC236}">
                    <a16:creationId xmlns:a16="http://schemas.microsoft.com/office/drawing/2014/main" id="{80B410E6-7521-0F2D-6535-F8999E714374}"/>
                  </a:ext>
                </a:extLst>
              </p:cNvPr>
              <p:cNvCxnSpPr>
                <a:stCxn id="48" idx="4"/>
                <a:endCxn id="46"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53" name="Google Shape;1538;p32">
                <a:extLst>
                  <a:ext uri="{FF2B5EF4-FFF2-40B4-BE49-F238E27FC236}">
                    <a16:creationId xmlns:a16="http://schemas.microsoft.com/office/drawing/2014/main" id="{B070E68A-1844-2A37-7C3F-2CCEE94DB2C4}"/>
                  </a:ext>
                </a:extLst>
              </p:cNvPr>
              <p:cNvCxnSpPr>
                <a:stCxn id="43" idx="6"/>
                <a:endCxn id="46"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1539;p32">
                <a:extLst>
                  <a:ext uri="{FF2B5EF4-FFF2-40B4-BE49-F238E27FC236}">
                    <a16:creationId xmlns:a16="http://schemas.microsoft.com/office/drawing/2014/main" id="{EB499156-4648-609C-D9DB-A81E290E5EC4}"/>
                  </a:ext>
                </a:extLst>
              </p:cNvPr>
              <p:cNvCxnSpPr>
                <a:stCxn id="43" idx="0"/>
                <a:endCxn id="47"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40;p32">
                <a:extLst>
                  <a:ext uri="{FF2B5EF4-FFF2-40B4-BE49-F238E27FC236}">
                    <a16:creationId xmlns:a16="http://schemas.microsoft.com/office/drawing/2014/main" id="{DA52EA00-1329-B8C9-BBC3-1DF5D2509F87}"/>
                  </a:ext>
                </a:extLst>
              </p:cNvPr>
              <p:cNvCxnSpPr>
                <a:stCxn id="47" idx="7"/>
                <a:endCxn id="48"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41;p32">
                <a:extLst>
                  <a:ext uri="{FF2B5EF4-FFF2-40B4-BE49-F238E27FC236}">
                    <a16:creationId xmlns:a16="http://schemas.microsoft.com/office/drawing/2014/main" id="{DC4B547B-2C91-41FF-1BE4-8108E71706F8}"/>
                  </a:ext>
                </a:extLst>
              </p:cNvPr>
              <p:cNvCxnSpPr>
                <a:stCxn id="48" idx="6"/>
                <a:endCxn id="44"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42;p32">
                <a:extLst>
                  <a:ext uri="{FF2B5EF4-FFF2-40B4-BE49-F238E27FC236}">
                    <a16:creationId xmlns:a16="http://schemas.microsoft.com/office/drawing/2014/main" id="{4975A0E8-FE74-7217-8BD8-FF5DA7236651}"/>
                  </a:ext>
                </a:extLst>
              </p:cNvPr>
              <p:cNvCxnSpPr>
                <a:stCxn id="46" idx="7"/>
                <a:endCxn id="44"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1543;p32">
                <a:extLst>
                  <a:ext uri="{FF2B5EF4-FFF2-40B4-BE49-F238E27FC236}">
                    <a16:creationId xmlns:a16="http://schemas.microsoft.com/office/drawing/2014/main" id="{2C437C29-4B2B-AE1E-A236-F9BB541D4428}"/>
                  </a:ext>
                </a:extLst>
              </p:cNvPr>
              <p:cNvCxnSpPr>
                <a:stCxn id="43" idx="5"/>
                <a:endCxn id="49"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1544;p32">
                <a:extLst>
                  <a:ext uri="{FF2B5EF4-FFF2-40B4-BE49-F238E27FC236}">
                    <a16:creationId xmlns:a16="http://schemas.microsoft.com/office/drawing/2014/main" id="{4773533B-29DA-D7B3-4C62-7AC59A0387E4}"/>
                  </a:ext>
                </a:extLst>
              </p:cNvPr>
              <p:cNvCxnSpPr>
                <a:stCxn id="49" idx="7"/>
                <a:endCxn id="46"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45;p32">
                <a:extLst>
                  <a:ext uri="{FF2B5EF4-FFF2-40B4-BE49-F238E27FC236}">
                    <a16:creationId xmlns:a16="http://schemas.microsoft.com/office/drawing/2014/main" id="{602E45A1-0845-711B-C665-9DC19E3B2EBE}"/>
                  </a:ext>
                </a:extLst>
              </p:cNvPr>
              <p:cNvCxnSpPr>
                <a:stCxn id="49" idx="5"/>
                <a:endCxn id="45"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46;p32">
                <a:extLst>
                  <a:ext uri="{FF2B5EF4-FFF2-40B4-BE49-F238E27FC236}">
                    <a16:creationId xmlns:a16="http://schemas.microsoft.com/office/drawing/2014/main" id="{2A62480E-2767-1420-F2BB-0C8D203A10A9}"/>
                  </a:ext>
                </a:extLst>
              </p:cNvPr>
              <p:cNvCxnSpPr>
                <a:stCxn id="45" idx="0"/>
                <a:endCxn id="46"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47;p32">
                <a:extLst>
                  <a:ext uri="{FF2B5EF4-FFF2-40B4-BE49-F238E27FC236}">
                    <a16:creationId xmlns:a16="http://schemas.microsoft.com/office/drawing/2014/main" id="{9C5C8F4A-8845-99D1-2FD3-DE3B56C9FA29}"/>
                  </a:ext>
                </a:extLst>
              </p:cNvPr>
              <p:cNvCxnSpPr>
                <a:stCxn id="45" idx="7"/>
                <a:endCxn id="50"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8;p32">
                <a:extLst>
                  <a:ext uri="{FF2B5EF4-FFF2-40B4-BE49-F238E27FC236}">
                    <a16:creationId xmlns:a16="http://schemas.microsoft.com/office/drawing/2014/main" id="{D606F7B0-1C79-7906-5393-E33836FF8E72}"/>
                  </a:ext>
                </a:extLst>
              </p:cNvPr>
              <p:cNvCxnSpPr>
                <a:stCxn id="46" idx="6"/>
                <a:endCxn id="50"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64" name="Google Shape;1549;p32">
                <a:extLst>
                  <a:ext uri="{FF2B5EF4-FFF2-40B4-BE49-F238E27FC236}">
                    <a16:creationId xmlns:a16="http://schemas.microsoft.com/office/drawing/2014/main" id="{A3F5B455-AF00-AAD2-508E-CA16551A71EC}"/>
                  </a:ext>
                </a:extLst>
              </p:cNvPr>
              <p:cNvCxnSpPr>
                <a:stCxn id="50" idx="0"/>
                <a:endCxn id="44"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1550;p32">
                <a:extLst>
                  <a:ext uri="{FF2B5EF4-FFF2-40B4-BE49-F238E27FC236}">
                    <a16:creationId xmlns:a16="http://schemas.microsoft.com/office/drawing/2014/main" id="{455D1D8D-FEBB-45D0-910A-D8A58EF15F62}"/>
                  </a:ext>
                </a:extLst>
              </p:cNvPr>
              <p:cNvCxnSpPr>
                <a:stCxn id="47" idx="4"/>
                <a:endCxn id="45"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66" name="Google Shape;1551;p32">
                <a:extLst>
                  <a:ext uri="{FF2B5EF4-FFF2-40B4-BE49-F238E27FC236}">
                    <a16:creationId xmlns:a16="http://schemas.microsoft.com/office/drawing/2014/main" id="{3F767946-97D7-55EE-1A0F-8F8D7BAAF17D}"/>
                  </a:ext>
                </a:extLst>
              </p:cNvPr>
              <p:cNvCxnSpPr>
                <a:stCxn id="44" idx="4"/>
                <a:endCxn id="45"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67" name="Google Shape;1552;p32">
                <a:extLst>
                  <a:ext uri="{FF2B5EF4-FFF2-40B4-BE49-F238E27FC236}">
                    <a16:creationId xmlns:a16="http://schemas.microsoft.com/office/drawing/2014/main" id="{20937AE8-9DE8-A8B5-DCA2-A8E53B6076E1}"/>
                  </a:ext>
                </a:extLst>
              </p:cNvPr>
              <p:cNvCxnSpPr>
                <a:stCxn id="43" idx="5"/>
                <a:endCxn id="45"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68" name="Google Shape;1553;p32">
                <a:extLst>
                  <a:ext uri="{FF2B5EF4-FFF2-40B4-BE49-F238E27FC236}">
                    <a16:creationId xmlns:a16="http://schemas.microsoft.com/office/drawing/2014/main" id="{AACFE43B-2EF8-6CB5-1F3F-20607A25BB2B}"/>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9" name="Google Shape;1554;p32">
                <a:extLst>
                  <a:ext uri="{FF2B5EF4-FFF2-40B4-BE49-F238E27FC236}">
                    <a16:creationId xmlns:a16="http://schemas.microsoft.com/office/drawing/2014/main" id="{93BD96FE-4876-D959-11C7-C4DAA9BB6CA0}"/>
                  </a:ext>
                </a:extLst>
              </p:cNvPr>
              <p:cNvCxnSpPr>
                <a:stCxn id="50" idx="4"/>
                <a:endCxn id="68"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70" name="Google Shape;1555;p32">
                <a:extLst>
                  <a:ext uri="{FF2B5EF4-FFF2-40B4-BE49-F238E27FC236}">
                    <a16:creationId xmlns:a16="http://schemas.microsoft.com/office/drawing/2014/main" id="{AE0D2148-F2FE-E5B5-2A39-B5E8700DF074}"/>
                  </a:ext>
                </a:extLst>
              </p:cNvPr>
              <p:cNvCxnSpPr>
                <a:stCxn id="68" idx="2"/>
                <a:endCxn id="45"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71" name="Google Shape;1556;p32">
                <a:extLst>
                  <a:ext uri="{FF2B5EF4-FFF2-40B4-BE49-F238E27FC236}">
                    <a16:creationId xmlns:a16="http://schemas.microsoft.com/office/drawing/2014/main" id="{AE3ED02B-1FE3-2DDD-8DC4-2F36FDF1F0E9}"/>
                  </a:ext>
                </a:extLst>
              </p:cNvPr>
              <p:cNvCxnSpPr>
                <a:stCxn id="68" idx="0"/>
                <a:endCxn id="44"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72" name="Google Shape;1557;p32">
                <a:extLst>
                  <a:ext uri="{FF2B5EF4-FFF2-40B4-BE49-F238E27FC236}">
                    <a16:creationId xmlns:a16="http://schemas.microsoft.com/office/drawing/2014/main" id="{BD609889-9390-7B5A-B9DD-F471D640F41C}"/>
                  </a:ext>
                </a:extLst>
              </p:cNvPr>
              <p:cNvCxnSpPr>
                <a:stCxn id="68" idx="1"/>
                <a:endCxn id="46"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73" name="Google Shape;1558;p32">
                <a:extLst>
                  <a:ext uri="{FF2B5EF4-FFF2-40B4-BE49-F238E27FC236}">
                    <a16:creationId xmlns:a16="http://schemas.microsoft.com/office/drawing/2014/main" id="{F2BDC871-313F-DD3E-E21F-1FE10B50DCF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4" name="Google Shape;1559;p32">
                <a:extLst>
                  <a:ext uri="{FF2B5EF4-FFF2-40B4-BE49-F238E27FC236}">
                    <a16:creationId xmlns:a16="http://schemas.microsoft.com/office/drawing/2014/main" id="{F1981531-E094-6752-5F4A-4D6E2287860E}"/>
                  </a:ext>
                </a:extLst>
              </p:cNvPr>
              <p:cNvCxnSpPr>
                <a:stCxn id="68" idx="2"/>
                <a:endCxn id="73"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75" name="Google Shape;1560;p32">
                <a:extLst>
                  <a:ext uri="{FF2B5EF4-FFF2-40B4-BE49-F238E27FC236}">
                    <a16:creationId xmlns:a16="http://schemas.microsoft.com/office/drawing/2014/main" id="{2BE5FAAA-9E20-1ECC-38F2-B483C29077B7}"/>
                  </a:ext>
                </a:extLst>
              </p:cNvPr>
              <p:cNvCxnSpPr>
                <a:stCxn id="73" idx="1"/>
                <a:endCxn id="49"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9" name="Google Shape;1527;p32">
              <a:extLst>
                <a:ext uri="{FF2B5EF4-FFF2-40B4-BE49-F238E27FC236}">
                  <a16:creationId xmlns:a16="http://schemas.microsoft.com/office/drawing/2014/main" id="{B1F02276-77A6-9323-226A-7FAE672955B7}"/>
                </a:ext>
              </a:extLst>
            </p:cNvPr>
            <p:cNvGrpSpPr/>
            <p:nvPr/>
          </p:nvGrpSpPr>
          <p:grpSpPr>
            <a:xfrm rot="8810917">
              <a:off x="-2238844" y="-1530749"/>
              <a:ext cx="5268354" cy="3653996"/>
              <a:chOff x="-1488172" y="-349971"/>
              <a:chExt cx="6360442" cy="4411440"/>
            </a:xfrm>
          </p:grpSpPr>
          <p:sp>
            <p:nvSpPr>
              <p:cNvPr id="10" name="Google Shape;1528;p32">
                <a:extLst>
                  <a:ext uri="{FF2B5EF4-FFF2-40B4-BE49-F238E27FC236}">
                    <a16:creationId xmlns:a16="http://schemas.microsoft.com/office/drawing/2014/main" id="{991C45A8-F635-1914-B9E3-E0073C57883E}"/>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 name="Google Shape;1529;p32">
                <a:extLst>
                  <a:ext uri="{FF2B5EF4-FFF2-40B4-BE49-F238E27FC236}">
                    <a16:creationId xmlns:a16="http://schemas.microsoft.com/office/drawing/2014/main" id="{E6F9BDD7-9011-64F0-EF0D-4CA4B166813C}"/>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530;p32">
                <a:extLst>
                  <a:ext uri="{FF2B5EF4-FFF2-40B4-BE49-F238E27FC236}">
                    <a16:creationId xmlns:a16="http://schemas.microsoft.com/office/drawing/2014/main" id="{AB583F0A-78AE-9213-A21D-2769E29759E2}"/>
                  </a:ext>
                </a:extLst>
              </p:cNvPr>
              <p:cNvSpPr/>
              <p:nvPr/>
            </p:nvSpPr>
            <p:spPr>
              <a:xfrm rot="10800000">
                <a:off x="2069278" y="1339244"/>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531;p32">
                <a:extLst>
                  <a:ext uri="{FF2B5EF4-FFF2-40B4-BE49-F238E27FC236}">
                    <a16:creationId xmlns:a16="http://schemas.microsoft.com/office/drawing/2014/main" id="{B85B324C-DE57-25B2-70CC-078C6E12FB6D}"/>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532;p32">
                <a:extLst>
                  <a:ext uri="{FF2B5EF4-FFF2-40B4-BE49-F238E27FC236}">
                    <a16:creationId xmlns:a16="http://schemas.microsoft.com/office/drawing/2014/main" id="{4F5040AD-C435-D8B3-38C4-63A175EF288B}"/>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33;p32">
                <a:extLst>
                  <a:ext uri="{FF2B5EF4-FFF2-40B4-BE49-F238E27FC236}">
                    <a16:creationId xmlns:a16="http://schemas.microsoft.com/office/drawing/2014/main" id="{4CB6A4F7-74BA-DB17-3850-D124A0D65056}"/>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534;p32">
                <a:extLst>
                  <a:ext uri="{FF2B5EF4-FFF2-40B4-BE49-F238E27FC236}">
                    <a16:creationId xmlns:a16="http://schemas.microsoft.com/office/drawing/2014/main" id="{73C4631A-A0C8-EEF2-9F1F-9DAD04E6986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535;p32">
                <a:extLst>
                  <a:ext uri="{FF2B5EF4-FFF2-40B4-BE49-F238E27FC236}">
                    <a16:creationId xmlns:a16="http://schemas.microsoft.com/office/drawing/2014/main" id="{FEFF7898-9EB8-E902-C0FD-14AB53565B2E}"/>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8" name="Google Shape;1536;p32">
                <a:extLst>
                  <a:ext uri="{FF2B5EF4-FFF2-40B4-BE49-F238E27FC236}">
                    <a16:creationId xmlns:a16="http://schemas.microsoft.com/office/drawing/2014/main" id="{1B786B42-2559-2883-3EAE-AA7D6154ECAA}"/>
                  </a:ext>
                </a:extLst>
              </p:cNvPr>
              <p:cNvCxnSpPr>
                <a:stCxn id="14" idx="5"/>
                <a:endCxn id="13"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9" name="Google Shape;1537;p32">
                <a:extLst>
                  <a:ext uri="{FF2B5EF4-FFF2-40B4-BE49-F238E27FC236}">
                    <a16:creationId xmlns:a16="http://schemas.microsoft.com/office/drawing/2014/main" id="{2FFBB3A0-D559-A610-4537-07D107E0AAE3}"/>
                  </a:ext>
                </a:extLst>
              </p:cNvPr>
              <p:cNvCxnSpPr>
                <a:stCxn id="15" idx="4"/>
                <a:endCxn id="13"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1538;p32">
                <a:extLst>
                  <a:ext uri="{FF2B5EF4-FFF2-40B4-BE49-F238E27FC236}">
                    <a16:creationId xmlns:a16="http://schemas.microsoft.com/office/drawing/2014/main" id="{866B2789-DD9E-A8BD-7A86-A8E09A215006}"/>
                  </a:ext>
                </a:extLst>
              </p:cNvPr>
              <p:cNvCxnSpPr>
                <a:stCxn id="10" idx="6"/>
                <a:endCxn id="13"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1539;p32">
                <a:extLst>
                  <a:ext uri="{FF2B5EF4-FFF2-40B4-BE49-F238E27FC236}">
                    <a16:creationId xmlns:a16="http://schemas.microsoft.com/office/drawing/2014/main" id="{39792D02-3CBC-50E3-CF21-7DB8A2454673}"/>
                  </a:ext>
                </a:extLst>
              </p:cNvPr>
              <p:cNvCxnSpPr>
                <a:stCxn id="10" idx="0"/>
                <a:endCxn id="14"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1540;p32">
                <a:extLst>
                  <a:ext uri="{FF2B5EF4-FFF2-40B4-BE49-F238E27FC236}">
                    <a16:creationId xmlns:a16="http://schemas.microsoft.com/office/drawing/2014/main" id="{CCD73A81-A01E-84EC-7686-235335A57D32}"/>
                  </a:ext>
                </a:extLst>
              </p:cNvPr>
              <p:cNvCxnSpPr>
                <a:stCxn id="14" idx="7"/>
                <a:endCxn id="15"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1541;p32">
                <a:extLst>
                  <a:ext uri="{FF2B5EF4-FFF2-40B4-BE49-F238E27FC236}">
                    <a16:creationId xmlns:a16="http://schemas.microsoft.com/office/drawing/2014/main" id="{CC100689-0524-08B7-51A2-E6DF376BF4E0}"/>
                  </a:ext>
                </a:extLst>
              </p:cNvPr>
              <p:cNvCxnSpPr>
                <a:stCxn id="15" idx="6"/>
                <a:endCxn id="11"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1542;p32">
                <a:extLst>
                  <a:ext uri="{FF2B5EF4-FFF2-40B4-BE49-F238E27FC236}">
                    <a16:creationId xmlns:a16="http://schemas.microsoft.com/office/drawing/2014/main" id="{16D3FD22-7ECE-E8BA-E42B-61211D7E7F5F}"/>
                  </a:ext>
                </a:extLst>
              </p:cNvPr>
              <p:cNvCxnSpPr>
                <a:stCxn id="13" idx="7"/>
                <a:endCxn id="11"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1543;p32">
                <a:extLst>
                  <a:ext uri="{FF2B5EF4-FFF2-40B4-BE49-F238E27FC236}">
                    <a16:creationId xmlns:a16="http://schemas.microsoft.com/office/drawing/2014/main" id="{B383F9FE-2500-4492-90AB-F782C5F2E311}"/>
                  </a:ext>
                </a:extLst>
              </p:cNvPr>
              <p:cNvCxnSpPr>
                <a:stCxn id="10" idx="5"/>
                <a:endCxn id="16"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1544;p32">
                <a:extLst>
                  <a:ext uri="{FF2B5EF4-FFF2-40B4-BE49-F238E27FC236}">
                    <a16:creationId xmlns:a16="http://schemas.microsoft.com/office/drawing/2014/main" id="{1BD58229-254E-84DD-AACE-E47997803768}"/>
                  </a:ext>
                </a:extLst>
              </p:cNvPr>
              <p:cNvCxnSpPr>
                <a:stCxn id="16" idx="7"/>
                <a:endCxn id="13"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45;p32">
                <a:extLst>
                  <a:ext uri="{FF2B5EF4-FFF2-40B4-BE49-F238E27FC236}">
                    <a16:creationId xmlns:a16="http://schemas.microsoft.com/office/drawing/2014/main" id="{55128534-6F4E-FD0B-7771-C3EC2C7155FE}"/>
                  </a:ext>
                </a:extLst>
              </p:cNvPr>
              <p:cNvCxnSpPr>
                <a:stCxn id="16" idx="5"/>
                <a:endCxn id="12" idx="2"/>
              </p:cNvCxnSpPr>
              <p:nvPr/>
            </p:nvCxnSpPr>
            <p:spPr>
              <a:xfrm rot="12789083" flipV="1">
                <a:off x="2635508" y="1306911"/>
                <a:ext cx="431279" cy="42728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46;p32">
                <a:extLst>
                  <a:ext uri="{FF2B5EF4-FFF2-40B4-BE49-F238E27FC236}">
                    <a16:creationId xmlns:a16="http://schemas.microsoft.com/office/drawing/2014/main" id="{DAED79A8-86FD-BABB-294A-90BE134BF675}"/>
                  </a:ext>
                </a:extLst>
              </p:cNvPr>
              <p:cNvCxnSpPr>
                <a:stCxn id="12" idx="0"/>
                <a:endCxn id="13" idx="5"/>
              </p:cNvCxnSpPr>
              <p:nvPr/>
            </p:nvCxnSpPr>
            <p:spPr>
              <a:xfrm flipH="1" flipV="1">
                <a:off x="2115981" y="1871967"/>
                <a:ext cx="357559" cy="608746"/>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47;p32">
                <a:extLst>
                  <a:ext uri="{FF2B5EF4-FFF2-40B4-BE49-F238E27FC236}">
                    <a16:creationId xmlns:a16="http://schemas.microsoft.com/office/drawing/2014/main" id="{2D111E43-36FD-41F5-6DBC-9C6E63FF8DFB}"/>
                  </a:ext>
                </a:extLst>
              </p:cNvPr>
              <p:cNvCxnSpPr>
                <a:stCxn id="12" idx="7"/>
                <a:endCxn id="17" idx="3"/>
              </p:cNvCxnSpPr>
              <p:nvPr/>
            </p:nvCxnSpPr>
            <p:spPr>
              <a:xfrm flipV="1">
                <a:off x="844740" y="1367185"/>
                <a:ext cx="997519" cy="1386691"/>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8;p32">
                <a:extLst>
                  <a:ext uri="{FF2B5EF4-FFF2-40B4-BE49-F238E27FC236}">
                    <a16:creationId xmlns:a16="http://schemas.microsoft.com/office/drawing/2014/main" id="{E26811B8-E7B4-9DE4-D2C1-9094DE8240DF}"/>
                  </a:ext>
                </a:extLst>
              </p:cNvPr>
              <p:cNvCxnSpPr>
                <a:stCxn id="13" idx="6"/>
                <a:endCxn id="17"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9;p32">
                <a:extLst>
                  <a:ext uri="{FF2B5EF4-FFF2-40B4-BE49-F238E27FC236}">
                    <a16:creationId xmlns:a16="http://schemas.microsoft.com/office/drawing/2014/main" id="{E422028D-C448-E7AB-AE8B-66669DF61382}"/>
                  </a:ext>
                </a:extLst>
              </p:cNvPr>
              <p:cNvCxnSpPr>
                <a:stCxn id="17" idx="0"/>
                <a:endCxn id="11"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50;p32">
                <a:extLst>
                  <a:ext uri="{FF2B5EF4-FFF2-40B4-BE49-F238E27FC236}">
                    <a16:creationId xmlns:a16="http://schemas.microsoft.com/office/drawing/2014/main" id="{23DD5A77-5B0F-B293-6FFF-CD3E7ABFF173}"/>
                  </a:ext>
                </a:extLst>
              </p:cNvPr>
              <p:cNvCxnSpPr>
                <a:stCxn id="14" idx="4"/>
                <a:endCxn id="12" idx="1"/>
              </p:cNvCxnSpPr>
              <p:nvPr/>
            </p:nvCxnSpPr>
            <p:spPr>
              <a:xfrm rot="12789083">
                <a:off x="2070345" y="2250762"/>
                <a:ext cx="2085485" cy="887811"/>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51;p32">
                <a:extLst>
                  <a:ext uri="{FF2B5EF4-FFF2-40B4-BE49-F238E27FC236}">
                    <a16:creationId xmlns:a16="http://schemas.microsoft.com/office/drawing/2014/main" id="{4F83103B-DD2B-D9BF-9054-061AF6CF1115}"/>
                  </a:ext>
                </a:extLst>
              </p:cNvPr>
              <p:cNvCxnSpPr>
                <a:stCxn id="11" idx="4"/>
                <a:endCxn id="12" idx="7"/>
              </p:cNvCxnSpPr>
              <p:nvPr/>
            </p:nvCxnSpPr>
            <p:spPr>
              <a:xfrm rot="12789083">
                <a:off x="1569328" y="1659260"/>
                <a:ext cx="256678" cy="2011563"/>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52;p32">
                <a:extLst>
                  <a:ext uri="{FF2B5EF4-FFF2-40B4-BE49-F238E27FC236}">
                    <a16:creationId xmlns:a16="http://schemas.microsoft.com/office/drawing/2014/main" id="{0E24A41B-8E17-F9DA-F58F-4F3910737D93}"/>
                  </a:ext>
                </a:extLst>
              </p:cNvPr>
              <p:cNvCxnSpPr>
                <a:stCxn id="10" idx="5"/>
                <a:endCxn id="12" idx="1"/>
              </p:cNvCxnSpPr>
              <p:nvPr/>
            </p:nvCxnSpPr>
            <p:spPr>
              <a:xfrm rot="12789083" flipV="1">
                <a:off x="2410569" y="1995543"/>
                <a:ext cx="1772843" cy="263429"/>
              </a:xfrm>
              <a:prstGeom prst="straightConnector1">
                <a:avLst/>
              </a:prstGeom>
              <a:noFill/>
              <a:ln w="9525" cap="flat" cmpd="sng">
                <a:solidFill>
                  <a:schemeClr val="dk2"/>
                </a:solidFill>
                <a:prstDash val="solid"/>
                <a:round/>
                <a:headEnd type="none" w="med" len="med"/>
                <a:tailEnd type="none" w="med" len="med"/>
              </a:ln>
            </p:spPr>
          </p:cxnSp>
          <p:sp>
            <p:nvSpPr>
              <p:cNvPr id="35" name="Google Shape;1553;p32">
                <a:extLst>
                  <a:ext uri="{FF2B5EF4-FFF2-40B4-BE49-F238E27FC236}">
                    <a16:creationId xmlns:a16="http://schemas.microsoft.com/office/drawing/2014/main" id="{BB88EC58-F877-F6CC-672B-6F95AA2E5DF3}"/>
                  </a:ext>
                </a:extLst>
              </p:cNvPr>
              <p:cNvSpPr/>
              <p:nvPr/>
            </p:nvSpPr>
            <p:spPr>
              <a:xfrm rot="10800000">
                <a:off x="-893809" y="341846"/>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54;p32">
                <a:extLst>
                  <a:ext uri="{FF2B5EF4-FFF2-40B4-BE49-F238E27FC236}">
                    <a16:creationId xmlns:a16="http://schemas.microsoft.com/office/drawing/2014/main" id="{D8896503-79A1-C27B-A61E-ABC60B48B9B1}"/>
                  </a:ext>
                </a:extLst>
              </p:cNvPr>
              <p:cNvCxnSpPr>
                <a:cxnSpLocks/>
              </p:cNvCxnSpPr>
              <p:nvPr/>
            </p:nvCxnSpPr>
            <p:spPr>
              <a:xfrm rot="10800000" flipH="1">
                <a:off x="-15989" y="912174"/>
                <a:ext cx="390899" cy="15249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55;p32">
                <a:extLst>
                  <a:ext uri="{FF2B5EF4-FFF2-40B4-BE49-F238E27FC236}">
                    <a16:creationId xmlns:a16="http://schemas.microsoft.com/office/drawing/2014/main" id="{F170C055-5BEE-B271-4C3A-D98C8EFA8A8E}"/>
                  </a:ext>
                </a:extLst>
              </p:cNvPr>
              <p:cNvCxnSpPr>
                <a:cxnSpLocks/>
              </p:cNvCxnSpPr>
              <p:nvPr/>
            </p:nvCxnSpPr>
            <p:spPr>
              <a:xfrm flipH="1">
                <a:off x="2847711" y="-349971"/>
                <a:ext cx="2024559" cy="251288"/>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56;p32">
                <a:extLst>
                  <a:ext uri="{FF2B5EF4-FFF2-40B4-BE49-F238E27FC236}">
                    <a16:creationId xmlns:a16="http://schemas.microsoft.com/office/drawing/2014/main" id="{08E4AA3D-7FE6-BBAE-755E-7BCBB4AEE55B}"/>
                  </a:ext>
                </a:extLst>
              </p:cNvPr>
              <p:cNvCxnSpPr>
                <a:stCxn id="35" idx="0"/>
                <a:endCxn id="11" idx="4"/>
              </p:cNvCxnSpPr>
              <p:nvPr/>
            </p:nvCxnSpPr>
            <p:spPr>
              <a:xfrm flipH="1" flipV="1">
                <a:off x="-1488172" y="1315884"/>
                <a:ext cx="3416384" cy="1444873"/>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57;p32">
                <a:extLst>
                  <a:ext uri="{FF2B5EF4-FFF2-40B4-BE49-F238E27FC236}">
                    <a16:creationId xmlns:a16="http://schemas.microsoft.com/office/drawing/2014/main" id="{E167DF32-03D5-814B-CAC7-993F973581E1}"/>
                  </a:ext>
                </a:extLst>
              </p:cNvPr>
              <p:cNvCxnSpPr>
                <a:cxnSpLocks/>
              </p:cNvCxnSpPr>
              <p:nvPr/>
            </p:nvCxnSpPr>
            <p:spPr>
              <a:xfrm>
                <a:off x="626193" y="800511"/>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0" name="Google Shape;1558;p32">
                <a:extLst>
                  <a:ext uri="{FF2B5EF4-FFF2-40B4-BE49-F238E27FC236}">
                    <a16:creationId xmlns:a16="http://schemas.microsoft.com/office/drawing/2014/main" id="{5AC19086-D021-3011-0825-E10E1963C5CC}"/>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1" name="Google Shape;1559;p32">
                <a:extLst>
                  <a:ext uri="{FF2B5EF4-FFF2-40B4-BE49-F238E27FC236}">
                    <a16:creationId xmlns:a16="http://schemas.microsoft.com/office/drawing/2014/main" id="{889320C9-B6CD-41BE-3E4F-0F40217FBE40}"/>
                  </a:ext>
                </a:extLst>
              </p:cNvPr>
              <p:cNvCxnSpPr>
                <a:cxnSpLocks/>
                <a:stCxn id="16" idx="4"/>
                <a:endCxn id="40" idx="6"/>
              </p:cNvCxnSpPr>
              <p:nvPr/>
            </p:nvCxnSpPr>
            <p:spPr>
              <a:xfrm rot="12789083">
                <a:off x="2133995" y="721184"/>
                <a:ext cx="1283133" cy="396814"/>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60;p32">
                <a:extLst>
                  <a:ext uri="{FF2B5EF4-FFF2-40B4-BE49-F238E27FC236}">
                    <a16:creationId xmlns:a16="http://schemas.microsoft.com/office/drawing/2014/main" id="{68CBA536-3082-8C7A-208C-ADEE9417BC3F}"/>
                  </a:ext>
                </a:extLst>
              </p:cNvPr>
              <p:cNvCxnSpPr>
                <a:stCxn id="40" idx="1"/>
                <a:endCxn id="16"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extLst>
      <p:ext uri="{BB962C8B-B14F-4D97-AF65-F5344CB8AC3E}">
        <p14:creationId xmlns:p14="http://schemas.microsoft.com/office/powerpoint/2010/main" val="426193795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18" name="ZoneTexte 17">
            <a:extLst>
              <a:ext uri="{FF2B5EF4-FFF2-40B4-BE49-F238E27FC236}">
                <a16:creationId xmlns:a16="http://schemas.microsoft.com/office/drawing/2014/main" id="{864105FC-9072-B9F2-F290-FFBDF5ED642E}"/>
              </a:ext>
            </a:extLst>
          </p:cNvPr>
          <p:cNvSpPr txBox="1"/>
          <p:nvPr/>
        </p:nvSpPr>
        <p:spPr>
          <a:xfrm>
            <a:off x="1790381" y="1698173"/>
            <a:ext cx="4572000" cy="1323439"/>
          </a:xfrm>
          <a:prstGeom prst="rect">
            <a:avLst/>
          </a:prstGeom>
          <a:noFill/>
        </p:spPr>
        <p:txBody>
          <a:bodyPr wrap="square" rtlCol="0">
            <a:spAutoFit/>
          </a:bodyPr>
          <a:lstStyle/>
          <a:p>
            <a:r>
              <a:rPr lang="fr-FR" sz="4400" b="1" dirty="0">
                <a:solidFill>
                  <a:schemeClr val="bg1"/>
                </a:solidFill>
                <a:latin typeface="Perpetua Titling MT" panose="02020502060505020804" pitchFamily="18" charset="0"/>
                <a:cs typeface="Aharoni" panose="02010803020104030203" pitchFamily="2" charset="-79"/>
              </a:rPr>
              <a:t>CHAPITRE II</a:t>
            </a:r>
          </a:p>
          <a:p>
            <a:r>
              <a:rPr lang="fr-FR" sz="3600" b="1" dirty="0">
                <a:solidFill>
                  <a:schemeClr val="bg1"/>
                </a:solidFill>
                <a:latin typeface="Perpetua Titling MT" panose="02020502060505020804" pitchFamily="18" charset="0"/>
                <a:cs typeface="Aharoni" panose="02010803020104030203" pitchFamily="2" charset="-79"/>
              </a:rPr>
              <a:t>                </a:t>
            </a:r>
            <a:endParaRPr lang="fr-FR" sz="3600" u="sng" dirty="0">
              <a:solidFill>
                <a:schemeClr val="bg1"/>
              </a:solidFill>
              <a:latin typeface="Perpetua Titling MT" panose="02020502060505020804" pitchFamily="18" charset="0"/>
              <a:cs typeface="Aharoni" panose="02010803020104030203" pitchFamily="2" charset="-79"/>
            </a:endParaRPr>
          </a:p>
        </p:txBody>
      </p:sp>
      <p:sp>
        <p:nvSpPr>
          <p:cNvPr id="20" name="ZoneTexte 19">
            <a:extLst>
              <a:ext uri="{FF2B5EF4-FFF2-40B4-BE49-F238E27FC236}">
                <a16:creationId xmlns:a16="http://schemas.microsoft.com/office/drawing/2014/main" id="{2BB0EF7D-C73B-F028-E28F-FF53CF0DBFB8}"/>
              </a:ext>
            </a:extLst>
          </p:cNvPr>
          <p:cNvSpPr txBox="1"/>
          <p:nvPr/>
        </p:nvSpPr>
        <p:spPr>
          <a:xfrm>
            <a:off x="3446289" y="2417861"/>
            <a:ext cx="4572000" cy="707886"/>
          </a:xfrm>
          <a:prstGeom prst="rect">
            <a:avLst/>
          </a:prstGeom>
          <a:noFill/>
        </p:spPr>
        <p:txBody>
          <a:bodyPr wrap="square">
            <a:spAutoFit/>
          </a:bodyPr>
          <a:lstStyle/>
          <a:p>
            <a:r>
              <a:rPr lang="fr-FR" sz="4000" b="1" dirty="0">
                <a:solidFill>
                  <a:schemeClr val="bg1"/>
                </a:solidFill>
                <a:latin typeface="Perpetua Titling MT" panose="02020502060505020804" pitchFamily="18" charset="0"/>
                <a:cs typeface="Aharoni" panose="02010803020104030203" pitchFamily="2" charset="-79"/>
              </a:rPr>
              <a:t>Networkx</a:t>
            </a:r>
            <a:endParaRPr lang="fr-FR" sz="4000" dirty="0">
              <a:latin typeface="Perpetua Titling MT" panose="02020502060505020804" pitchFamily="18" charset="0"/>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67A08D-6552-F26A-9BB0-4B9B160E5C80}"/>
              </a:ext>
            </a:extLst>
          </p:cNvPr>
          <p:cNvSpPr>
            <a:spLocks noGrp="1"/>
          </p:cNvSpPr>
          <p:nvPr>
            <p:ph type="title"/>
          </p:nvPr>
        </p:nvSpPr>
        <p:spPr/>
        <p:txBody>
          <a:bodyPr/>
          <a:lstStyle/>
          <a:p>
            <a:r>
              <a:rPr lang="fr-FR" b="1" dirty="0"/>
              <a:t>COMMENT CRÉER UN GRAPHE SUR NETWORKX ?</a:t>
            </a:r>
          </a:p>
        </p:txBody>
      </p:sp>
      <p:sp>
        <p:nvSpPr>
          <p:cNvPr id="7" name="ZoneTexte 6">
            <a:extLst>
              <a:ext uri="{FF2B5EF4-FFF2-40B4-BE49-F238E27FC236}">
                <a16:creationId xmlns:a16="http://schemas.microsoft.com/office/drawing/2014/main" id="{3E371645-0FBC-3B59-544A-9B30EF02586C}"/>
              </a:ext>
            </a:extLst>
          </p:cNvPr>
          <p:cNvSpPr txBox="1"/>
          <p:nvPr/>
        </p:nvSpPr>
        <p:spPr>
          <a:xfrm>
            <a:off x="720000" y="1619250"/>
            <a:ext cx="7995375" cy="646331"/>
          </a:xfrm>
          <a:prstGeom prst="rect">
            <a:avLst/>
          </a:prstGeom>
          <a:noFill/>
        </p:spPr>
        <p:txBody>
          <a:bodyPr wrap="square" rtlCol="0">
            <a:spAutoFit/>
          </a:bodyPr>
          <a:lstStyle/>
          <a:p>
            <a:r>
              <a:rPr lang="en-US" dirty="0"/>
              <a:t>On </a:t>
            </a:r>
            <a:r>
              <a:rPr lang="en-US" dirty="0" err="1"/>
              <a:t>peut</a:t>
            </a:r>
            <a:r>
              <a:rPr lang="en-US" dirty="0"/>
              <a:t> </a:t>
            </a:r>
            <a:r>
              <a:rPr lang="fr-FR" dirty="0"/>
              <a:t>crée un graphe  on utilisons l’une des classes suivant:</a:t>
            </a:r>
          </a:p>
          <a:p>
            <a:r>
              <a:rPr lang="fr-FR" dirty="0"/>
              <a:t> </a:t>
            </a:r>
          </a:p>
        </p:txBody>
      </p:sp>
      <p:sp>
        <p:nvSpPr>
          <p:cNvPr id="9" name="ZoneTexte 8">
            <a:extLst>
              <a:ext uri="{FF2B5EF4-FFF2-40B4-BE49-F238E27FC236}">
                <a16:creationId xmlns:a16="http://schemas.microsoft.com/office/drawing/2014/main" id="{67E7AC28-7640-43EF-8C2A-F1718864513A}"/>
              </a:ext>
            </a:extLst>
          </p:cNvPr>
          <p:cNvSpPr txBox="1"/>
          <p:nvPr/>
        </p:nvSpPr>
        <p:spPr>
          <a:xfrm>
            <a:off x="485775" y="2080915"/>
            <a:ext cx="8458200" cy="369332"/>
          </a:xfrm>
          <a:prstGeom prst="rect">
            <a:avLst/>
          </a:prstGeom>
          <a:noFill/>
        </p:spPr>
        <p:txBody>
          <a:bodyPr wrap="square" rtlCol="0">
            <a:spAutoFit/>
          </a:bodyPr>
          <a:lstStyle/>
          <a:p>
            <a:r>
              <a:rPr lang="fr-CA" b="1" dirty="0" err="1"/>
              <a:t>nx.Graph</a:t>
            </a:r>
            <a:r>
              <a:rPr lang="fr-CA" b="1" dirty="0"/>
              <a:t>() </a:t>
            </a:r>
            <a:r>
              <a:rPr lang="fr-CA" dirty="0"/>
              <a:t>:pour les graphes  non orientés</a:t>
            </a:r>
            <a:endParaRPr lang="fr-CA" sz="1800" kern="1200" dirty="0">
              <a:solidFill>
                <a:schemeClr val="tx1"/>
              </a:solidFill>
              <a:latin typeface="+mn-lt"/>
              <a:ea typeface="+mn-ea"/>
              <a:cs typeface="+mn-cs"/>
            </a:endParaRPr>
          </a:p>
        </p:txBody>
      </p:sp>
      <p:sp>
        <p:nvSpPr>
          <p:cNvPr id="10" name="ZoneTexte 9">
            <a:extLst>
              <a:ext uri="{FF2B5EF4-FFF2-40B4-BE49-F238E27FC236}">
                <a16:creationId xmlns:a16="http://schemas.microsoft.com/office/drawing/2014/main" id="{2DA94101-5C35-3A4C-8230-BC06CB634980}"/>
              </a:ext>
            </a:extLst>
          </p:cNvPr>
          <p:cNvSpPr txBox="1"/>
          <p:nvPr/>
        </p:nvSpPr>
        <p:spPr>
          <a:xfrm>
            <a:off x="485775" y="2639497"/>
            <a:ext cx="8458200" cy="369332"/>
          </a:xfrm>
          <a:prstGeom prst="rect">
            <a:avLst/>
          </a:prstGeom>
          <a:noFill/>
        </p:spPr>
        <p:txBody>
          <a:bodyPr wrap="square" rtlCol="0">
            <a:spAutoFit/>
          </a:bodyPr>
          <a:lstStyle/>
          <a:p>
            <a:r>
              <a:rPr lang="fr-CA" b="1" dirty="0" err="1"/>
              <a:t>nx.DiGraph</a:t>
            </a:r>
            <a:r>
              <a:rPr lang="fr-CA" b="1" dirty="0"/>
              <a:t>() </a:t>
            </a:r>
            <a:r>
              <a:rPr lang="fr-CA" dirty="0"/>
              <a:t>:pour les graphes  orientés</a:t>
            </a:r>
            <a:endParaRPr lang="fr-CA" sz="1800" kern="1200" dirty="0">
              <a:solidFill>
                <a:schemeClr val="tx1"/>
              </a:solidFill>
              <a:latin typeface="+mn-lt"/>
              <a:ea typeface="+mn-ea"/>
              <a:cs typeface="+mn-cs"/>
            </a:endParaRPr>
          </a:p>
        </p:txBody>
      </p:sp>
      <p:sp>
        <p:nvSpPr>
          <p:cNvPr id="11" name="ZoneTexte 10">
            <a:extLst>
              <a:ext uri="{FF2B5EF4-FFF2-40B4-BE49-F238E27FC236}">
                <a16:creationId xmlns:a16="http://schemas.microsoft.com/office/drawing/2014/main" id="{9D55A409-B8E9-1252-1F33-23A1A76B58CC}"/>
              </a:ext>
            </a:extLst>
          </p:cNvPr>
          <p:cNvSpPr txBox="1"/>
          <p:nvPr/>
        </p:nvSpPr>
        <p:spPr>
          <a:xfrm>
            <a:off x="485775" y="3194090"/>
            <a:ext cx="77343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b="1" i="0" u="none" strike="noStrike" cap="none" normalizeH="0" baseline="0" dirty="0" err="1">
                <a:ln>
                  <a:noFill/>
                </a:ln>
                <a:solidFill>
                  <a:schemeClr val="tx1"/>
                </a:solidFill>
                <a:effectLst/>
                <a:latin typeface="Arial Unicode MS" panose="020B0604020202020204" pitchFamily="34" charset="-128"/>
              </a:rPr>
              <a:t>nx.MultiGraph</a:t>
            </a:r>
            <a:r>
              <a:rPr lang="fr-FR" altLang="fr-FR" b="1" dirty="0">
                <a:latin typeface="Arial Unicode MS" panose="020B0604020202020204" pitchFamily="34" charset="-128"/>
              </a:rPr>
              <a:t>(</a:t>
            </a:r>
            <a:r>
              <a:rPr kumimoji="0" lang="fr-FR" altLang="fr-FR" b="1" i="0" u="none" strike="noStrike" cap="none" normalizeH="0" baseline="0" dirty="0">
                <a:ln>
                  <a:noFill/>
                </a:ln>
                <a:solidFill>
                  <a:schemeClr val="tx1"/>
                </a:solidFill>
                <a:effectLst/>
                <a:latin typeface="Arial Unicode MS" panose="020B0604020202020204" pitchFamily="34" charset="-128"/>
              </a:rPr>
              <a:t>)</a:t>
            </a:r>
            <a:r>
              <a:rPr kumimoji="0" lang="en-US" altLang="fr-FR" b="1" i="0" u="none" strike="noStrike" cap="none" normalizeH="0" baseline="0" dirty="0">
                <a:ln>
                  <a:noFill/>
                </a:ln>
                <a:solidFill>
                  <a:schemeClr val="tx1"/>
                </a:solidFill>
                <a:effectLst/>
                <a:latin typeface="Arial Unicode MS" panose="020B0604020202020204" pitchFamily="34" charset="-128"/>
              </a:rPr>
              <a:t>:</a:t>
            </a:r>
            <a:r>
              <a:rPr kumimoji="0" lang="fr-FR" altLang="fr-FR" b="1" i="0" u="none" strike="noStrike" cap="none" normalizeH="0" baseline="0" dirty="0">
                <a:ln>
                  <a:noFill/>
                </a:ln>
                <a:solidFill>
                  <a:schemeClr val="tx1"/>
                </a:solidFill>
                <a:effectLst/>
              </a:rPr>
              <a:t> </a:t>
            </a:r>
            <a:r>
              <a:rPr kumimoji="0" lang="fr-FR" altLang="fr-FR" b="0" i="0" u="none" strike="noStrike" cap="none" normalizeH="0" baseline="0" dirty="0">
                <a:ln>
                  <a:noFill/>
                </a:ln>
                <a:solidFill>
                  <a:schemeClr val="tx1"/>
                </a:solidFill>
                <a:effectLst/>
              </a:rPr>
              <a:t>pour des liens multiples</a:t>
            </a:r>
            <a:endParaRPr kumimoji="0" lang="fr-FR" altLang="fr-FR" b="0" i="0" u="none" strike="noStrike" cap="none" normalizeH="0" baseline="0" dirty="0">
              <a:ln>
                <a:noFill/>
              </a:ln>
              <a:solidFill>
                <a:schemeClr val="tx1"/>
              </a:solidFill>
              <a:effectLst/>
              <a:latin typeface="Arial" panose="020B0604020202020204" pitchFamily="34" charset="0"/>
            </a:endParaRPr>
          </a:p>
        </p:txBody>
      </p:sp>
      <p:sp>
        <p:nvSpPr>
          <p:cNvPr id="13" name="ZoneTexte 12">
            <a:extLst>
              <a:ext uri="{FF2B5EF4-FFF2-40B4-BE49-F238E27FC236}">
                <a16:creationId xmlns:a16="http://schemas.microsoft.com/office/drawing/2014/main" id="{258CD9E5-65F6-82F5-3CC7-0613DEB80AEF}"/>
              </a:ext>
            </a:extLst>
          </p:cNvPr>
          <p:cNvSpPr txBox="1"/>
          <p:nvPr/>
        </p:nvSpPr>
        <p:spPr>
          <a:xfrm>
            <a:off x="485775" y="3730109"/>
            <a:ext cx="6509475"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b="1" i="0" u="none" strike="noStrike" cap="none" normalizeH="0" baseline="0" dirty="0" err="1">
                <a:ln>
                  <a:noFill/>
                </a:ln>
                <a:solidFill>
                  <a:schemeClr val="tx1"/>
                </a:solidFill>
                <a:effectLst/>
                <a:latin typeface="Arial Unicode MS" panose="020B0604020202020204" pitchFamily="34" charset="-128"/>
              </a:rPr>
              <a:t>nx.MultiDiGraph</a:t>
            </a:r>
            <a:r>
              <a:rPr lang="fr-FR" altLang="fr-FR" b="1" dirty="0">
                <a:latin typeface="Arial Unicode MS" panose="020B0604020202020204" pitchFamily="34" charset="-128"/>
              </a:rPr>
              <a:t>()</a:t>
            </a:r>
            <a:r>
              <a:rPr kumimoji="0" lang="fr-FR" altLang="fr-FR" b="1" i="0" u="none" strike="noStrike" cap="none" normalizeH="0" baseline="0" dirty="0">
                <a:ln>
                  <a:noFill/>
                </a:ln>
                <a:solidFill>
                  <a:schemeClr val="tx1"/>
                </a:solidFill>
                <a:effectLst/>
                <a:latin typeface="Arial Unicode MS" panose="020B0604020202020204" pitchFamily="34" charset="-128"/>
              </a:rPr>
              <a:t>:</a:t>
            </a:r>
            <a:r>
              <a:rPr kumimoji="0" lang="fr-FR" altLang="fr-FR" b="1" i="0" u="none" strike="noStrike" cap="none" normalizeH="0" baseline="0" dirty="0">
                <a:ln>
                  <a:noFill/>
                </a:ln>
                <a:solidFill>
                  <a:schemeClr val="tx1"/>
                </a:solidFill>
                <a:effectLst/>
              </a:rPr>
              <a:t> </a:t>
            </a:r>
            <a:r>
              <a:rPr kumimoji="0" lang="fr-FR" altLang="fr-FR" b="0" i="0" u="none" strike="noStrike" cap="none" normalizeH="0" baseline="0" dirty="0">
                <a:ln>
                  <a:noFill/>
                </a:ln>
                <a:solidFill>
                  <a:schemeClr val="tx1"/>
                </a:solidFill>
                <a:effectLst/>
              </a:rPr>
              <a:t>pour les graphes orientés avec liens multiples</a:t>
            </a:r>
            <a:r>
              <a:rPr kumimoji="0" lang="fr-FR" altLang="fr-FR"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04094227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250"/>
                                        <p:tgtEl>
                                          <p:spTgt spid="10"/>
                                        </p:tgtEl>
                                      </p:cBhvr>
                                    </p:animEffect>
                                    <p:anim calcmode="lin" valueType="num">
                                      <p:cBhvr>
                                        <p:cTn id="15" dur="250" fill="hold"/>
                                        <p:tgtEl>
                                          <p:spTgt spid="10"/>
                                        </p:tgtEl>
                                        <p:attrNameLst>
                                          <p:attrName>ppt_x</p:attrName>
                                        </p:attrNameLst>
                                      </p:cBhvr>
                                      <p:tavLst>
                                        <p:tav tm="0">
                                          <p:val>
                                            <p:strVal val="#ppt_x"/>
                                          </p:val>
                                        </p:tav>
                                        <p:tav tm="100000">
                                          <p:val>
                                            <p:strVal val="#ppt_x"/>
                                          </p:val>
                                        </p:tav>
                                      </p:tavLst>
                                    </p:anim>
                                    <p:anim calcmode="lin" valueType="num">
                                      <p:cBhvr>
                                        <p:cTn id="16" dur="2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50"/>
                                        <p:tgtEl>
                                          <p:spTgt spid="11"/>
                                        </p:tgtEl>
                                      </p:cBhvr>
                                    </p:animEffect>
                                    <p:anim calcmode="lin" valueType="num">
                                      <p:cBhvr>
                                        <p:cTn id="22" dur="250" fill="hold"/>
                                        <p:tgtEl>
                                          <p:spTgt spid="11"/>
                                        </p:tgtEl>
                                        <p:attrNameLst>
                                          <p:attrName>ppt_x</p:attrName>
                                        </p:attrNameLst>
                                      </p:cBhvr>
                                      <p:tavLst>
                                        <p:tav tm="0">
                                          <p:val>
                                            <p:strVal val="#ppt_x"/>
                                          </p:val>
                                        </p:tav>
                                        <p:tav tm="100000">
                                          <p:val>
                                            <p:strVal val="#ppt_x"/>
                                          </p:val>
                                        </p:tav>
                                      </p:tavLst>
                                    </p:anim>
                                    <p:anim calcmode="lin" valueType="num">
                                      <p:cBhvr>
                                        <p:cTn id="23" dur="25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50"/>
                                        <p:tgtEl>
                                          <p:spTgt spid="13"/>
                                        </p:tgtEl>
                                      </p:cBhvr>
                                    </p:animEffect>
                                    <p:anim calcmode="lin" valueType="num">
                                      <p:cBhvr>
                                        <p:cTn id="29" dur="250" fill="hold"/>
                                        <p:tgtEl>
                                          <p:spTgt spid="13"/>
                                        </p:tgtEl>
                                        <p:attrNameLst>
                                          <p:attrName>ppt_x</p:attrName>
                                        </p:attrNameLst>
                                      </p:cBhvr>
                                      <p:tavLst>
                                        <p:tav tm="0">
                                          <p:val>
                                            <p:strVal val="#ppt_x"/>
                                          </p:val>
                                        </p:tav>
                                        <p:tav tm="100000">
                                          <p:val>
                                            <p:strVal val="#ppt_x"/>
                                          </p:val>
                                        </p:tav>
                                      </p:tavLst>
                                    </p:anim>
                                    <p:anim calcmode="lin" valueType="num">
                                      <p:cBhvr>
                                        <p:cTn id="30" dur="2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F5C47A7-F594-6E39-2109-920A26785618}"/>
              </a:ext>
            </a:extLst>
          </p:cNvPr>
          <p:cNvSpPr>
            <a:spLocks noGrp="1"/>
          </p:cNvSpPr>
          <p:nvPr>
            <p:ph type="sldNum" sz="quarter" idx="12"/>
          </p:nvPr>
        </p:nvSpPr>
        <p:spPr/>
        <p:txBody>
          <a:bodyPr/>
          <a:lstStyle/>
          <a:p>
            <a:fld id="{A82C58F3-3795-4080-90EF-797C1431D8B7}" type="slidenum">
              <a:rPr lang="fr-FR" smtClean="0"/>
              <a:t>22</a:t>
            </a:fld>
            <a:endParaRPr lang="fr-FR"/>
          </a:p>
        </p:txBody>
      </p:sp>
      <p:sp>
        <p:nvSpPr>
          <p:cNvPr id="3" name="ZoneTexte 2">
            <a:extLst>
              <a:ext uri="{FF2B5EF4-FFF2-40B4-BE49-F238E27FC236}">
                <a16:creationId xmlns:a16="http://schemas.microsoft.com/office/drawing/2014/main" id="{924933D5-9700-E930-349D-7C793CD3DE89}"/>
              </a:ext>
            </a:extLst>
          </p:cNvPr>
          <p:cNvSpPr txBox="1"/>
          <p:nvPr/>
        </p:nvSpPr>
        <p:spPr>
          <a:xfrm>
            <a:off x="548639" y="1700343"/>
            <a:ext cx="7176211" cy="646331"/>
          </a:xfrm>
          <a:prstGeom prst="rect">
            <a:avLst/>
          </a:prstGeom>
          <a:noFill/>
        </p:spPr>
        <p:txBody>
          <a:bodyPr wrap="square" rtlCol="0">
            <a:spAutoFit/>
          </a:bodyPr>
          <a:lstStyle/>
          <a:p>
            <a:pPr algn="l"/>
            <a:r>
              <a:rPr lang="en-US" sz="1800" b="1" i="0" u="none" strike="noStrike" baseline="0" dirty="0">
                <a:latin typeface="NimbusRomNo9L-Medi"/>
              </a:rPr>
              <a:t>import </a:t>
            </a:r>
            <a:r>
              <a:rPr lang="en-US" sz="1800" b="1" i="0" u="none" strike="noStrike" baseline="0" dirty="0" err="1">
                <a:latin typeface="NimbusRomNo9L-Medi"/>
              </a:rPr>
              <a:t>matplotlib.pyplot</a:t>
            </a:r>
            <a:r>
              <a:rPr lang="en-US" sz="1800" b="1" i="0" u="none" strike="noStrike" baseline="0" dirty="0">
                <a:latin typeface="NimbusRomNo9L-Medi"/>
              </a:rPr>
              <a:t> as </a:t>
            </a:r>
            <a:r>
              <a:rPr lang="en-US" sz="1800" b="1" i="0" u="none" strike="noStrike" baseline="0" dirty="0" err="1">
                <a:latin typeface="NimbusRomNo9L-Medi"/>
              </a:rPr>
              <a:t>plt</a:t>
            </a:r>
            <a:r>
              <a:rPr lang="en-US" sz="1800" i="0" u="none" strike="noStrike" baseline="0" dirty="0" err="1">
                <a:latin typeface="NimbusRomNo9L-Medi"/>
              </a:rPr>
              <a:t>:cette</a:t>
            </a:r>
            <a:r>
              <a:rPr lang="en-US" sz="1800" i="0" u="none" strike="noStrike" baseline="0" dirty="0">
                <a:latin typeface="NimbusRomNo9L-Medi"/>
              </a:rPr>
              <a:t> </a:t>
            </a:r>
            <a:r>
              <a:rPr lang="en-US" sz="1800" i="0" u="none" strike="noStrike" baseline="0" dirty="0" err="1">
                <a:latin typeface="NimbusRomNo9L-Medi"/>
              </a:rPr>
              <a:t>commande</a:t>
            </a:r>
            <a:r>
              <a:rPr lang="en-US" sz="1800" i="0" u="none" strike="noStrike" baseline="0" dirty="0">
                <a:latin typeface="NimbusRomNo9L-Medi"/>
              </a:rPr>
              <a:t> </a:t>
            </a:r>
            <a:r>
              <a:rPr lang="en-US" sz="1800" i="0" u="none" strike="noStrike" baseline="0" dirty="0" err="1">
                <a:latin typeface="NimbusRomNo9L-Medi"/>
              </a:rPr>
              <a:t>permet</a:t>
            </a:r>
            <a:r>
              <a:rPr lang="en-US" sz="1800" i="0" u="none" strike="noStrike" baseline="0" dirty="0">
                <a:latin typeface="NimbusRomNo9L-Medi"/>
              </a:rPr>
              <a:t> d</a:t>
            </a:r>
            <a:r>
              <a:rPr lang="fr-FR" sz="1800" i="0" u="none" strike="noStrike" baseline="0" dirty="0">
                <a:latin typeface="NimbusRomNo9L-Medi"/>
              </a:rPr>
              <a:t>’</a:t>
            </a:r>
            <a:r>
              <a:rPr lang="en-US" sz="1800" i="0" u="none" strike="noStrike" baseline="0" dirty="0" err="1">
                <a:latin typeface="NimbusRomNo9L-Medi"/>
              </a:rPr>
              <a:t>imporer</a:t>
            </a:r>
            <a:r>
              <a:rPr lang="en-US" sz="1800" i="0" u="none" strike="noStrike" baseline="0" dirty="0">
                <a:latin typeface="NimbusRomNo9L-Medi"/>
              </a:rPr>
              <a:t> le module </a:t>
            </a:r>
            <a:r>
              <a:rPr lang="en-US" sz="1800" i="0" u="none" strike="noStrike" baseline="0" dirty="0" err="1">
                <a:latin typeface="NimbusRomNo9L-Medi"/>
              </a:rPr>
              <a:t>pyplot</a:t>
            </a:r>
            <a:endParaRPr lang="en-US" sz="1800" i="0" u="none" strike="noStrike" baseline="0" dirty="0">
              <a:latin typeface="NimbusRomNo9L-Medi"/>
            </a:endParaRPr>
          </a:p>
        </p:txBody>
      </p:sp>
      <p:sp>
        <p:nvSpPr>
          <p:cNvPr id="4" name="ZoneTexte 3">
            <a:extLst>
              <a:ext uri="{FF2B5EF4-FFF2-40B4-BE49-F238E27FC236}">
                <a16:creationId xmlns:a16="http://schemas.microsoft.com/office/drawing/2014/main" id="{A202F6A9-3CEF-4BB8-58EA-1B7CA3FAF6CC}"/>
              </a:ext>
            </a:extLst>
          </p:cNvPr>
          <p:cNvSpPr txBox="1"/>
          <p:nvPr/>
        </p:nvSpPr>
        <p:spPr>
          <a:xfrm>
            <a:off x="497431" y="691331"/>
            <a:ext cx="7176211" cy="923330"/>
          </a:xfrm>
          <a:prstGeom prst="rect">
            <a:avLst/>
          </a:prstGeom>
          <a:noFill/>
        </p:spPr>
        <p:txBody>
          <a:bodyPr wrap="square" rtlCol="0">
            <a:spAutoFit/>
          </a:bodyPr>
          <a:lstStyle/>
          <a:p>
            <a:pPr algn="l"/>
            <a:r>
              <a:rPr lang="fr-FR" sz="1800" b="0" i="0" u="none" strike="noStrike" baseline="0" dirty="0">
                <a:latin typeface="NimbusRomNo9L-Regu"/>
              </a:rPr>
              <a:t>NetworkX simplifie la visualisation des graphes grâce à son intégration avec Matplotlib. On peut dessiner et visualiser un graphe en appelant certain commande de python :</a:t>
            </a:r>
          </a:p>
        </p:txBody>
      </p:sp>
      <p:sp>
        <p:nvSpPr>
          <p:cNvPr id="5" name="ZoneTexte 4">
            <a:extLst>
              <a:ext uri="{FF2B5EF4-FFF2-40B4-BE49-F238E27FC236}">
                <a16:creationId xmlns:a16="http://schemas.microsoft.com/office/drawing/2014/main" id="{56D44B20-C429-9F7E-C3E3-D66F697403F5}"/>
              </a:ext>
            </a:extLst>
          </p:cNvPr>
          <p:cNvSpPr txBox="1"/>
          <p:nvPr/>
        </p:nvSpPr>
        <p:spPr>
          <a:xfrm>
            <a:off x="548638" y="2407143"/>
            <a:ext cx="7073798" cy="646331"/>
          </a:xfrm>
          <a:prstGeom prst="rect">
            <a:avLst/>
          </a:prstGeom>
          <a:noFill/>
        </p:spPr>
        <p:txBody>
          <a:bodyPr wrap="square" rtlCol="0">
            <a:spAutoFit/>
          </a:bodyPr>
          <a:lstStyle/>
          <a:p>
            <a:pPr algn="l"/>
            <a:r>
              <a:rPr lang="fr-FR" sz="1800" b="1" i="0" u="none" strike="noStrike" baseline="0" dirty="0" err="1">
                <a:latin typeface="NimbusRomNo9L-Medi"/>
              </a:rPr>
              <a:t>nx.draw</a:t>
            </a:r>
            <a:r>
              <a:rPr lang="fr-FR" sz="1800" b="1" i="0" u="none" strike="noStrike" baseline="0" dirty="0">
                <a:latin typeface="NimbusRomNo9L-Medi"/>
              </a:rPr>
              <a:t>():</a:t>
            </a:r>
            <a:r>
              <a:rPr lang="fr-FR" sz="1800" i="0" u="none" strike="noStrike" baseline="0" dirty="0">
                <a:latin typeface="NimbusRomNo9L-Medi"/>
              </a:rPr>
              <a:t>cette commande permet </a:t>
            </a:r>
            <a:r>
              <a:rPr lang="fr-FR" dirty="0">
                <a:latin typeface="NimbusRomNo9L-Medi"/>
              </a:rPr>
              <a:t>de </a:t>
            </a:r>
            <a:r>
              <a:rPr lang="fr-FR" sz="1800" i="0" u="none" strike="noStrike" baseline="0" dirty="0">
                <a:latin typeface="NimbusRomNo9L-Medi"/>
              </a:rPr>
              <a:t>dessiner le graphe</a:t>
            </a:r>
          </a:p>
          <a:p>
            <a:endParaRPr lang="fr-FR" dirty="0"/>
          </a:p>
        </p:txBody>
      </p:sp>
      <p:sp>
        <p:nvSpPr>
          <p:cNvPr id="6" name="ZoneTexte 5">
            <a:extLst>
              <a:ext uri="{FF2B5EF4-FFF2-40B4-BE49-F238E27FC236}">
                <a16:creationId xmlns:a16="http://schemas.microsoft.com/office/drawing/2014/main" id="{13E082E7-B24C-F26C-6194-415335708767}"/>
              </a:ext>
            </a:extLst>
          </p:cNvPr>
          <p:cNvSpPr txBox="1"/>
          <p:nvPr/>
        </p:nvSpPr>
        <p:spPr>
          <a:xfrm>
            <a:off x="548639" y="2824853"/>
            <a:ext cx="7176211" cy="369332"/>
          </a:xfrm>
          <a:prstGeom prst="rect">
            <a:avLst/>
          </a:prstGeom>
          <a:noFill/>
        </p:spPr>
        <p:txBody>
          <a:bodyPr wrap="square" rtlCol="0">
            <a:spAutoFit/>
          </a:bodyPr>
          <a:lstStyle/>
          <a:p>
            <a:pPr algn="l"/>
            <a:r>
              <a:rPr lang="fr-FR" sz="1800" b="1" i="0" u="none" strike="noStrike" baseline="0" dirty="0" err="1">
                <a:latin typeface="NimbusRomNo9L-Medi"/>
              </a:rPr>
              <a:t>plt.show</a:t>
            </a:r>
            <a:r>
              <a:rPr lang="fr-FR" sz="1800" b="1" i="0" u="none" strike="noStrike" baseline="0" dirty="0">
                <a:latin typeface="NimbusRomNo9L-Medi"/>
              </a:rPr>
              <a:t>()</a:t>
            </a:r>
            <a:r>
              <a:rPr lang="en-US" dirty="0">
                <a:latin typeface="NimbusRomNo9L-Medi"/>
              </a:rPr>
              <a:t>:</a:t>
            </a:r>
            <a:r>
              <a:rPr lang="en-US" dirty="0" err="1">
                <a:latin typeface="NimbusRomNo9L-Medi"/>
              </a:rPr>
              <a:t>cette</a:t>
            </a:r>
            <a:r>
              <a:rPr lang="en-US" dirty="0">
                <a:latin typeface="NimbusRomNo9L-Medi"/>
              </a:rPr>
              <a:t> </a:t>
            </a:r>
            <a:r>
              <a:rPr lang="en-US" dirty="0" err="1">
                <a:latin typeface="NimbusRomNo9L-Medi"/>
              </a:rPr>
              <a:t>commande</a:t>
            </a:r>
            <a:r>
              <a:rPr lang="en-US" dirty="0">
                <a:latin typeface="NimbusRomNo9L-Medi"/>
              </a:rPr>
              <a:t> </a:t>
            </a:r>
            <a:r>
              <a:rPr lang="en-US" dirty="0" err="1">
                <a:latin typeface="NimbusRomNo9L-Medi"/>
              </a:rPr>
              <a:t>permet</a:t>
            </a:r>
            <a:r>
              <a:rPr lang="en-US" dirty="0">
                <a:latin typeface="NimbusRomNo9L-Medi"/>
              </a:rPr>
              <a:t> d</a:t>
            </a:r>
            <a:r>
              <a:rPr lang="fr-FR" dirty="0">
                <a:latin typeface="NimbusRomNo9L-Medi"/>
              </a:rPr>
              <a:t>’</a:t>
            </a:r>
            <a:r>
              <a:rPr lang="en-US" dirty="0" err="1">
                <a:latin typeface="NimbusRomNo9L-Medi"/>
              </a:rPr>
              <a:t>afficher</a:t>
            </a:r>
            <a:r>
              <a:rPr lang="en-US" dirty="0">
                <a:latin typeface="NimbusRomNo9L-Medi"/>
              </a:rPr>
              <a:t> le </a:t>
            </a:r>
            <a:r>
              <a:rPr lang="en-US" dirty="0" err="1">
                <a:latin typeface="NimbusRomNo9L-Medi"/>
              </a:rPr>
              <a:t>graphe</a:t>
            </a:r>
            <a:endParaRPr lang="fr-FR" sz="1800" i="0" u="none" strike="noStrike" baseline="0" dirty="0">
              <a:latin typeface="NimbusRomNo9L-Regu"/>
            </a:endParaRPr>
          </a:p>
        </p:txBody>
      </p:sp>
      <p:sp>
        <p:nvSpPr>
          <p:cNvPr id="7" name="ZoneTexte 6">
            <a:extLst>
              <a:ext uri="{FF2B5EF4-FFF2-40B4-BE49-F238E27FC236}">
                <a16:creationId xmlns:a16="http://schemas.microsoft.com/office/drawing/2014/main" id="{AA653C62-0287-99B7-4066-62ECDE53E718}"/>
              </a:ext>
            </a:extLst>
          </p:cNvPr>
          <p:cNvSpPr txBox="1"/>
          <p:nvPr/>
        </p:nvSpPr>
        <p:spPr>
          <a:xfrm>
            <a:off x="548639" y="3254654"/>
            <a:ext cx="7381038" cy="1477328"/>
          </a:xfrm>
          <a:prstGeom prst="rect">
            <a:avLst/>
          </a:prstGeom>
          <a:noFill/>
        </p:spPr>
        <p:txBody>
          <a:bodyPr wrap="square" rtlCol="0">
            <a:spAutoFit/>
          </a:bodyPr>
          <a:lstStyle/>
          <a:p>
            <a:pPr algn="l"/>
            <a:r>
              <a:rPr lang="fr-FR" sz="1800" b="0" i="0" u="none" strike="noStrike" baseline="0" dirty="0">
                <a:latin typeface="NimbusRomNo9L-Regu"/>
              </a:rPr>
              <a:t>NetworkX o</a:t>
            </a:r>
            <a:r>
              <a:rPr lang="fr-FR" sz="1800" b="0" i="0" u="none" strike="noStrike" baseline="0" dirty="0">
                <a:latin typeface="rtxr"/>
              </a:rPr>
              <a:t>ff</a:t>
            </a:r>
            <a:r>
              <a:rPr lang="fr-FR" sz="1800" b="0" i="0" u="none" strike="noStrike" baseline="0" dirty="0">
                <a:latin typeface="NimbusRomNo9L-Regu"/>
              </a:rPr>
              <a:t>re de nombreuses options pour personnaliser l’aspect visuel du graphe. On</a:t>
            </a:r>
          </a:p>
          <a:p>
            <a:pPr algn="l"/>
            <a:r>
              <a:rPr lang="fr-FR" sz="1800" b="0" i="0" u="none" strike="noStrike" baseline="0" dirty="0">
                <a:latin typeface="NimbusRomNo9L-Regu"/>
              </a:rPr>
              <a:t>peut spécifier la couleur, l’épaisseur des arêtes, la taille des noeuds. Par exemple : </a:t>
            </a:r>
            <a:r>
              <a:rPr lang="fr-FR" sz="1800" b="1" i="0" u="none" strike="noStrike" baseline="0" dirty="0" err="1">
                <a:latin typeface="NimbusRomNo9L-Medi"/>
              </a:rPr>
              <a:t>nx.draw</a:t>
            </a:r>
            <a:r>
              <a:rPr lang="fr-FR" sz="1800" b="1" i="0" u="none" strike="noStrike" baseline="0" dirty="0">
                <a:latin typeface="NimbusRomNo9L-Medi"/>
              </a:rPr>
              <a:t>(G,</a:t>
            </a:r>
            <a:r>
              <a:rPr lang="en-US" sz="1800" b="1" i="0" u="none" strike="noStrike" baseline="0" dirty="0">
                <a:latin typeface="NimbusRomNo9L-Medi"/>
              </a:rPr>
              <a:t>with labels</a:t>
            </a:r>
            <a:r>
              <a:rPr lang="en-US" sz="1800" b="1" i="0" u="none" strike="noStrike" baseline="0" dirty="0">
                <a:latin typeface="rtxb"/>
              </a:rPr>
              <a:t>=</a:t>
            </a:r>
            <a:r>
              <a:rPr lang="en-US" sz="1800" b="1" i="0" u="none" strike="noStrike" baseline="0" dirty="0">
                <a:latin typeface="NimbusRomNo9L-Medi"/>
              </a:rPr>
              <a:t>True, node color</a:t>
            </a:r>
            <a:r>
              <a:rPr lang="en-US" sz="1800" b="1" i="0" u="none" strike="noStrike" baseline="0" dirty="0">
                <a:latin typeface="rtxb"/>
              </a:rPr>
              <a:t>=</a:t>
            </a:r>
            <a:r>
              <a:rPr lang="en-US" sz="1800" b="1" i="0" u="none" strike="noStrike" baseline="0" dirty="0">
                <a:latin typeface="NimbusRomNo9L-Medi"/>
              </a:rPr>
              <a:t>’blue’, node size</a:t>
            </a:r>
            <a:r>
              <a:rPr lang="en-US" sz="1800" b="1" i="0" u="none" strike="noStrike" baseline="0" dirty="0">
                <a:latin typeface="rtxb"/>
              </a:rPr>
              <a:t>=</a:t>
            </a:r>
            <a:r>
              <a:rPr lang="en-US" sz="1800" b="1" i="0" u="none" strike="noStrike" baseline="0" dirty="0">
                <a:latin typeface="NimbusRomNo9L-Medi"/>
              </a:rPr>
              <a:t>2000, edge color</a:t>
            </a:r>
            <a:r>
              <a:rPr lang="en-US" sz="1800" b="1" i="0" u="none" strike="noStrike" baseline="0" dirty="0">
                <a:latin typeface="rtxb"/>
              </a:rPr>
              <a:t>=</a:t>
            </a:r>
            <a:r>
              <a:rPr lang="en-US" sz="1800" b="1" i="0" u="none" strike="noStrike" baseline="0" dirty="0">
                <a:latin typeface="NimbusRomNo9L-Medi"/>
              </a:rPr>
              <a:t>’black’, width</a:t>
            </a:r>
            <a:r>
              <a:rPr lang="en-US" sz="1800" b="1" i="0" u="none" strike="noStrike" baseline="0" dirty="0">
                <a:latin typeface="rtxb"/>
              </a:rPr>
              <a:t>=</a:t>
            </a:r>
            <a:r>
              <a:rPr lang="en-US" sz="1800" b="1" i="0" u="none" strike="noStrike" baseline="0" dirty="0">
                <a:latin typeface="NimbusRomNo9L-Medi"/>
              </a:rPr>
              <a:t>2)</a:t>
            </a:r>
            <a:endParaRPr lang="fr-FR" b="1" dirty="0"/>
          </a:p>
        </p:txBody>
      </p:sp>
      <p:sp>
        <p:nvSpPr>
          <p:cNvPr id="8" name="ZoneTexte 7">
            <a:extLst>
              <a:ext uri="{FF2B5EF4-FFF2-40B4-BE49-F238E27FC236}">
                <a16:creationId xmlns:a16="http://schemas.microsoft.com/office/drawing/2014/main" id="{CB715DD6-1BF1-6DF6-15DF-F8C68BC4EF04}"/>
              </a:ext>
            </a:extLst>
          </p:cNvPr>
          <p:cNvSpPr txBox="1"/>
          <p:nvPr/>
        </p:nvSpPr>
        <p:spPr>
          <a:xfrm>
            <a:off x="792956" y="46087"/>
            <a:ext cx="6829480" cy="584775"/>
          </a:xfrm>
          <a:prstGeom prst="rect">
            <a:avLst/>
          </a:prstGeom>
          <a:noFill/>
        </p:spPr>
        <p:txBody>
          <a:bodyPr wrap="square" rtlCol="0">
            <a:spAutoFit/>
          </a:bodyPr>
          <a:lstStyle/>
          <a:p>
            <a:r>
              <a:rPr lang="en-US" sz="3200" b="1" dirty="0"/>
              <a:t>VISUALISATION DES GRAPHES</a:t>
            </a:r>
            <a:endParaRPr lang="fr-FR" sz="3200" b="1" dirty="0"/>
          </a:p>
        </p:txBody>
      </p:sp>
    </p:spTree>
    <p:extLst>
      <p:ext uri="{BB962C8B-B14F-4D97-AF65-F5344CB8AC3E}">
        <p14:creationId xmlns:p14="http://schemas.microsoft.com/office/powerpoint/2010/main" val="301869203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50"/>
                                        <p:tgtEl>
                                          <p:spTgt spid="5"/>
                                        </p:tgtEl>
                                      </p:cBhvr>
                                    </p:animEffect>
                                    <p:anim calcmode="lin" valueType="num">
                                      <p:cBhvr>
                                        <p:cTn id="15" dur="250" fill="hold"/>
                                        <p:tgtEl>
                                          <p:spTgt spid="5"/>
                                        </p:tgtEl>
                                        <p:attrNameLst>
                                          <p:attrName>ppt_x</p:attrName>
                                        </p:attrNameLst>
                                      </p:cBhvr>
                                      <p:tavLst>
                                        <p:tav tm="0">
                                          <p:val>
                                            <p:strVal val="#ppt_x"/>
                                          </p:val>
                                        </p:tav>
                                        <p:tav tm="100000">
                                          <p:val>
                                            <p:strVal val="#ppt_x"/>
                                          </p:val>
                                        </p:tav>
                                      </p:tavLst>
                                    </p:anim>
                                    <p:anim calcmode="lin" valueType="num">
                                      <p:cBhvr>
                                        <p:cTn id="16" dur="2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250"/>
                                        <p:tgtEl>
                                          <p:spTgt spid="6"/>
                                        </p:tgtEl>
                                      </p:cBhvr>
                                    </p:animEffect>
                                    <p:anim calcmode="lin" valueType="num">
                                      <p:cBhvr>
                                        <p:cTn id="22" dur="250" fill="hold"/>
                                        <p:tgtEl>
                                          <p:spTgt spid="6"/>
                                        </p:tgtEl>
                                        <p:attrNameLst>
                                          <p:attrName>ppt_x</p:attrName>
                                        </p:attrNameLst>
                                      </p:cBhvr>
                                      <p:tavLst>
                                        <p:tav tm="0">
                                          <p:val>
                                            <p:strVal val="#ppt_x"/>
                                          </p:val>
                                        </p:tav>
                                        <p:tav tm="100000">
                                          <p:val>
                                            <p:strVal val="#ppt_x"/>
                                          </p:val>
                                        </p:tav>
                                      </p:tavLst>
                                    </p:anim>
                                    <p:anim calcmode="lin" valueType="num">
                                      <p:cBhvr>
                                        <p:cTn id="23" dur="2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250"/>
                                        <p:tgtEl>
                                          <p:spTgt spid="7"/>
                                        </p:tgtEl>
                                      </p:cBhvr>
                                    </p:animEffect>
                                    <p:anim calcmode="lin" valueType="num">
                                      <p:cBhvr>
                                        <p:cTn id="29" dur="250" fill="hold"/>
                                        <p:tgtEl>
                                          <p:spTgt spid="7"/>
                                        </p:tgtEl>
                                        <p:attrNameLst>
                                          <p:attrName>ppt_x</p:attrName>
                                        </p:attrNameLst>
                                      </p:cBhvr>
                                      <p:tavLst>
                                        <p:tav tm="0">
                                          <p:val>
                                            <p:strVal val="#ppt_x"/>
                                          </p:val>
                                        </p:tav>
                                        <p:tav tm="100000">
                                          <p:val>
                                            <p:strVal val="#ppt_x"/>
                                          </p:val>
                                        </p:tav>
                                      </p:tavLst>
                                    </p:anim>
                                    <p:anim calcmode="lin" valueType="num">
                                      <p:cBhvr>
                                        <p:cTn id="30"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0A82A94-2DDD-ADDA-5090-8CE67736BBA9}"/>
              </a:ext>
            </a:extLst>
          </p:cNvPr>
          <p:cNvSpPr>
            <a:spLocks noGrp="1"/>
          </p:cNvSpPr>
          <p:nvPr>
            <p:ph type="sldNum" sz="quarter" idx="12"/>
          </p:nvPr>
        </p:nvSpPr>
        <p:spPr/>
        <p:txBody>
          <a:bodyPr/>
          <a:lstStyle/>
          <a:p>
            <a:fld id="{A82C58F3-3795-4080-90EF-797C1431D8B7}" type="slidenum">
              <a:rPr lang="fr-FR" smtClean="0"/>
              <a:t>23</a:t>
            </a:fld>
            <a:endParaRPr lang="fr-FR"/>
          </a:p>
        </p:txBody>
      </p:sp>
      <p:sp>
        <p:nvSpPr>
          <p:cNvPr id="3" name="ZoneTexte 2">
            <a:extLst>
              <a:ext uri="{FF2B5EF4-FFF2-40B4-BE49-F238E27FC236}">
                <a16:creationId xmlns:a16="http://schemas.microsoft.com/office/drawing/2014/main" id="{12CAF286-541F-2956-BE7C-0C7B6166D58D}"/>
              </a:ext>
            </a:extLst>
          </p:cNvPr>
          <p:cNvSpPr txBox="1"/>
          <p:nvPr/>
        </p:nvSpPr>
        <p:spPr>
          <a:xfrm>
            <a:off x="317528" y="51316"/>
            <a:ext cx="7534275" cy="1077218"/>
          </a:xfrm>
          <a:prstGeom prst="rect">
            <a:avLst/>
          </a:prstGeom>
          <a:noFill/>
        </p:spPr>
        <p:txBody>
          <a:bodyPr wrap="square" rtlCol="0">
            <a:spAutoFit/>
          </a:bodyPr>
          <a:lstStyle/>
          <a:p>
            <a:r>
              <a:rPr lang="en-US" sz="3200" b="1" dirty="0"/>
              <a:t>EXTRACTION DES PROPRIETES DES GRAPHES  </a:t>
            </a:r>
            <a:endParaRPr lang="fr-FR" sz="3200" b="1" dirty="0"/>
          </a:p>
        </p:txBody>
      </p:sp>
      <p:sp>
        <p:nvSpPr>
          <p:cNvPr id="4" name="ZoneTexte 3">
            <a:extLst>
              <a:ext uri="{FF2B5EF4-FFF2-40B4-BE49-F238E27FC236}">
                <a16:creationId xmlns:a16="http://schemas.microsoft.com/office/drawing/2014/main" id="{C9AC160B-297D-624A-2CD0-5BD0A580131C}"/>
              </a:ext>
            </a:extLst>
          </p:cNvPr>
          <p:cNvSpPr txBox="1"/>
          <p:nvPr/>
        </p:nvSpPr>
        <p:spPr>
          <a:xfrm>
            <a:off x="385762" y="1043256"/>
            <a:ext cx="8372475" cy="646331"/>
          </a:xfrm>
          <a:prstGeom prst="rect">
            <a:avLst/>
          </a:prstGeom>
          <a:noFill/>
        </p:spPr>
        <p:txBody>
          <a:bodyPr wrap="square" rtlCol="0">
            <a:spAutoFit/>
          </a:bodyPr>
          <a:lstStyle/>
          <a:p>
            <a:pPr algn="l"/>
            <a:r>
              <a:rPr lang="fr-FR" sz="1800" b="0" i="0" u="none" strike="noStrike" baseline="0" dirty="0">
                <a:latin typeface="NimbusRomNo9L-Regu"/>
              </a:rPr>
              <a:t>Il existe de nombreuses fonctions dans Networkx pour récupérer les différentes propriétés</a:t>
            </a:r>
            <a:r>
              <a:rPr lang="fr-FR" dirty="0">
                <a:latin typeface="NimbusRomNo9L-Regu"/>
              </a:rPr>
              <a:t> </a:t>
            </a:r>
            <a:r>
              <a:rPr lang="fr-FR" sz="1800" b="0" i="0" u="none" strike="noStrike" baseline="0" dirty="0">
                <a:latin typeface="NimbusRomNo9L-Regu"/>
              </a:rPr>
              <a:t>d’un graphe. on va citer ces fonction :</a:t>
            </a:r>
          </a:p>
        </p:txBody>
      </p:sp>
      <p:sp>
        <p:nvSpPr>
          <p:cNvPr id="6" name="ZoneTexte 5">
            <a:extLst>
              <a:ext uri="{FF2B5EF4-FFF2-40B4-BE49-F238E27FC236}">
                <a16:creationId xmlns:a16="http://schemas.microsoft.com/office/drawing/2014/main" id="{DAE7F524-74C1-22C1-C8E2-8C8F7F52F19F}"/>
              </a:ext>
            </a:extLst>
          </p:cNvPr>
          <p:cNvSpPr txBox="1"/>
          <p:nvPr/>
        </p:nvSpPr>
        <p:spPr>
          <a:xfrm>
            <a:off x="385762" y="2075974"/>
            <a:ext cx="8372475" cy="369332"/>
          </a:xfrm>
          <a:prstGeom prst="rect">
            <a:avLst/>
          </a:prstGeom>
          <a:noFill/>
        </p:spPr>
        <p:txBody>
          <a:bodyPr wrap="square" rtlCol="0">
            <a:spAutoFit/>
          </a:bodyPr>
          <a:lstStyle/>
          <a:p>
            <a:r>
              <a:rPr lang="fr-FR" sz="1800" b="1" i="0" u="none" strike="noStrike" baseline="0" dirty="0" err="1">
                <a:latin typeface="NimbusRomNo9L-Medi"/>
              </a:rPr>
              <a:t>G.number</a:t>
            </a:r>
            <a:r>
              <a:rPr lang="fr-FR" b="1" dirty="0" err="1">
                <a:latin typeface="NimbusRomNo9L-Medi"/>
              </a:rPr>
              <a:t>_</a:t>
            </a:r>
            <a:r>
              <a:rPr lang="fr-FR" sz="1800" b="1" i="0" u="none" strike="noStrike" baseline="0" dirty="0" err="1">
                <a:latin typeface="NimbusRomNo9L-Medi"/>
              </a:rPr>
              <a:t>of</a:t>
            </a:r>
            <a:r>
              <a:rPr lang="fr-FR" b="1" dirty="0" err="1">
                <a:latin typeface="NimbusRomNo9L-Medi"/>
              </a:rPr>
              <a:t>_</a:t>
            </a:r>
            <a:r>
              <a:rPr lang="fr-FR" sz="1800" b="1" i="0" u="none" strike="noStrike" baseline="0" dirty="0" err="1">
                <a:latin typeface="NimbusRomNo9L-Medi"/>
              </a:rPr>
              <a:t>nodes</a:t>
            </a:r>
            <a:r>
              <a:rPr lang="fr-FR" sz="1800" b="1" i="0" u="none" strike="noStrike" baseline="0" dirty="0">
                <a:latin typeface="NimbusRomNo9L-Medi"/>
              </a:rPr>
              <a:t>() </a:t>
            </a:r>
            <a:r>
              <a:rPr lang="fr-FR" sz="1800" i="0" u="none" strike="noStrike" baseline="0" dirty="0">
                <a:latin typeface="NimbusRomNo9L-Regu"/>
              </a:rPr>
              <a:t>:</a:t>
            </a:r>
            <a:r>
              <a:rPr lang="fr-FR" sz="1800" b="1" i="0" u="none" strike="noStrike" baseline="0" dirty="0">
                <a:latin typeface="NimbusRomNo9L-Regu"/>
              </a:rPr>
              <a:t> </a:t>
            </a:r>
            <a:r>
              <a:rPr lang="fr-FR" sz="1800" b="0" i="0" u="none" strike="noStrike" baseline="0" dirty="0">
                <a:latin typeface="NimbusRomNo9L-Regu"/>
              </a:rPr>
              <a:t>renvoie le nombre de noeuds dans le graphe .</a:t>
            </a:r>
            <a:endParaRPr lang="fr-FR" dirty="0"/>
          </a:p>
        </p:txBody>
      </p:sp>
      <p:sp>
        <p:nvSpPr>
          <p:cNvPr id="7" name="ZoneTexte 6">
            <a:extLst>
              <a:ext uri="{FF2B5EF4-FFF2-40B4-BE49-F238E27FC236}">
                <a16:creationId xmlns:a16="http://schemas.microsoft.com/office/drawing/2014/main" id="{DF6AAE55-9C0E-E2B3-24C0-FA23B4C855FC}"/>
              </a:ext>
            </a:extLst>
          </p:cNvPr>
          <p:cNvSpPr txBox="1"/>
          <p:nvPr/>
        </p:nvSpPr>
        <p:spPr>
          <a:xfrm>
            <a:off x="385762" y="2571750"/>
            <a:ext cx="8443913" cy="369332"/>
          </a:xfrm>
          <a:prstGeom prst="rect">
            <a:avLst/>
          </a:prstGeom>
          <a:noFill/>
        </p:spPr>
        <p:txBody>
          <a:bodyPr wrap="square" rtlCol="0">
            <a:spAutoFit/>
          </a:bodyPr>
          <a:lstStyle/>
          <a:p>
            <a:r>
              <a:rPr lang="fr-FR" sz="1800" b="1" i="0" u="none" strike="noStrike" baseline="0" dirty="0" err="1">
                <a:latin typeface="NimbusRomNo9L-Medi"/>
              </a:rPr>
              <a:t>G.number</a:t>
            </a:r>
            <a:r>
              <a:rPr lang="fr-FR" b="1" dirty="0" err="1">
                <a:latin typeface="NimbusRomNo9L-Medi"/>
              </a:rPr>
              <a:t>_</a:t>
            </a:r>
            <a:r>
              <a:rPr lang="fr-FR" sz="1800" b="1" i="0" u="none" strike="noStrike" baseline="0" dirty="0" err="1">
                <a:latin typeface="NimbusRomNo9L-Medi"/>
              </a:rPr>
              <a:t>of</a:t>
            </a:r>
            <a:r>
              <a:rPr lang="fr-FR" b="1" dirty="0" err="1">
                <a:latin typeface="NimbusRomNo9L-Medi"/>
              </a:rPr>
              <a:t>_</a:t>
            </a:r>
            <a:r>
              <a:rPr lang="fr-FR" sz="1800" b="1" i="0" u="none" strike="noStrike" baseline="0" dirty="0" err="1">
                <a:latin typeface="NimbusRomNo9L-Medi"/>
              </a:rPr>
              <a:t>edges</a:t>
            </a:r>
            <a:r>
              <a:rPr lang="fr-FR" sz="1800" b="1" i="0" u="none" strike="noStrike" baseline="0" dirty="0">
                <a:latin typeface="NimbusRomNo9L-Medi"/>
              </a:rPr>
              <a:t>() </a:t>
            </a:r>
            <a:r>
              <a:rPr lang="fr-FR" sz="1800" b="0" i="0" u="none" strike="noStrike" baseline="0" dirty="0">
                <a:latin typeface="NimbusRomNo9L-Regu"/>
              </a:rPr>
              <a:t>: renvoie le nombre d’arêtes dans le graphe.</a:t>
            </a:r>
            <a:endParaRPr lang="fr-FR" dirty="0"/>
          </a:p>
        </p:txBody>
      </p:sp>
      <p:sp>
        <p:nvSpPr>
          <p:cNvPr id="11" name="ZoneTexte 10">
            <a:extLst>
              <a:ext uri="{FF2B5EF4-FFF2-40B4-BE49-F238E27FC236}">
                <a16:creationId xmlns:a16="http://schemas.microsoft.com/office/drawing/2014/main" id="{8418A37C-FF0A-39AE-97EA-19C0705D4373}"/>
              </a:ext>
            </a:extLst>
          </p:cNvPr>
          <p:cNvSpPr txBox="1"/>
          <p:nvPr/>
        </p:nvSpPr>
        <p:spPr>
          <a:xfrm>
            <a:off x="385762" y="3067526"/>
            <a:ext cx="4572000" cy="369332"/>
          </a:xfrm>
          <a:prstGeom prst="rect">
            <a:avLst/>
          </a:prstGeom>
          <a:noFill/>
        </p:spPr>
        <p:txBody>
          <a:bodyPr wrap="square">
            <a:spAutoFit/>
          </a:bodyPr>
          <a:lstStyle/>
          <a:p>
            <a:r>
              <a:rPr lang="fr-FR" sz="1800" b="1" i="0" u="none" strike="noStrike" baseline="0" dirty="0" err="1">
                <a:latin typeface="NimbusRomNo9L-Medi"/>
              </a:rPr>
              <a:t>G.nodes</a:t>
            </a:r>
            <a:r>
              <a:rPr lang="fr-FR" sz="1800" b="1" i="0" u="none" strike="noStrike" baseline="0" dirty="0">
                <a:latin typeface="NimbusRomNo9L-Medi"/>
              </a:rPr>
              <a:t> </a:t>
            </a:r>
            <a:r>
              <a:rPr lang="fr-FR" sz="1800" b="0" i="0" u="none" strike="noStrike" baseline="0" dirty="0">
                <a:latin typeface="NimbusRomNo9L-Regu"/>
              </a:rPr>
              <a:t>: renvoie la liste de noeuds .</a:t>
            </a:r>
            <a:endParaRPr lang="fr-FR" dirty="0"/>
          </a:p>
        </p:txBody>
      </p:sp>
      <p:sp>
        <p:nvSpPr>
          <p:cNvPr id="12" name="ZoneTexte 11">
            <a:extLst>
              <a:ext uri="{FF2B5EF4-FFF2-40B4-BE49-F238E27FC236}">
                <a16:creationId xmlns:a16="http://schemas.microsoft.com/office/drawing/2014/main" id="{8EA8EA8E-C232-C4A4-4148-F756693E490D}"/>
              </a:ext>
            </a:extLst>
          </p:cNvPr>
          <p:cNvSpPr txBox="1"/>
          <p:nvPr/>
        </p:nvSpPr>
        <p:spPr>
          <a:xfrm>
            <a:off x="385762" y="3543300"/>
            <a:ext cx="7958138" cy="369332"/>
          </a:xfrm>
          <a:prstGeom prst="rect">
            <a:avLst/>
          </a:prstGeom>
          <a:noFill/>
        </p:spPr>
        <p:txBody>
          <a:bodyPr wrap="square" rtlCol="0">
            <a:spAutoFit/>
          </a:bodyPr>
          <a:lstStyle/>
          <a:p>
            <a:r>
              <a:rPr lang="fr-FR" sz="1800" b="1" i="0" u="none" strike="noStrike" baseline="0" dirty="0" err="1">
                <a:latin typeface="NimbusRomNo9L-Medi"/>
              </a:rPr>
              <a:t>G.edges</a:t>
            </a:r>
            <a:r>
              <a:rPr lang="fr-FR" sz="1800" b="1" i="0" u="none" strike="noStrike" baseline="0" dirty="0">
                <a:latin typeface="NimbusRomNo9L-Medi"/>
              </a:rPr>
              <a:t> </a:t>
            </a:r>
            <a:r>
              <a:rPr lang="fr-FR" sz="1800" b="0" i="0" u="none" strike="noStrike" baseline="0" dirty="0">
                <a:latin typeface="NimbusRomNo9L-Regu"/>
              </a:rPr>
              <a:t>: renvoie la liste de d’arêtes .</a:t>
            </a:r>
            <a:endParaRPr lang="fr-FR" dirty="0"/>
          </a:p>
        </p:txBody>
      </p:sp>
      <p:sp>
        <p:nvSpPr>
          <p:cNvPr id="13" name="ZoneTexte 12">
            <a:extLst>
              <a:ext uri="{FF2B5EF4-FFF2-40B4-BE49-F238E27FC236}">
                <a16:creationId xmlns:a16="http://schemas.microsoft.com/office/drawing/2014/main" id="{FC9ACD56-B3E9-7523-B126-12A5C3B3196B}"/>
              </a:ext>
            </a:extLst>
          </p:cNvPr>
          <p:cNvSpPr txBox="1"/>
          <p:nvPr/>
        </p:nvSpPr>
        <p:spPr>
          <a:xfrm>
            <a:off x="385762" y="3973770"/>
            <a:ext cx="8210550" cy="646331"/>
          </a:xfrm>
          <a:prstGeom prst="rect">
            <a:avLst/>
          </a:prstGeom>
          <a:noFill/>
        </p:spPr>
        <p:txBody>
          <a:bodyPr wrap="square" rtlCol="0">
            <a:spAutoFit/>
          </a:bodyPr>
          <a:lstStyle/>
          <a:p>
            <a:r>
              <a:rPr lang="fr-FR" sz="1800" b="1" i="0" u="none" strike="noStrike" baseline="0" dirty="0" err="1">
                <a:latin typeface="NimbusRomNo9L-Medi"/>
              </a:rPr>
              <a:t>G.degree</a:t>
            </a:r>
            <a:r>
              <a:rPr lang="fr-FR" sz="1800" b="1" i="0" u="none" strike="noStrike" baseline="0" dirty="0">
                <a:latin typeface="NimbusRomNo9L-Medi"/>
              </a:rPr>
              <a:t>() </a:t>
            </a:r>
            <a:r>
              <a:rPr lang="fr-FR" sz="1800" b="0" i="0" u="none" strike="noStrike" baseline="0" dirty="0">
                <a:latin typeface="NimbusRomNo9L-Regu"/>
              </a:rPr>
              <a:t>: renvoie un objet qui répertorie les degrés de tous les noeuds dans le graphe</a:t>
            </a:r>
            <a:endParaRPr lang="fr-FR" dirty="0"/>
          </a:p>
        </p:txBody>
      </p:sp>
    </p:spTree>
    <p:extLst>
      <p:ext uri="{BB962C8B-B14F-4D97-AF65-F5344CB8AC3E}">
        <p14:creationId xmlns:p14="http://schemas.microsoft.com/office/powerpoint/2010/main" val="26307388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250"/>
                                        <p:tgtEl>
                                          <p:spTgt spid="7"/>
                                        </p:tgtEl>
                                      </p:cBhvr>
                                    </p:animEffect>
                                    <p:anim calcmode="lin" valueType="num">
                                      <p:cBhvr>
                                        <p:cTn id="15" dur="250" fill="hold"/>
                                        <p:tgtEl>
                                          <p:spTgt spid="7"/>
                                        </p:tgtEl>
                                        <p:attrNameLst>
                                          <p:attrName>ppt_x</p:attrName>
                                        </p:attrNameLst>
                                      </p:cBhvr>
                                      <p:tavLst>
                                        <p:tav tm="0">
                                          <p:val>
                                            <p:strVal val="#ppt_x"/>
                                          </p:val>
                                        </p:tav>
                                        <p:tav tm="100000">
                                          <p:val>
                                            <p:strVal val="#ppt_x"/>
                                          </p:val>
                                        </p:tav>
                                      </p:tavLst>
                                    </p:anim>
                                    <p:anim calcmode="lin" valueType="num">
                                      <p:cBhvr>
                                        <p:cTn id="16" dur="2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50"/>
                                        <p:tgtEl>
                                          <p:spTgt spid="11"/>
                                        </p:tgtEl>
                                      </p:cBhvr>
                                    </p:animEffect>
                                    <p:anim calcmode="lin" valueType="num">
                                      <p:cBhvr>
                                        <p:cTn id="22" dur="250" fill="hold"/>
                                        <p:tgtEl>
                                          <p:spTgt spid="11"/>
                                        </p:tgtEl>
                                        <p:attrNameLst>
                                          <p:attrName>ppt_x</p:attrName>
                                        </p:attrNameLst>
                                      </p:cBhvr>
                                      <p:tavLst>
                                        <p:tav tm="0">
                                          <p:val>
                                            <p:strVal val="#ppt_x"/>
                                          </p:val>
                                        </p:tav>
                                        <p:tav tm="100000">
                                          <p:val>
                                            <p:strVal val="#ppt_x"/>
                                          </p:val>
                                        </p:tav>
                                      </p:tavLst>
                                    </p:anim>
                                    <p:anim calcmode="lin" valueType="num">
                                      <p:cBhvr>
                                        <p:cTn id="23" dur="25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50"/>
                                        <p:tgtEl>
                                          <p:spTgt spid="12"/>
                                        </p:tgtEl>
                                      </p:cBhvr>
                                    </p:animEffect>
                                    <p:anim calcmode="lin" valueType="num">
                                      <p:cBhvr>
                                        <p:cTn id="29" dur="250" fill="hold"/>
                                        <p:tgtEl>
                                          <p:spTgt spid="12"/>
                                        </p:tgtEl>
                                        <p:attrNameLst>
                                          <p:attrName>ppt_x</p:attrName>
                                        </p:attrNameLst>
                                      </p:cBhvr>
                                      <p:tavLst>
                                        <p:tav tm="0">
                                          <p:val>
                                            <p:strVal val="#ppt_x"/>
                                          </p:val>
                                        </p:tav>
                                        <p:tav tm="100000">
                                          <p:val>
                                            <p:strVal val="#ppt_x"/>
                                          </p:val>
                                        </p:tav>
                                      </p:tavLst>
                                    </p:anim>
                                    <p:anim calcmode="lin" valueType="num">
                                      <p:cBhvr>
                                        <p:cTn id="30" dur="2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50"/>
                                        <p:tgtEl>
                                          <p:spTgt spid="13"/>
                                        </p:tgtEl>
                                      </p:cBhvr>
                                    </p:animEffect>
                                    <p:anim calcmode="lin" valueType="num">
                                      <p:cBhvr>
                                        <p:cTn id="36" dur="250" fill="hold"/>
                                        <p:tgtEl>
                                          <p:spTgt spid="13"/>
                                        </p:tgtEl>
                                        <p:attrNameLst>
                                          <p:attrName>ppt_x</p:attrName>
                                        </p:attrNameLst>
                                      </p:cBhvr>
                                      <p:tavLst>
                                        <p:tav tm="0">
                                          <p:val>
                                            <p:strVal val="#ppt_x"/>
                                          </p:val>
                                        </p:tav>
                                        <p:tav tm="100000">
                                          <p:val>
                                            <p:strVal val="#ppt_x"/>
                                          </p:val>
                                        </p:tav>
                                      </p:tavLst>
                                    </p:anim>
                                    <p:anim calcmode="lin" valueType="num">
                                      <p:cBhvr>
                                        <p:cTn id="37" dur="2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0A82A94-2DDD-ADDA-5090-8CE67736BBA9}"/>
              </a:ext>
            </a:extLst>
          </p:cNvPr>
          <p:cNvSpPr>
            <a:spLocks noGrp="1"/>
          </p:cNvSpPr>
          <p:nvPr>
            <p:ph type="sldNum" sz="quarter" idx="12"/>
          </p:nvPr>
        </p:nvSpPr>
        <p:spPr/>
        <p:txBody>
          <a:bodyPr/>
          <a:lstStyle/>
          <a:p>
            <a:fld id="{A82C58F3-3795-4080-90EF-797C1431D8B7}" type="slidenum">
              <a:rPr lang="fr-FR" smtClean="0"/>
              <a:t>24</a:t>
            </a:fld>
            <a:endParaRPr lang="fr-FR"/>
          </a:p>
        </p:txBody>
      </p:sp>
      <p:sp>
        <p:nvSpPr>
          <p:cNvPr id="3" name="ZoneTexte 2">
            <a:extLst>
              <a:ext uri="{FF2B5EF4-FFF2-40B4-BE49-F238E27FC236}">
                <a16:creationId xmlns:a16="http://schemas.microsoft.com/office/drawing/2014/main" id="{12CAF286-541F-2956-BE7C-0C7B6166D58D}"/>
              </a:ext>
            </a:extLst>
          </p:cNvPr>
          <p:cNvSpPr txBox="1"/>
          <p:nvPr/>
        </p:nvSpPr>
        <p:spPr>
          <a:xfrm>
            <a:off x="317528" y="51316"/>
            <a:ext cx="7534275" cy="1077218"/>
          </a:xfrm>
          <a:prstGeom prst="rect">
            <a:avLst/>
          </a:prstGeom>
          <a:noFill/>
        </p:spPr>
        <p:txBody>
          <a:bodyPr wrap="square" rtlCol="0">
            <a:spAutoFit/>
          </a:bodyPr>
          <a:lstStyle/>
          <a:p>
            <a:r>
              <a:rPr lang="en-US" sz="3200" b="1" dirty="0"/>
              <a:t>EXTRACTION DES PROPRIETES DES GRAPHES  </a:t>
            </a:r>
            <a:endParaRPr lang="fr-FR" sz="3200" b="1" dirty="0"/>
          </a:p>
        </p:txBody>
      </p:sp>
      <p:sp>
        <p:nvSpPr>
          <p:cNvPr id="4" name="ZoneTexte 3">
            <a:extLst>
              <a:ext uri="{FF2B5EF4-FFF2-40B4-BE49-F238E27FC236}">
                <a16:creationId xmlns:a16="http://schemas.microsoft.com/office/drawing/2014/main" id="{C9AC160B-297D-624A-2CD0-5BD0A580131C}"/>
              </a:ext>
            </a:extLst>
          </p:cNvPr>
          <p:cNvSpPr txBox="1"/>
          <p:nvPr/>
        </p:nvSpPr>
        <p:spPr>
          <a:xfrm>
            <a:off x="385762" y="1043256"/>
            <a:ext cx="8372475" cy="646331"/>
          </a:xfrm>
          <a:prstGeom prst="rect">
            <a:avLst/>
          </a:prstGeom>
          <a:noFill/>
        </p:spPr>
        <p:txBody>
          <a:bodyPr wrap="square" rtlCol="0">
            <a:spAutoFit/>
          </a:bodyPr>
          <a:lstStyle/>
          <a:p>
            <a:pPr algn="l"/>
            <a:r>
              <a:rPr lang="fr-FR" sz="1800" b="0" i="0" u="none" strike="noStrike" baseline="0" dirty="0">
                <a:latin typeface="NimbusRomNo9L-Regu"/>
              </a:rPr>
              <a:t>Il existe de nombreuses fonctions dans Networkx pour récupérer les différentes propriétés</a:t>
            </a:r>
            <a:r>
              <a:rPr lang="fr-FR" dirty="0">
                <a:latin typeface="NimbusRomNo9L-Regu"/>
              </a:rPr>
              <a:t> </a:t>
            </a:r>
            <a:r>
              <a:rPr lang="fr-FR" sz="1800" b="0" i="0" u="none" strike="noStrike" baseline="0" dirty="0">
                <a:latin typeface="NimbusRomNo9L-Regu"/>
              </a:rPr>
              <a:t>d’un graphe. on va citer ces fonction :</a:t>
            </a:r>
          </a:p>
        </p:txBody>
      </p:sp>
      <p:sp>
        <p:nvSpPr>
          <p:cNvPr id="5" name="Espace réservé du numéro de diapositive 1">
            <a:extLst>
              <a:ext uri="{FF2B5EF4-FFF2-40B4-BE49-F238E27FC236}">
                <a16:creationId xmlns:a16="http://schemas.microsoft.com/office/drawing/2014/main" id="{DDEF3D16-2592-5D38-BABC-604CE228CC90}"/>
              </a:ext>
            </a:extLst>
          </p:cNvPr>
          <p:cNvSpPr txBox="1">
            <a:spLocks/>
          </p:cNvSpPr>
          <p:nvPr/>
        </p:nvSpPr>
        <p:spPr>
          <a:xfrm>
            <a:off x="6289703" y="5703611"/>
            <a:ext cx="2057400" cy="273844"/>
          </a:xfrm>
          <a:prstGeom prst="rect">
            <a:avLst/>
          </a:prstGeom>
        </p:spPr>
        <p:txBody>
          <a:bodyPr vert="horz" lIns="91440" tIns="45720" rIns="91440" bIns="45720" rtlCol="0" anchor="ctr"/>
          <a:lstStyle>
            <a:defPPr>
              <a:defRPr lang="fr-FR"/>
            </a:defPPr>
            <a:lvl1pPr marL="0" algn="r" defTabSz="914400" rtl="0" eaLnBrk="1" latinLnBrk="0" hangingPunct="1">
              <a:defRPr sz="9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82C58F3-3795-4080-90EF-797C1431D8B7}" type="slidenum">
              <a:rPr lang="fr-FR" sz="800" smtClean="0"/>
              <a:pPr/>
              <a:t>24</a:t>
            </a:fld>
            <a:endParaRPr lang="fr-FR" sz="800"/>
          </a:p>
        </p:txBody>
      </p:sp>
      <p:sp>
        <p:nvSpPr>
          <p:cNvPr id="8" name="ZoneTexte 7">
            <a:extLst>
              <a:ext uri="{FF2B5EF4-FFF2-40B4-BE49-F238E27FC236}">
                <a16:creationId xmlns:a16="http://schemas.microsoft.com/office/drawing/2014/main" id="{76F3DCDE-04DA-2F7B-FFB5-CE99843E1D9F}"/>
              </a:ext>
            </a:extLst>
          </p:cNvPr>
          <p:cNvSpPr txBox="1"/>
          <p:nvPr/>
        </p:nvSpPr>
        <p:spPr>
          <a:xfrm>
            <a:off x="417540" y="1686174"/>
            <a:ext cx="8305800" cy="338554"/>
          </a:xfrm>
          <a:prstGeom prst="rect">
            <a:avLst/>
          </a:prstGeom>
          <a:noFill/>
        </p:spPr>
        <p:txBody>
          <a:bodyPr wrap="square" rtlCol="0">
            <a:spAutoFit/>
          </a:bodyPr>
          <a:lstStyle/>
          <a:p>
            <a:pPr algn="l"/>
            <a:r>
              <a:rPr lang="fr-FR" sz="1600" b="1" i="0" u="none" strike="noStrike" baseline="0" dirty="0" err="1">
                <a:latin typeface="NimbusRomNo9L-Medi"/>
              </a:rPr>
              <a:t>list</a:t>
            </a:r>
            <a:r>
              <a:rPr lang="fr-FR" sz="1600" b="1" i="0" u="none" strike="noStrike" baseline="0" dirty="0">
                <a:latin typeface="NimbusRomNo9L-Medi"/>
              </a:rPr>
              <a:t>(</a:t>
            </a:r>
            <a:r>
              <a:rPr lang="fr-FR" sz="1600" b="1" i="0" u="none" strike="noStrike" baseline="0" dirty="0" err="1">
                <a:latin typeface="NimbusRomNo9L-Medi"/>
              </a:rPr>
              <a:t>G.adj</a:t>
            </a:r>
            <a:r>
              <a:rPr lang="fr-FR" sz="1600" b="1" i="0" u="none" strike="noStrike" baseline="0" dirty="0">
                <a:latin typeface="NimbusRomNo9L-Medi"/>
              </a:rPr>
              <a:t>[</a:t>
            </a:r>
            <a:r>
              <a:rPr lang="fr-FR" sz="1600" b="1" i="0" u="none" strike="noStrike" baseline="0" dirty="0" err="1">
                <a:latin typeface="NimbusRomNo9L-Medi"/>
              </a:rPr>
              <a:t>node</a:t>
            </a:r>
            <a:r>
              <a:rPr lang="fr-FR" sz="1600" b="1" i="0" u="none" strike="noStrike" baseline="0" dirty="0">
                <a:latin typeface="NimbusRomNo9L-Medi"/>
              </a:rPr>
              <a:t>]’) </a:t>
            </a:r>
            <a:r>
              <a:rPr lang="fr-FR" sz="1600" b="0" i="0" u="none" strike="noStrike" baseline="0" dirty="0">
                <a:latin typeface="NimbusRomNo9L-Regu"/>
              </a:rPr>
              <a:t>: renvoie la liste des noeuds voisins du </a:t>
            </a:r>
            <a:r>
              <a:rPr lang="fr-FR" sz="1600" b="0" i="0" u="none" strike="noStrike" baseline="0" dirty="0" err="1">
                <a:latin typeface="NimbusRomNo9L-Regu"/>
              </a:rPr>
              <a:t>noeud</a:t>
            </a:r>
            <a:r>
              <a:rPr lang="fr-FR" sz="1600" b="0" i="0" u="none" strike="noStrike" baseline="0" dirty="0">
                <a:latin typeface="NimbusRomNo9L-Regu"/>
              </a:rPr>
              <a:t> spécifie dans le graphe</a:t>
            </a:r>
          </a:p>
        </p:txBody>
      </p:sp>
      <p:sp>
        <p:nvSpPr>
          <p:cNvPr id="9" name="ZoneTexte 8">
            <a:extLst>
              <a:ext uri="{FF2B5EF4-FFF2-40B4-BE49-F238E27FC236}">
                <a16:creationId xmlns:a16="http://schemas.microsoft.com/office/drawing/2014/main" id="{6BD6A6F2-AB65-4EEA-0FA1-987C102935BC}"/>
              </a:ext>
            </a:extLst>
          </p:cNvPr>
          <p:cNvSpPr txBox="1"/>
          <p:nvPr/>
        </p:nvSpPr>
        <p:spPr>
          <a:xfrm>
            <a:off x="417540" y="2141291"/>
            <a:ext cx="8391525" cy="584775"/>
          </a:xfrm>
          <a:prstGeom prst="rect">
            <a:avLst/>
          </a:prstGeom>
          <a:noFill/>
        </p:spPr>
        <p:txBody>
          <a:bodyPr wrap="square" rtlCol="0">
            <a:spAutoFit/>
          </a:bodyPr>
          <a:lstStyle/>
          <a:p>
            <a:pPr algn="l"/>
            <a:r>
              <a:rPr lang="fr-FR" sz="1600" b="1" i="0" u="none" strike="noStrike" baseline="0" dirty="0" err="1">
                <a:latin typeface="NimbusRomNo9L-Medi"/>
              </a:rPr>
              <a:t>nx.cycle</a:t>
            </a:r>
            <a:r>
              <a:rPr lang="fr-FR" sz="1600" b="1" dirty="0" err="1">
                <a:latin typeface="NimbusRomNo9L-Medi"/>
              </a:rPr>
              <a:t>_</a:t>
            </a:r>
            <a:r>
              <a:rPr lang="fr-FR" sz="1600" b="1" i="0" u="none" strike="noStrike" baseline="0" dirty="0" err="1">
                <a:latin typeface="NimbusRomNo9L-Medi"/>
              </a:rPr>
              <a:t>basis</a:t>
            </a:r>
            <a:r>
              <a:rPr lang="fr-FR" sz="1600" b="1" i="0" u="none" strike="noStrike" baseline="0" dirty="0">
                <a:latin typeface="NimbusRomNo9L-Medi"/>
              </a:rPr>
              <a:t>() </a:t>
            </a:r>
            <a:r>
              <a:rPr lang="fr-FR" sz="1600" b="0" i="0" u="none" strike="noStrike" baseline="0" dirty="0">
                <a:latin typeface="NimbusRomNo9L-Regu"/>
              </a:rPr>
              <a:t>: pour trouver une base de cycles dans le graphe G. Cette fonction</a:t>
            </a:r>
          </a:p>
          <a:p>
            <a:pPr algn="l"/>
            <a:r>
              <a:rPr lang="fr-FR" sz="1600" b="0" i="0" u="none" strike="noStrike" baseline="0" dirty="0">
                <a:latin typeface="NimbusRomNo9L-Regu"/>
              </a:rPr>
              <a:t>renvoie une liste de cycles, chacun représente sous forme de liste de noeuds.</a:t>
            </a:r>
          </a:p>
        </p:txBody>
      </p:sp>
      <p:sp>
        <p:nvSpPr>
          <p:cNvPr id="10" name="ZoneTexte 9">
            <a:extLst>
              <a:ext uri="{FF2B5EF4-FFF2-40B4-BE49-F238E27FC236}">
                <a16:creationId xmlns:a16="http://schemas.microsoft.com/office/drawing/2014/main" id="{5831AD18-EC47-90C9-BC93-956E5010E4AD}"/>
              </a:ext>
            </a:extLst>
          </p:cNvPr>
          <p:cNvSpPr txBox="1"/>
          <p:nvPr/>
        </p:nvSpPr>
        <p:spPr>
          <a:xfrm>
            <a:off x="374678" y="2945707"/>
            <a:ext cx="8391525" cy="830997"/>
          </a:xfrm>
          <a:prstGeom prst="rect">
            <a:avLst/>
          </a:prstGeom>
          <a:noFill/>
        </p:spPr>
        <p:txBody>
          <a:bodyPr wrap="square" rtlCol="0">
            <a:spAutoFit/>
          </a:bodyPr>
          <a:lstStyle/>
          <a:p>
            <a:pPr algn="l"/>
            <a:r>
              <a:rPr lang="fr-FR" sz="1600" b="1" i="0" u="none" strike="noStrike" baseline="0" dirty="0" err="1">
                <a:latin typeface="NimbusRomNo9L-Medi"/>
              </a:rPr>
              <a:t>nx.connected</a:t>
            </a:r>
            <a:r>
              <a:rPr lang="fr-FR" sz="1600" b="1" dirty="0" err="1">
                <a:latin typeface="NimbusRomNo9L-Medi"/>
              </a:rPr>
              <a:t>_</a:t>
            </a:r>
            <a:r>
              <a:rPr lang="fr-FR" sz="1600" b="1" i="0" u="none" strike="noStrike" baseline="0" dirty="0" err="1">
                <a:latin typeface="NimbusRomNo9L-Medi"/>
              </a:rPr>
              <a:t>components</a:t>
            </a:r>
            <a:r>
              <a:rPr lang="fr-FR" sz="1600" b="1" i="0" u="none" strike="noStrike" baseline="0" dirty="0">
                <a:latin typeface="NimbusRomNo9L-Medi"/>
              </a:rPr>
              <a:t>() </a:t>
            </a:r>
            <a:r>
              <a:rPr lang="fr-FR" sz="1600" b="0" i="0" u="none" strike="noStrike" baseline="0" dirty="0">
                <a:latin typeface="NimbusRomNo9L-Regu"/>
              </a:rPr>
              <a:t>: pour trouver les composantes connexes dans le graphe</a:t>
            </a:r>
          </a:p>
          <a:p>
            <a:pPr algn="l"/>
            <a:r>
              <a:rPr lang="fr-FR" sz="1600" b="0" i="0" u="none" strike="noStrike" baseline="0" dirty="0">
                <a:latin typeface="NimbusRomNo9L-Regu"/>
              </a:rPr>
              <a:t>. Cette fonction renvoie un générateur contenant des ensembles de noeuds, chaque ensemble</a:t>
            </a:r>
          </a:p>
          <a:p>
            <a:pPr algn="l"/>
            <a:r>
              <a:rPr lang="fr-FR" sz="1600" b="0" i="0" u="none" strike="noStrike" baseline="0" dirty="0">
                <a:latin typeface="NimbusRomNo9L-Regu"/>
              </a:rPr>
              <a:t>représentant une composante connexe du graphe.</a:t>
            </a:r>
            <a:endParaRPr lang="fr-FR" sz="1600" dirty="0"/>
          </a:p>
        </p:txBody>
      </p:sp>
      <p:sp>
        <p:nvSpPr>
          <p:cNvPr id="14" name="ZoneTexte 13">
            <a:extLst>
              <a:ext uri="{FF2B5EF4-FFF2-40B4-BE49-F238E27FC236}">
                <a16:creationId xmlns:a16="http://schemas.microsoft.com/office/drawing/2014/main" id="{5B72AF1D-404C-97F1-9973-F37AC35B1D33}"/>
              </a:ext>
            </a:extLst>
          </p:cNvPr>
          <p:cNvSpPr txBox="1"/>
          <p:nvPr/>
        </p:nvSpPr>
        <p:spPr>
          <a:xfrm>
            <a:off x="417540" y="4079577"/>
            <a:ext cx="8391525" cy="338554"/>
          </a:xfrm>
          <a:prstGeom prst="rect">
            <a:avLst/>
          </a:prstGeom>
          <a:noFill/>
        </p:spPr>
        <p:txBody>
          <a:bodyPr wrap="square" rtlCol="0">
            <a:spAutoFit/>
          </a:bodyPr>
          <a:lstStyle/>
          <a:p>
            <a:r>
              <a:rPr lang="fr-FR" sz="1600" b="1" i="0" u="none" strike="noStrike" baseline="0" dirty="0" err="1">
                <a:latin typeface="NimbusRomNo9L-Medi"/>
              </a:rPr>
              <a:t>nx.to_numpy</a:t>
            </a:r>
            <a:r>
              <a:rPr lang="fr-FR" sz="1600" b="1" dirty="0" err="1">
                <a:latin typeface="NimbusRomNo9L-Medi"/>
              </a:rPr>
              <a:t>_</a:t>
            </a:r>
            <a:r>
              <a:rPr lang="fr-FR" sz="1600" b="1" i="0" u="none" strike="noStrike" baseline="0" dirty="0" err="1">
                <a:latin typeface="NimbusRomNo9L-Medi"/>
              </a:rPr>
              <a:t>array</a:t>
            </a:r>
            <a:r>
              <a:rPr lang="fr-FR" sz="1600" b="1" i="0" u="none" strike="noStrike" baseline="0" dirty="0">
                <a:latin typeface="NimbusRomNo9L-Medi"/>
              </a:rPr>
              <a:t>()</a:t>
            </a:r>
            <a:r>
              <a:rPr lang="fr-FR" sz="1600" i="0" u="none" strike="noStrike" baseline="0" dirty="0">
                <a:latin typeface="NimbusRomNo9L-Regu"/>
              </a:rPr>
              <a:t>:</a:t>
            </a:r>
            <a:r>
              <a:rPr lang="fr-FR" sz="1600" b="1" i="0" u="none" strike="noStrike" baseline="0" dirty="0">
                <a:latin typeface="NimbusRomNo9L-Regu"/>
              </a:rPr>
              <a:t> </a:t>
            </a:r>
            <a:r>
              <a:rPr lang="fr-FR" sz="1600" b="0" i="0" u="none" strike="noStrike" baseline="0" dirty="0">
                <a:latin typeface="NimbusRomNo9L-Regu"/>
              </a:rPr>
              <a:t>Cette fonction convertit le graphe en une matrice d’adjacence</a:t>
            </a:r>
            <a:endParaRPr lang="fr-FR" sz="1600" dirty="0"/>
          </a:p>
        </p:txBody>
      </p:sp>
    </p:spTree>
    <p:extLst>
      <p:ext uri="{BB962C8B-B14F-4D97-AF65-F5344CB8AC3E}">
        <p14:creationId xmlns:p14="http://schemas.microsoft.com/office/powerpoint/2010/main" val="260409909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250"/>
                                        <p:tgtEl>
                                          <p:spTgt spid="9"/>
                                        </p:tgtEl>
                                      </p:cBhvr>
                                    </p:animEffect>
                                    <p:anim calcmode="lin" valueType="num">
                                      <p:cBhvr>
                                        <p:cTn id="15" dur="250" fill="hold"/>
                                        <p:tgtEl>
                                          <p:spTgt spid="9"/>
                                        </p:tgtEl>
                                        <p:attrNameLst>
                                          <p:attrName>ppt_x</p:attrName>
                                        </p:attrNameLst>
                                      </p:cBhvr>
                                      <p:tavLst>
                                        <p:tav tm="0">
                                          <p:val>
                                            <p:strVal val="#ppt_x"/>
                                          </p:val>
                                        </p:tav>
                                        <p:tav tm="100000">
                                          <p:val>
                                            <p:strVal val="#ppt_x"/>
                                          </p:val>
                                        </p:tav>
                                      </p:tavLst>
                                    </p:anim>
                                    <p:anim calcmode="lin" valueType="num">
                                      <p:cBhvr>
                                        <p:cTn id="16" dur="2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50"/>
                                        <p:tgtEl>
                                          <p:spTgt spid="10"/>
                                        </p:tgtEl>
                                      </p:cBhvr>
                                    </p:animEffect>
                                    <p:anim calcmode="lin" valueType="num">
                                      <p:cBhvr>
                                        <p:cTn id="22" dur="250" fill="hold"/>
                                        <p:tgtEl>
                                          <p:spTgt spid="10"/>
                                        </p:tgtEl>
                                        <p:attrNameLst>
                                          <p:attrName>ppt_x</p:attrName>
                                        </p:attrNameLst>
                                      </p:cBhvr>
                                      <p:tavLst>
                                        <p:tav tm="0">
                                          <p:val>
                                            <p:strVal val="#ppt_x"/>
                                          </p:val>
                                        </p:tav>
                                        <p:tav tm="100000">
                                          <p:val>
                                            <p:strVal val="#ppt_x"/>
                                          </p:val>
                                        </p:tav>
                                      </p:tavLst>
                                    </p:anim>
                                    <p:anim calcmode="lin" valueType="num">
                                      <p:cBhvr>
                                        <p:cTn id="23" dur="2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250"/>
                                        <p:tgtEl>
                                          <p:spTgt spid="14"/>
                                        </p:tgtEl>
                                      </p:cBhvr>
                                    </p:animEffect>
                                    <p:anim calcmode="lin" valueType="num">
                                      <p:cBhvr>
                                        <p:cTn id="29" dur="250" fill="hold"/>
                                        <p:tgtEl>
                                          <p:spTgt spid="14"/>
                                        </p:tgtEl>
                                        <p:attrNameLst>
                                          <p:attrName>ppt_x</p:attrName>
                                        </p:attrNameLst>
                                      </p:cBhvr>
                                      <p:tavLst>
                                        <p:tav tm="0">
                                          <p:val>
                                            <p:strVal val="#ppt_x"/>
                                          </p:val>
                                        </p:tav>
                                        <p:tav tm="100000">
                                          <p:val>
                                            <p:strVal val="#ppt_x"/>
                                          </p:val>
                                        </p:tav>
                                      </p:tavLst>
                                    </p:anim>
                                    <p:anim calcmode="lin" valueType="num">
                                      <p:cBhvr>
                                        <p:cTn id="30" dur="2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44B0347-7A85-5C55-A7F1-F47A7DB3178B}"/>
              </a:ext>
            </a:extLst>
          </p:cNvPr>
          <p:cNvSpPr>
            <a:spLocks noGrp="1"/>
          </p:cNvSpPr>
          <p:nvPr>
            <p:ph type="sldNum" sz="quarter" idx="12"/>
          </p:nvPr>
        </p:nvSpPr>
        <p:spPr/>
        <p:txBody>
          <a:bodyPr/>
          <a:lstStyle/>
          <a:p>
            <a:fld id="{A82C58F3-3795-4080-90EF-797C1431D8B7}" type="slidenum">
              <a:rPr lang="fr-FR" smtClean="0"/>
              <a:t>25</a:t>
            </a:fld>
            <a:endParaRPr lang="fr-FR"/>
          </a:p>
        </p:txBody>
      </p:sp>
      <p:pic>
        <p:nvPicPr>
          <p:cNvPr id="4" name="Image 3">
            <a:extLst>
              <a:ext uri="{FF2B5EF4-FFF2-40B4-BE49-F238E27FC236}">
                <a16:creationId xmlns:a16="http://schemas.microsoft.com/office/drawing/2014/main" id="{A5295CB1-E6FF-A158-A7DE-F01F20FE29A4}"/>
              </a:ext>
            </a:extLst>
          </p:cNvPr>
          <p:cNvPicPr>
            <a:picLocks noChangeAspect="1"/>
          </p:cNvPicPr>
          <p:nvPr/>
        </p:nvPicPr>
        <p:blipFill>
          <a:blip r:embed="rId2"/>
          <a:stretch>
            <a:fillRect/>
          </a:stretch>
        </p:blipFill>
        <p:spPr>
          <a:xfrm>
            <a:off x="3520440" y="0"/>
            <a:ext cx="5559552" cy="5143500"/>
          </a:xfrm>
          <a:prstGeom prst="rect">
            <a:avLst/>
          </a:prstGeom>
        </p:spPr>
      </p:pic>
      <p:sp>
        <p:nvSpPr>
          <p:cNvPr id="5" name="ZoneTexte 4">
            <a:extLst>
              <a:ext uri="{FF2B5EF4-FFF2-40B4-BE49-F238E27FC236}">
                <a16:creationId xmlns:a16="http://schemas.microsoft.com/office/drawing/2014/main" id="{E957F56D-1D5F-4A9C-CD87-B8FC80C5C140}"/>
              </a:ext>
            </a:extLst>
          </p:cNvPr>
          <p:cNvSpPr txBox="1"/>
          <p:nvPr/>
        </p:nvSpPr>
        <p:spPr>
          <a:xfrm>
            <a:off x="164592" y="141732"/>
            <a:ext cx="3108960" cy="707886"/>
          </a:xfrm>
          <a:prstGeom prst="rect">
            <a:avLst/>
          </a:prstGeom>
          <a:noFill/>
        </p:spPr>
        <p:txBody>
          <a:bodyPr wrap="square" rtlCol="0">
            <a:spAutoFit/>
          </a:bodyPr>
          <a:lstStyle/>
          <a:p>
            <a:r>
              <a:rPr lang="fr-CA" sz="4000" b="1" dirty="0"/>
              <a:t>EXEMPLE</a:t>
            </a:r>
            <a:endParaRPr lang="fr-CA" sz="4000" b="1" kern="1200" dirty="0">
              <a:solidFill>
                <a:schemeClr val="tx1"/>
              </a:solidFill>
              <a:latin typeface="+mn-lt"/>
              <a:ea typeface="+mn-ea"/>
              <a:cs typeface="+mn-cs"/>
            </a:endParaRPr>
          </a:p>
        </p:txBody>
      </p:sp>
      <p:sp>
        <p:nvSpPr>
          <p:cNvPr id="6" name="ZoneTexte 5">
            <a:extLst>
              <a:ext uri="{FF2B5EF4-FFF2-40B4-BE49-F238E27FC236}">
                <a16:creationId xmlns:a16="http://schemas.microsoft.com/office/drawing/2014/main" id="{78C11C2D-BDB8-45C2-F9FB-AA4BE9464D82}"/>
              </a:ext>
            </a:extLst>
          </p:cNvPr>
          <p:cNvSpPr txBox="1"/>
          <p:nvPr/>
        </p:nvSpPr>
        <p:spPr>
          <a:xfrm>
            <a:off x="96012" y="849618"/>
            <a:ext cx="3246120" cy="2831544"/>
          </a:xfrm>
          <a:prstGeom prst="rect">
            <a:avLst/>
          </a:prstGeom>
          <a:noFill/>
        </p:spPr>
        <p:txBody>
          <a:bodyPr wrap="square" rtlCol="0">
            <a:spAutoFit/>
          </a:bodyPr>
          <a:lstStyle/>
          <a:p>
            <a:r>
              <a:rPr lang="en-US" sz="3200" dirty="0" err="1"/>
              <a:t>Voici</a:t>
            </a:r>
            <a:r>
              <a:rPr lang="en-US" sz="3200" dirty="0"/>
              <a:t> un </a:t>
            </a:r>
            <a:r>
              <a:rPr lang="en-US" sz="3200" dirty="0" err="1"/>
              <a:t>exemple</a:t>
            </a:r>
            <a:r>
              <a:rPr lang="en-US" sz="3200" dirty="0"/>
              <a:t> </a:t>
            </a:r>
            <a:r>
              <a:rPr lang="en-US" sz="3200" dirty="0" err="1"/>
              <a:t>qu</a:t>
            </a:r>
            <a:r>
              <a:rPr lang="fr-FR" sz="3200" dirty="0"/>
              <a:t>i met en pratique toutes les commandes qu’on a citées.</a:t>
            </a:r>
          </a:p>
          <a:p>
            <a:endParaRPr lang="fr-FR" dirty="0"/>
          </a:p>
        </p:txBody>
      </p:sp>
    </p:spTree>
    <p:extLst>
      <p:ext uri="{BB962C8B-B14F-4D97-AF65-F5344CB8AC3E}">
        <p14:creationId xmlns:p14="http://schemas.microsoft.com/office/powerpoint/2010/main" val="267931057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4F2E081-91AF-C55F-E03D-334C56BFE137}"/>
              </a:ext>
            </a:extLst>
          </p:cNvPr>
          <p:cNvSpPr>
            <a:spLocks noGrp="1"/>
          </p:cNvSpPr>
          <p:nvPr>
            <p:ph type="sldNum" sz="quarter" idx="12"/>
          </p:nvPr>
        </p:nvSpPr>
        <p:spPr/>
        <p:txBody>
          <a:bodyPr/>
          <a:lstStyle/>
          <a:p>
            <a:fld id="{A82C58F3-3795-4080-90EF-797C1431D8B7}" type="slidenum">
              <a:rPr lang="fr-FR" smtClean="0"/>
              <a:t>26</a:t>
            </a:fld>
            <a:endParaRPr lang="fr-FR"/>
          </a:p>
        </p:txBody>
      </p:sp>
      <p:pic>
        <p:nvPicPr>
          <p:cNvPr id="6" name="Image 5">
            <a:extLst>
              <a:ext uri="{FF2B5EF4-FFF2-40B4-BE49-F238E27FC236}">
                <a16:creationId xmlns:a16="http://schemas.microsoft.com/office/drawing/2014/main" id="{E5B1F642-A1CF-2017-6B6C-1FDD2025F6B1}"/>
              </a:ext>
            </a:extLst>
          </p:cNvPr>
          <p:cNvPicPr>
            <a:picLocks noChangeAspect="1"/>
          </p:cNvPicPr>
          <p:nvPr/>
        </p:nvPicPr>
        <p:blipFill>
          <a:blip r:embed="rId2"/>
          <a:stretch>
            <a:fillRect/>
          </a:stretch>
        </p:blipFill>
        <p:spPr>
          <a:xfrm>
            <a:off x="3840480" y="0"/>
            <a:ext cx="5303520" cy="5143499"/>
          </a:xfrm>
          <a:prstGeom prst="rect">
            <a:avLst/>
          </a:prstGeom>
        </p:spPr>
      </p:pic>
      <p:sp>
        <p:nvSpPr>
          <p:cNvPr id="7" name="ZoneTexte 6">
            <a:extLst>
              <a:ext uri="{FF2B5EF4-FFF2-40B4-BE49-F238E27FC236}">
                <a16:creationId xmlns:a16="http://schemas.microsoft.com/office/drawing/2014/main" id="{7B8729BD-19D2-DC73-9E85-B471051EC0A4}"/>
              </a:ext>
            </a:extLst>
          </p:cNvPr>
          <p:cNvSpPr txBox="1"/>
          <p:nvPr/>
        </p:nvSpPr>
        <p:spPr>
          <a:xfrm>
            <a:off x="228600" y="219456"/>
            <a:ext cx="3611880" cy="4524315"/>
          </a:xfrm>
          <a:prstGeom prst="rect">
            <a:avLst/>
          </a:prstGeom>
          <a:noFill/>
        </p:spPr>
        <p:txBody>
          <a:bodyPr wrap="square" rtlCol="0">
            <a:spAutoFit/>
          </a:bodyPr>
          <a:lstStyle/>
          <a:p>
            <a:r>
              <a:rPr lang="en-US" sz="3200" dirty="0" err="1"/>
              <a:t>Voici</a:t>
            </a:r>
            <a:r>
              <a:rPr lang="en-US" sz="3200" dirty="0"/>
              <a:t> la sortie du </a:t>
            </a:r>
            <a:r>
              <a:rPr lang="en-US" sz="3200" dirty="0" err="1"/>
              <a:t>programme</a:t>
            </a:r>
            <a:r>
              <a:rPr lang="en-US" sz="3200" dirty="0"/>
              <a:t> </a:t>
            </a:r>
            <a:r>
              <a:rPr lang="en-US" sz="3200" dirty="0" err="1"/>
              <a:t>qu</a:t>
            </a:r>
            <a:r>
              <a:rPr lang="fr-FR" sz="3200" dirty="0"/>
              <a:t>’on a écrit  au </a:t>
            </a:r>
            <a:r>
              <a:rPr lang="fr-FR" sz="3200" dirty="0" err="1"/>
              <a:t>dessus,d'abord</a:t>
            </a:r>
            <a:r>
              <a:rPr lang="fr-FR" sz="3200" dirty="0"/>
              <a:t> la figure</a:t>
            </a:r>
          </a:p>
          <a:p>
            <a:r>
              <a:rPr lang="fr-FR" sz="3200" dirty="0"/>
              <a:t>et ensuite les sorties qui sont les propriétés  du graphe</a:t>
            </a:r>
            <a:r>
              <a:rPr lang="en-US" sz="3200" dirty="0"/>
              <a:t>.</a:t>
            </a:r>
            <a:endParaRPr lang="fr-FR" sz="3200" dirty="0"/>
          </a:p>
        </p:txBody>
      </p:sp>
    </p:spTree>
    <p:extLst>
      <p:ext uri="{BB962C8B-B14F-4D97-AF65-F5344CB8AC3E}">
        <p14:creationId xmlns:p14="http://schemas.microsoft.com/office/powerpoint/2010/main" val="359013626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4F2E081-91AF-C55F-E03D-334C56BFE137}"/>
              </a:ext>
            </a:extLst>
          </p:cNvPr>
          <p:cNvSpPr>
            <a:spLocks noGrp="1"/>
          </p:cNvSpPr>
          <p:nvPr>
            <p:ph type="sldNum" sz="quarter" idx="12"/>
          </p:nvPr>
        </p:nvSpPr>
        <p:spPr/>
        <p:txBody>
          <a:bodyPr/>
          <a:lstStyle/>
          <a:p>
            <a:fld id="{A82C58F3-3795-4080-90EF-797C1431D8B7}" type="slidenum">
              <a:rPr lang="fr-FR" smtClean="0"/>
              <a:t>27</a:t>
            </a:fld>
            <a:endParaRPr lang="fr-FR"/>
          </a:p>
        </p:txBody>
      </p:sp>
      <p:sp>
        <p:nvSpPr>
          <p:cNvPr id="7" name="ZoneTexte 6">
            <a:extLst>
              <a:ext uri="{FF2B5EF4-FFF2-40B4-BE49-F238E27FC236}">
                <a16:creationId xmlns:a16="http://schemas.microsoft.com/office/drawing/2014/main" id="{7B8729BD-19D2-DC73-9E85-B471051EC0A4}"/>
              </a:ext>
            </a:extLst>
          </p:cNvPr>
          <p:cNvSpPr txBox="1"/>
          <p:nvPr/>
        </p:nvSpPr>
        <p:spPr>
          <a:xfrm>
            <a:off x="228600" y="219456"/>
            <a:ext cx="3611880" cy="4031873"/>
          </a:xfrm>
          <a:prstGeom prst="rect">
            <a:avLst/>
          </a:prstGeom>
          <a:noFill/>
        </p:spPr>
        <p:txBody>
          <a:bodyPr wrap="square" rtlCol="0">
            <a:spAutoFit/>
          </a:bodyPr>
          <a:lstStyle/>
          <a:p>
            <a:r>
              <a:rPr lang="en-US" sz="3200" dirty="0" err="1"/>
              <a:t>Voici</a:t>
            </a:r>
            <a:r>
              <a:rPr lang="en-US" sz="3200" dirty="0"/>
              <a:t> la sortie du </a:t>
            </a:r>
            <a:r>
              <a:rPr lang="en-US" sz="3200" dirty="0" err="1"/>
              <a:t>programme</a:t>
            </a:r>
            <a:r>
              <a:rPr lang="en-US" sz="3200" dirty="0"/>
              <a:t> </a:t>
            </a:r>
            <a:r>
              <a:rPr lang="en-US" sz="3200" dirty="0" err="1"/>
              <a:t>qu</a:t>
            </a:r>
            <a:r>
              <a:rPr lang="fr-FR" sz="3200" dirty="0"/>
              <a:t>’on a écrit  au </a:t>
            </a:r>
            <a:r>
              <a:rPr lang="fr-FR" sz="3200" dirty="0" err="1"/>
              <a:t>dessus,d'abord</a:t>
            </a:r>
            <a:r>
              <a:rPr lang="fr-FR" sz="3200" dirty="0"/>
              <a:t> la figure</a:t>
            </a:r>
          </a:p>
          <a:p>
            <a:r>
              <a:rPr lang="fr-FR" sz="3200" dirty="0"/>
              <a:t>et les sorties qui sont les propriétés  du graphe</a:t>
            </a:r>
            <a:r>
              <a:rPr lang="en-US" sz="3200" dirty="0"/>
              <a:t>.</a:t>
            </a:r>
            <a:endParaRPr lang="fr-FR" sz="3200" dirty="0"/>
          </a:p>
        </p:txBody>
      </p:sp>
      <p:pic>
        <p:nvPicPr>
          <p:cNvPr id="3" name="Image 2">
            <a:extLst>
              <a:ext uri="{FF2B5EF4-FFF2-40B4-BE49-F238E27FC236}">
                <a16:creationId xmlns:a16="http://schemas.microsoft.com/office/drawing/2014/main" id="{179ADA35-A0B4-042B-047F-DE06E119C41F}"/>
              </a:ext>
            </a:extLst>
          </p:cNvPr>
          <p:cNvPicPr>
            <a:picLocks noChangeAspect="1"/>
          </p:cNvPicPr>
          <p:nvPr/>
        </p:nvPicPr>
        <p:blipFill>
          <a:blip r:embed="rId2"/>
          <a:stretch>
            <a:fillRect/>
          </a:stretch>
        </p:blipFill>
        <p:spPr>
          <a:xfrm>
            <a:off x="3840480" y="1"/>
            <a:ext cx="5303520" cy="5143500"/>
          </a:xfrm>
          <a:prstGeom prst="rect">
            <a:avLst/>
          </a:prstGeom>
        </p:spPr>
      </p:pic>
    </p:spTree>
    <p:extLst>
      <p:ext uri="{BB962C8B-B14F-4D97-AF65-F5344CB8AC3E}">
        <p14:creationId xmlns:p14="http://schemas.microsoft.com/office/powerpoint/2010/main" val="6082826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D98CBFE-BBF5-51A8-3C55-EDC69558DCA0}"/>
              </a:ext>
            </a:extLst>
          </p:cNvPr>
          <p:cNvSpPr>
            <a:spLocks noGrp="1"/>
          </p:cNvSpPr>
          <p:nvPr>
            <p:ph type="sldNum" sz="quarter" idx="12"/>
          </p:nvPr>
        </p:nvSpPr>
        <p:spPr/>
        <p:txBody>
          <a:bodyPr/>
          <a:lstStyle/>
          <a:p>
            <a:fld id="{A82C58F3-3795-4080-90EF-797C1431D8B7}" type="slidenum">
              <a:rPr lang="fr-FR" smtClean="0"/>
              <a:t>28</a:t>
            </a:fld>
            <a:endParaRPr lang="fr-FR"/>
          </a:p>
        </p:txBody>
      </p:sp>
      <p:sp>
        <p:nvSpPr>
          <p:cNvPr id="3" name="ZoneTexte 2">
            <a:extLst>
              <a:ext uri="{FF2B5EF4-FFF2-40B4-BE49-F238E27FC236}">
                <a16:creationId xmlns:a16="http://schemas.microsoft.com/office/drawing/2014/main" id="{37A2B553-CC55-FBD6-1744-119036A5E61A}"/>
              </a:ext>
            </a:extLst>
          </p:cNvPr>
          <p:cNvSpPr txBox="1"/>
          <p:nvPr/>
        </p:nvSpPr>
        <p:spPr>
          <a:xfrm>
            <a:off x="585216" y="155448"/>
            <a:ext cx="8110728" cy="646331"/>
          </a:xfrm>
          <a:prstGeom prst="rect">
            <a:avLst/>
          </a:prstGeom>
          <a:noFill/>
        </p:spPr>
        <p:txBody>
          <a:bodyPr wrap="square" rtlCol="0">
            <a:spAutoFit/>
          </a:bodyPr>
          <a:lstStyle/>
          <a:p>
            <a:r>
              <a:rPr lang="en-US" sz="3600" b="1" dirty="0"/>
              <a:t>ALGORITHMES DE GRAPHES</a:t>
            </a:r>
            <a:endParaRPr lang="fr-FR" sz="3600" b="1" dirty="0"/>
          </a:p>
        </p:txBody>
      </p:sp>
      <p:sp>
        <p:nvSpPr>
          <p:cNvPr id="4" name="ZoneTexte 3">
            <a:extLst>
              <a:ext uri="{FF2B5EF4-FFF2-40B4-BE49-F238E27FC236}">
                <a16:creationId xmlns:a16="http://schemas.microsoft.com/office/drawing/2014/main" id="{C172B4B2-9C39-9D0C-D669-E58D70DB07E0}"/>
              </a:ext>
            </a:extLst>
          </p:cNvPr>
          <p:cNvSpPr txBox="1"/>
          <p:nvPr/>
        </p:nvSpPr>
        <p:spPr>
          <a:xfrm>
            <a:off x="246888" y="801779"/>
            <a:ext cx="8723376" cy="923330"/>
          </a:xfrm>
          <a:prstGeom prst="rect">
            <a:avLst/>
          </a:prstGeom>
          <a:noFill/>
        </p:spPr>
        <p:txBody>
          <a:bodyPr wrap="square" rtlCol="0">
            <a:spAutoFit/>
          </a:bodyPr>
          <a:lstStyle/>
          <a:p>
            <a:pPr algn="l"/>
            <a:r>
              <a:rPr lang="fr-FR" sz="1800" b="0" i="0" u="none" strike="noStrike" baseline="0" dirty="0">
                <a:latin typeface="NimbusRomNo9L-Regu"/>
              </a:rPr>
              <a:t> De nombreux algorithmes sont implémentes pour l’étude des graphes dans la bibliothèque</a:t>
            </a:r>
            <a:r>
              <a:rPr lang="fr-FR" dirty="0">
                <a:latin typeface="NimbusRomNo9L-Regu"/>
              </a:rPr>
              <a:t> </a:t>
            </a:r>
            <a:r>
              <a:rPr lang="fr-FR" sz="1800" b="0" i="0" u="none" strike="noStrike" baseline="0" dirty="0">
                <a:latin typeface="NimbusRomNo9L-Regu"/>
              </a:rPr>
              <a:t>Networkx, On présente ici simplement les fonctions de parcours en largeur (et en profondeur) ainsi que la recherche de plus court chemin :</a:t>
            </a:r>
            <a:endParaRPr lang="fr-FR" dirty="0"/>
          </a:p>
        </p:txBody>
      </p:sp>
      <p:sp>
        <p:nvSpPr>
          <p:cNvPr id="5" name="ZoneTexte 4">
            <a:extLst>
              <a:ext uri="{FF2B5EF4-FFF2-40B4-BE49-F238E27FC236}">
                <a16:creationId xmlns:a16="http://schemas.microsoft.com/office/drawing/2014/main" id="{E51214C7-D986-6B91-C5F2-9E88F86837CC}"/>
              </a:ext>
            </a:extLst>
          </p:cNvPr>
          <p:cNvSpPr txBox="1"/>
          <p:nvPr/>
        </p:nvSpPr>
        <p:spPr>
          <a:xfrm>
            <a:off x="246888" y="2366605"/>
            <a:ext cx="8796528" cy="1477328"/>
          </a:xfrm>
          <a:prstGeom prst="rect">
            <a:avLst/>
          </a:prstGeom>
          <a:noFill/>
        </p:spPr>
        <p:txBody>
          <a:bodyPr wrap="square" rtlCol="0">
            <a:spAutoFit/>
          </a:bodyPr>
          <a:lstStyle/>
          <a:p>
            <a:pPr algn="l"/>
            <a:r>
              <a:rPr lang="fr-FR" sz="1800" b="1" i="0" u="none" strike="noStrike" baseline="0" dirty="0">
                <a:solidFill>
                  <a:srgbClr val="002060"/>
                </a:solidFill>
                <a:latin typeface="NimbusRomNo9L-Medi"/>
              </a:rPr>
              <a:t>Les parcours en profondeur (</a:t>
            </a:r>
            <a:r>
              <a:rPr lang="fr-FR" sz="1800" b="1" i="0" u="none" strike="noStrike" baseline="0" dirty="0" err="1">
                <a:solidFill>
                  <a:srgbClr val="002060"/>
                </a:solidFill>
                <a:latin typeface="NimbusRomNo9L-Medi"/>
              </a:rPr>
              <a:t>Depth</a:t>
            </a:r>
            <a:r>
              <a:rPr lang="fr-FR" sz="1800" b="1" i="0" u="none" strike="noStrike" baseline="0" dirty="0">
                <a:solidFill>
                  <a:srgbClr val="002060"/>
                </a:solidFill>
                <a:latin typeface="NimbusRomNo9L-Medi"/>
              </a:rPr>
              <a:t>-First </a:t>
            </a:r>
            <a:r>
              <a:rPr lang="fr-FR" sz="1800" b="1" i="0" u="none" strike="noStrike" baseline="0" dirty="0" err="1">
                <a:solidFill>
                  <a:srgbClr val="002060"/>
                </a:solidFill>
                <a:latin typeface="NimbusRomNo9L-Medi"/>
              </a:rPr>
              <a:t>Search</a:t>
            </a:r>
            <a:r>
              <a:rPr lang="fr-FR" sz="1800" b="1" i="0" u="none" strike="noStrike" baseline="0" dirty="0">
                <a:solidFill>
                  <a:srgbClr val="002060"/>
                </a:solidFill>
                <a:latin typeface="NimbusRomNo9L-Medi"/>
              </a:rPr>
              <a:t>) </a:t>
            </a:r>
          </a:p>
          <a:p>
            <a:pPr algn="l"/>
            <a:r>
              <a:rPr lang="fr-FR" sz="1800" b="0" i="0" u="none" strike="noStrike" baseline="0" dirty="0">
                <a:latin typeface="NimbusRomNo9L-Regu"/>
              </a:rPr>
              <a:t>on utilise la fonction </a:t>
            </a:r>
            <a:r>
              <a:rPr lang="fr-FR" sz="1800" b="1" i="0" u="none" strike="noStrike" baseline="0" dirty="0" err="1">
                <a:latin typeface="NimbusRomNo9L-Medi"/>
              </a:rPr>
              <a:t>nx.dfs</a:t>
            </a:r>
            <a:r>
              <a:rPr lang="fr-FR" b="1" dirty="0" err="1">
                <a:latin typeface="NimbusRomNo9L-Medi"/>
              </a:rPr>
              <a:t>_</a:t>
            </a:r>
            <a:r>
              <a:rPr lang="fr-FR" sz="1800" b="1" i="0" u="none" strike="noStrike" baseline="0" dirty="0" err="1">
                <a:latin typeface="NimbusRomNo9L-Medi"/>
              </a:rPr>
              <a:t>tree</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pour construire un arbre du parcour en profondeur</a:t>
            </a:r>
          </a:p>
          <a:p>
            <a:pPr algn="l"/>
            <a:r>
              <a:rPr lang="fr-FR" sz="1800" b="0" i="0" u="none" strike="noStrike" baseline="0" dirty="0">
                <a:latin typeface="NimbusRomNo9L-Regu"/>
              </a:rPr>
              <a:t>du graphe en commençant par le nœud source et </a:t>
            </a:r>
            <a:r>
              <a:rPr lang="fr-FR" sz="1800" b="1" i="0" u="none" strike="noStrike" baseline="0" dirty="0" err="1">
                <a:latin typeface="NimbusRomNo9L-Medi"/>
              </a:rPr>
              <a:t>nx.dfs</a:t>
            </a:r>
            <a:r>
              <a:rPr lang="fr-FR" b="1" dirty="0" err="1">
                <a:latin typeface="NimbusRomNo9L-Medi"/>
              </a:rPr>
              <a:t>_</a:t>
            </a:r>
            <a:r>
              <a:rPr lang="fr-FR" sz="1800" b="1" i="0" u="none" strike="noStrike" baseline="0" dirty="0" err="1">
                <a:latin typeface="NimbusRomNo9L-Medi"/>
              </a:rPr>
              <a:t>edges</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produit</a:t>
            </a:r>
          </a:p>
          <a:p>
            <a:pPr algn="l"/>
            <a:r>
              <a:rPr lang="fr-FR" sz="1800" b="0" i="0" u="none" strike="noStrike" baseline="0" dirty="0">
                <a:latin typeface="NimbusRomNo9L-Regu"/>
              </a:rPr>
              <a:t>des arêtes dans l’ordre du parcours en profondeur.</a:t>
            </a:r>
          </a:p>
        </p:txBody>
      </p:sp>
      <p:sp>
        <p:nvSpPr>
          <p:cNvPr id="8" name="ZoneTexte 7">
            <a:extLst>
              <a:ext uri="{FF2B5EF4-FFF2-40B4-BE49-F238E27FC236}">
                <a16:creationId xmlns:a16="http://schemas.microsoft.com/office/drawing/2014/main" id="{16CC6460-02D1-123A-076F-0DC114BC9FA1}"/>
              </a:ext>
            </a:extLst>
          </p:cNvPr>
          <p:cNvSpPr txBox="1"/>
          <p:nvPr/>
        </p:nvSpPr>
        <p:spPr>
          <a:xfrm>
            <a:off x="219456" y="2567920"/>
            <a:ext cx="8796528" cy="1477328"/>
          </a:xfrm>
          <a:prstGeom prst="rect">
            <a:avLst/>
          </a:prstGeom>
          <a:noFill/>
        </p:spPr>
        <p:txBody>
          <a:bodyPr wrap="square" rtlCol="0">
            <a:spAutoFit/>
          </a:bodyPr>
          <a:lstStyle/>
          <a:p>
            <a:pPr algn="l"/>
            <a:r>
              <a:rPr lang="fr-FR" sz="1800" b="1" i="0" u="none" strike="noStrike" baseline="0" dirty="0">
                <a:solidFill>
                  <a:srgbClr val="002060"/>
                </a:solidFill>
                <a:latin typeface="NimbusRomNo9L-Medi"/>
              </a:rPr>
              <a:t>les parcours en largeur (</a:t>
            </a:r>
            <a:r>
              <a:rPr lang="fr-FR" sz="1800" b="1" i="0" u="none" strike="noStrike" baseline="0" dirty="0" err="1">
                <a:solidFill>
                  <a:srgbClr val="002060"/>
                </a:solidFill>
                <a:latin typeface="NimbusRomNo9L-Medi"/>
              </a:rPr>
              <a:t>Breadth</a:t>
            </a:r>
            <a:r>
              <a:rPr lang="fr-FR" sz="1800" b="1" i="0" u="none" strike="noStrike" baseline="0" dirty="0">
                <a:solidFill>
                  <a:srgbClr val="002060"/>
                </a:solidFill>
                <a:latin typeface="NimbusRomNo9L-Medi"/>
              </a:rPr>
              <a:t>-First </a:t>
            </a:r>
            <a:r>
              <a:rPr lang="fr-FR" sz="1800" b="1" i="0" u="none" strike="noStrike" baseline="0" dirty="0" err="1">
                <a:solidFill>
                  <a:srgbClr val="002060"/>
                </a:solidFill>
                <a:latin typeface="NimbusRomNo9L-Medi"/>
              </a:rPr>
              <a:t>Search</a:t>
            </a:r>
            <a:r>
              <a:rPr lang="fr-FR" sz="1800" b="1" i="0" u="none" strike="noStrike" baseline="0" dirty="0">
                <a:solidFill>
                  <a:srgbClr val="002060"/>
                </a:solidFill>
                <a:latin typeface="NimbusRomNo9L-Medi"/>
              </a:rPr>
              <a:t> en anglais, souvent abrège BFS) </a:t>
            </a:r>
          </a:p>
          <a:p>
            <a:pPr algn="l"/>
            <a:r>
              <a:rPr lang="fr-FR" sz="1800" b="0" i="0" u="none" strike="noStrike" baseline="0" dirty="0">
                <a:latin typeface="NimbusRomNo9L-Regu"/>
              </a:rPr>
              <a:t>on utilise la fonction </a:t>
            </a:r>
            <a:r>
              <a:rPr lang="fr-FR" sz="1800" b="1" i="0" u="none" strike="noStrike" baseline="0" dirty="0" err="1">
                <a:latin typeface="NimbusRomNo9L-Medi"/>
              </a:rPr>
              <a:t>nx.bfs</a:t>
            </a:r>
            <a:r>
              <a:rPr lang="fr-FR" b="1" dirty="0" err="1">
                <a:latin typeface="NimbusRomNo9L-Medi"/>
              </a:rPr>
              <a:t>_</a:t>
            </a:r>
            <a:r>
              <a:rPr lang="fr-FR" sz="1800" b="1" i="0" u="none" strike="noStrike" baseline="0" dirty="0" err="1">
                <a:latin typeface="NimbusRomNo9L-Medi"/>
              </a:rPr>
              <a:t>tree</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pour construire un arbre du parcour en largeur</a:t>
            </a:r>
          </a:p>
          <a:p>
            <a:pPr algn="l"/>
            <a:r>
              <a:rPr lang="fr-FR" sz="1800" b="0" i="0" u="none" strike="noStrike" baseline="0" dirty="0">
                <a:latin typeface="NimbusRomNo9L-Regu"/>
              </a:rPr>
              <a:t>du graphe en commençant par le nœud source et </a:t>
            </a:r>
            <a:r>
              <a:rPr lang="fr-FR" sz="1800" b="1" i="0" u="none" strike="noStrike" baseline="0" dirty="0" err="1">
                <a:latin typeface="NimbusRomNo9L-Medi"/>
              </a:rPr>
              <a:t>nx.bfs</a:t>
            </a:r>
            <a:r>
              <a:rPr lang="fr-FR" b="1" dirty="0" err="1">
                <a:latin typeface="NimbusRomNo9L-Medi"/>
              </a:rPr>
              <a:t>_</a:t>
            </a:r>
            <a:r>
              <a:rPr lang="fr-FR" sz="1800" b="1" i="0" u="none" strike="noStrike" baseline="0" dirty="0" err="1">
                <a:latin typeface="NimbusRomNo9L-Medi"/>
              </a:rPr>
              <a:t>edges</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produit</a:t>
            </a:r>
          </a:p>
          <a:p>
            <a:pPr algn="l"/>
            <a:r>
              <a:rPr lang="fr-FR" sz="1800" b="0" i="0" u="none" strike="noStrike" baseline="0" dirty="0">
                <a:latin typeface="NimbusRomNo9L-Regu"/>
              </a:rPr>
              <a:t>des arêtes dans l’ordre du parcours en largeur.</a:t>
            </a:r>
            <a:endParaRPr lang="fr-FR" dirty="0"/>
          </a:p>
          <a:p>
            <a:pPr algn="l"/>
            <a:endParaRPr lang="fr-FR" sz="1800" b="0" i="0" u="none" strike="noStrike" baseline="0" dirty="0">
              <a:latin typeface="NimbusRomNo9L-Regu"/>
            </a:endParaRPr>
          </a:p>
        </p:txBody>
      </p:sp>
      <p:sp>
        <p:nvSpPr>
          <p:cNvPr id="9" name="ZoneTexte 8">
            <a:extLst>
              <a:ext uri="{FF2B5EF4-FFF2-40B4-BE49-F238E27FC236}">
                <a16:creationId xmlns:a16="http://schemas.microsoft.com/office/drawing/2014/main" id="{10A1C2C5-B045-DAF7-25FD-1E4CF4D440A0}"/>
              </a:ext>
            </a:extLst>
          </p:cNvPr>
          <p:cNvSpPr txBox="1"/>
          <p:nvPr/>
        </p:nvSpPr>
        <p:spPr>
          <a:xfrm>
            <a:off x="292608" y="2383254"/>
            <a:ext cx="8631936" cy="923330"/>
          </a:xfrm>
          <a:prstGeom prst="rect">
            <a:avLst/>
          </a:prstGeom>
          <a:noFill/>
        </p:spPr>
        <p:txBody>
          <a:bodyPr wrap="square" rtlCol="0">
            <a:spAutoFit/>
          </a:bodyPr>
          <a:lstStyle/>
          <a:p>
            <a:pPr algn="l"/>
            <a:r>
              <a:rPr lang="fr-FR" sz="1800" b="1" i="0" u="none" strike="noStrike" baseline="0" dirty="0">
                <a:solidFill>
                  <a:srgbClr val="002060"/>
                </a:solidFill>
                <a:latin typeface="NimbusRomNo9L-Medi"/>
              </a:rPr>
              <a:t>Recherche du chemin le plus court </a:t>
            </a:r>
          </a:p>
          <a:p>
            <a:pPr algn="l"/>
            <a:r>
              <a:rPr lang="fr-FR" sz="1800" b="0" i="0" u="none" strike="noStrike" baseline="0" dirty="0">
                <a:latin typeface="NimbusRomNo9L-Regu"/>
              </a:rPr>
              <a:t>pour rechercher le chemin le plus court entre deux noeuds ,on utilise la fonction </a:t>
            </a:r>
            <a:r>
              <a:rPr lang="fr-FR" sz="1800" b="1" i="0" u="none" strike="noStrike" baseline="0" dirty="0" err="1">
                <a:latin typeface="NimbusRomNo9L-Medi"/>
              </a:rPr>
              <a:t>nx.shortest</a:t>
            </a:r>
            <a:r>
              <a:rPr lang="en-US" b="1" dirty="0">
                <a:latin typeface="NimbusRomNo9L-Medi"/>
              </a:rPr>
              <a:t>_</a:t>
            </a:r>
            <a:r>
              <a:rPr lang="fr-FR" sz="1800" b="1" i="0" u="none" strike="noStrike" baseline="0" dirty="0" err="1">
                <a:latin typeface="NimbusRomNo9L-Medi"/>
              </a:rPr>
              <a:t>path</a:t>
            </a:r>
            <a:endParaRPr lang="fr-FR" b="1" dirty="0"/>
          </a:p>
        </p:txBody>
      </p:sp>
    </p:spTree>
    <p:extLst>
      <p:ext uri="{BB962C8B-B14F-4D97-AF65-F5344CB8AC3E}">
        <p14:creationId xmlns:p14="http://schemas.microsoft.com/office/powerpoint/2010/main" val="42899850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500"/>
                                        <p:tgtEl>
                                          <p:spTgt spid="5"/>
                                        </p:tgtEl>
                                      </p:cBhvr>
                                    </p:animEffect>
                                    <p:anim calcmode="lin" valueType="num">
                                      <p:cBhvr>
                                        <p:cTn id="14" dur="500"/>
                                        <p:tgtEl>
                                          <p:spTgt spid="5"/>
                                        </p:tgtEl>
                                        <p:attrNameLst>
                                          <p:attrName>ppt_x</p:attrName>
                                        </p:attrNameLst>
                                      </p:cBhvr>
                                      <p:tavLst>
                                        <p:tav tm="0">
                                          <p:val>
                                            <p:strVal val="ppt_x"/>
                                          </p:val>
                                        </p:tav>
                                        <p:tav tm="100000">
                                          <p:val>
                                            <p:strVal val="ppt_x"/>
                                          </p:val>
                                        </p:tav>
                                      </p:tavLst>
                                    </p:anim>
                                    <p:anim calcmode="lin" valueType="num">
                                      <p:cBhvr>
                                        <p:cTn id="15" dur="500"/>
                                        <p:tgtEl>
                                          <p:spTgt spid="5"/>
                                        </p:tgtEl>
                                        <p:attrNameLst>
                                          <p:attrName>ppt_y</p:attrName>
                                        </p:attrNameLst>
                                      </p:cBhvr>
                                      <p:tavLst>
                                        <p:tav tm="0">
                                          <p:val>
                                            <p:strVal val="ppt_y"/>
                                          </p:val>
                                        </p:tav>
                                        <p:tav tm="100000">
                                          <p:val>
                                            <p:strVal val="ppt_y+.1"/>
                                          </p:val>
                                        </p:tav>
                                      </p:tavLst>
                                    </p:anim>
                                    <p:set>
                                      <p:cBhvr>
                                        <p:cTn id="16" dur="1" fill="hold">
                                          <p:stCondLst>
                                            <p:cond delay="499"/>
                                          </p:stCondLst>
                                        </p:cTn>
                                        <p:tgtEl>
                                          <p:spTgt spid="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1" nodeType="clickEffect">
                                  <p:stCondLst>
                                    <p:cond delay="0"/>
                                  </p:stCondLst>
                                  <p:childTnLst>
                                    <p:animEffect transition="out" filter="fade">
                                      <p:cBhvr>
                                        <p:cTn id="27" dur="500"/>
                                        <p:tgtEl>
                                          <p:spTgt spid="8"/>
                                        </p:tgtEl>
                                      </p:cBhvr>
                                    </p:animEffect>
                                    <p:anim calcmode="lin" valueType="num">
                                      <p:cBhvr>
                                        <p:cTn id="28" dur="500"/>
                                        <p:tgtEl>
                                          <p:spTgt spid="8"/>
                                        </p:tgtEl>
                                        <p:attrNameLst>
                                          <p:attrName>ppt_x</p:attrName>
                                        </p:attrNameLst>
                                      </p:cBhvr>
                                      <p:tavLst>
                                        <p:tav tm="0">
                                          <p:val>
                                            <p:strVal val="ppt_x"/>
                                          </p:val>
                                        </p:tav>
                                        <p:tav tm="100000">
                                          <p:val>
                                            <p:strVal val="ppt_x"/>
                                          </p:val>
                                        </p:tav>
                                      </p:tavLst>
                                    </p:anim>
                                    <p:anim calcmode="lin" valueType="num">
                                      <p:cBhvr>
                                        <p:cTn id="29" dur="500"/>
                                        <p:tgtEl>
                                          <p:spTgt spid="8"/>
                                        </p:tgtEl>
                                        <p:attrNameLst>
                                          <p:attrName>ppt_y</p:attrName>
                                        </p:attrNameLst>
                                      </p:cBhvr>
                                      <p:tavLst>
                                        <p:tav tm="0">
                                          <p:val>
                                            <p:strVal val="ppt_y"/>
                                          </p:val>
                                        </p:tav>
                                        <p:tav tm="100000">
                                          <p:val>
                                            <p:strVal val="ppt_y+.1"/>
                                          </p:val>
                                        </p:tav>
                                      </p:tavLst>
                                    </p:anim>
                                    <p:set>
                                      <p:cBhvr>
                                        <p:cTn id="30" dur="1" fill="hold">
                                          <p:stCondLst>
                                            <p:cond delay="499"/>
                                          </p:stCondLst>
                                        </p:cTn>
                                        <p:tgtEl>
                                          <p:spTgt spid="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p:cTn id="36" dur="500" fill="hold"/>
                                        <p:tgtEl>
                                          <p:spTgt spid="9"/>
                                        </p:tgtEl>
                                        <p:attrNameLst>
                                          <p:attrName>ppt_x</p:attrName>
                                        </p:attrNameLst>
                                      </p:cBhvr>
                                      <p:tavLst>
                                        <p:tav tm="0">
                                          <p:val>
                                            <p:strVal val="#ppt_x"/>
                                          </p:val>
                                        </p:tav>
                                        <p:tav tm="100000">
                                          <p:val>
                                            <p:strVal val="#ppt_x"/>
                                          </p:val>
                                        </p:tav>
                                      </p:tavLst>
                                    </p:anim>
                                    <p:anim calcmode="lin" valueType="num">
                                      <p:cBhvr>
                                        <p:cTn id="3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500"/>
                                        <p:tgtEl>
                                          <p:spTgt spid="9"/>
                                        </p:tgtEl>
                                      </p:cBhvr>
                                    </p:animEffect>
                                    <p:anim calcmode="lin" valueType="num">
                                      <p:cBhvr>
                                        <p:cTn id="42" dur="500"/>
                                        <p:tgtEl>
                                          <p:spTgt spid="9"/>
                                        </p:tgtEl>
                                        <p:attrNameLst>
                                          <p:attrName>ppt_x</p:attrName>
                                        </p:attrNameLst>
                                      </p:cBhvr>
                                      <p:tavLst>
                                        <p:tav tm="0">
                                          <p:val>
                                            <p:strVal val="ppt_x"/>
                                          </p:val>
                                        </p:tav>
                                        <p:tav tm="100000">
                                          <p:val>
                                            <p:strVal val="ppt_x"/>
                                          </p:val>
                                        </p:tav>
                                      </p:tavLst>
                                    </p:anim>
                                    <p:anim calcmode="lin" valueType="num">
                                      <p:cBhvr>
                                        <p:cTn id="43" dur="500"/>
                                        <p:tgtEl>
                                          <p:spTgt spid="9"/>
                                        </p:tgtEl>
                                        <p:attrNameLst>
                                          <p:attrName>ppt_y</p:attrName>
                                        </p:attrNameLst>
                                      </p:cBhvr>
                                      <p:tavLst>
                                        <p:tav tm="0">
                                          <p:val>
                                            <p:strVal val="ppt_y"/>
                                          </p:val>
                                        </p:tav>
                                        <p:tav tm="100000">
                                          <p:val>
                                            <p:strVal val="ppt_y+.1"/>
                                          </p:val>
                                        </p:tav>
                                      </p:tavLst>
                                    </p:anim>
                                    <p:set>
                                      <p:cBhvr>
                                        <p:cTn id="4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8" grpId="0"/>
      <p:bldP spid="8" grpId="1"/>
      <p:bldP spid="9" grpId="0"/>
      <p:bldP spid="9"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811F7C9-0E0A-90DB-4CCF-CE24B2D61BCF}"/>
              </a:ext>
            </a:extLst>
          </p:cNvPr>
          <p:cNvSpPr txBox="1"/>
          <p:nvPr/>
        </p:nvSpPr>
        <p:spPr>
          <a:xfrm>
            <a:off x="1934937" y="2187029"/>
            <a:ext cx="5576207" cy="769441"/>
          </a:xfrm>
          <a:prstGeom prst="rect">
            <a:avLst/>
          </a:prstGeom>
          <a:noFill/>
        </p:spPr>
        <p:txBody>
          <a:bodyPr wrap="square" rtlCol="0">
            <a:spAutoFit/>
          </a:bodyPr>
          <a:lstStyle/>
          <a:p>
            <a:r>
              <a:rPr lang="fr-FR" sz="4400" dirty="0">
                <a:solidFill>
                  <a:schemeClr val="bg1"/>
                </a:solidFill>
                <a:latin typeface="Aharoni" panose="02010803020104030203" pitchFamily="2" charset="-79"/>
                <a:cs typeface="Aharoni" panose="02010803020104030203" pitchFamily="2" charset="-79"/>
              </a:rPr>
              <a:t>DEUXIÈME</a:t>
            </a:r>
            <a:r>
              <a:rPr lang="fr-FR" sz="4400" dirty="0">
                <a:latin typeface="Aharoni" panose="02010803020104030203" pitchFamily="2" charset="-79"/>
                <a:cs typeface="Aharoni" panose="02010803020104030203" pitchFamily="2" charset="-79"/>
              </a:rPr>
              <a:t>  </a:t>
            </a:r>
            <a:r>
              <a:rPr lang="fr-FR" sz="4400" dirty="0">
                <a:solidFill>
                  <a:schemeClr val="bg1"/>
                </a:solidFill>
                <a:latin typeface="Aharoni" panose="02010803020104030203" pitchFamily="2" charset="-79"/>
                <a:cs typeface="Aharoni" panose="02010803020104030203" pitchFamily="2" charset="-79"/>
              </a:rPr>
              <a:t>PARTIE</a:t>
            </a:r>
          </a:p>
        </p:txBody>
      </p:sp>
    </p:spTree>
    <p:extLst>
      <p:ext uri="{BB962C8B-B14F-4D97-AF65-F5344CB8AC3E}">
        <p14:creationId xmlns:p14="http://schemas.microsoft.com/office/powerpoint/2010/main" val="63714453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30</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2660072" y="1976582"/>
            <a:ext cx="4932218" cy="769441"/>
          </a:xfrm>
          <a:prstGeom prst="rect">
            <a:avLst/>
          </a:prstGeom>
          <a:noFill/>
        </p:spPr>
        <p:txBody>
          <a:bodyPr wrap="square" rtlCol="0">
            <a:spAutoFit/>
          </a:bodyPr>
          <a:lstStyle/>
          <a:p>
            <a:r>
              <a:rPr lang="fr-FR" sz="4400" b="1" dirty="0">
                <a:solidFill>
                  <a:schemeClr val="bg1"/>
                </a:solidFill>
                <a:latin typeface="Perpetua Titling MT" panose="02020502060505020804" pitchFamily="18" charset="0"/>
                <a:cs typeface="Aharoni" panose="02010803020104030203" pitchFamily="2" charset="-79"/>
              </a:rPr>
              <a:t>CHAPITRE I </a:t>
            </a:r>
            <a:r>
              <a:rPr lang="en-US" sz="4400" b="1" dirty="0">
                <a:solidFill>
                  <a:schemeClr val="bg1"/>
                </a:solidFill>
                <a:latin typeface="Perpetua Titling MT" panose="02020502060505020804" pitchFamily="18" charset="0"/>
                <a:cs typeface="Aharoni" panose="02010803020104030203" pitchFamily="2" charset="-79"/>
              </a:rPr>
              <a:t>:</a:t>
            </a:r>
            <a:endParaRPr lang="fr-FR" sz="4400" b="1" dirty="0">
              <a:solidFill>
                <a:schemeClr val="bg1"/>
              </a:solidFill>
              <a:latin typeface="Perpetua Titling MT" panose="02020502060505020804" pitchFamily="18" charset="0"/>
              <a:cs typeface="Aharoni" panose="02010803020104030203" pitchFamily="2" charset="-79"/>
            </a:endParaRPr>
          </a:p>
        </p:txBody>
      </p:sp>
    </p:spTree>
    <p:extLst>
      <p:ext uri="{BB962C8B-B14F-4D97-AF65-F5344CB8AC3E}">
        <p14:creationId xmlns:p14="http://schemas.microsoft.com/office/powerpoint/2010/main" val="50115895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31</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3251200" y="766617"/>
            <a:ext cx="4932218" cy="584775"/>
          </a:xfrm>
          <a:prstGeom prst="rect">
            <a:avLst/>
          </a:prstGeom>
          <a:noFill/>
        </p:spPr>
        <p:txBody>
          <a:bodyPr wrap="square" rtlCol="0">
            <a:spAutoFit/>
          </a:bodyPr>
          <a:lstStyle/>
          <a:p>
            <a:r>
              <a:rPr lang="fr-FR" sz="3200" b="1" dirty="0">
                <a:solidFill>
                  <a:schemeClr val="bg1"/>
                </a:solidFill>
                <a:latin typeface="Perpetua Titling MT" panose="02020502060505020804" pitchFamily="18" charset="0"/>
                <a:cs typeface="Aharoni" panose="02010803020104030203" pitchFamily="2" charset="-79"/>
              </a:rPr>
              <a:t>CHAPITRE I</a:t>
            </a:r>
          </a:p>
        </p:txBody>
      </p:sp>
      <p:sp>
        <p:nvSpPr>
          <p:cNvPr id="5" name="ZoneTexte 4">
            <a:extLst>
              <a:ext uri="{FF2B5EF4-FFF2-40B4-BE49-F238E27FC236}">
                <a16:creationId xmlns:a16="http://schemas.microsoft.com/office/drawing/2014/main" id="{E6389DA8-9902-0D93-94B7-A1DB595732D4}"/>
              </a:ext>
            </a:extLst>
          </p:cNvPr>
          <p:cNvSpPr txBox="1"/>
          <p:nvPr/>
        </p:nvSpPr>
        <p:spPr>
          <a:xfrm>
            <a:off x="1386032" y="2348419"/>
            <a:ext cx="6990773" cy="646331"/>
          </a:xfrm>
          <a:prstGeom prst="rect">
            <a:avLst/>
          </a:prstGeom>
          <a:noFill/>
        </p:spPr>
        <p:txBody>
          <a:bodyPr wrap="square" rtlCol="0">
            <a:spAutoFit/>
          </a:bodyPr>
          <a:lstStyle/>
          <a:p>
            <a:r>
              <a:rPr lang="fr-FR" sz="3600" b="1" dirty="0">
                <a:solidFill>
                  <a:schemeClr val="bg1"/>
                </a:solidFill>
                <a:latin typeface="Perpetua Titling MT" panose="02020502060505020804" pitchFamily="18" charset="0"/>
                <a:cs typeface="Aharoni" panose="02010803020104030203" pitchFamily="2" charset="-79"/>
              </a:rPr>
              <a:t>Les réseaux de neurones </a:t>
            </a:r>
            <a:endParaRPr lang="fr-FR" sz="3600" dirty="0">
              <a:latin typeface="Perpetua Titling MT" panose="02020502060505020804" pitchFamily="18" charset="0"/>
            </a:endParaRPr>
          </a:p>
        </p:txBody>
      </p:sp>
    </p:spTree>
    <p:extLst>
      <p:ext uri="{BB962C8B-B14F-4D97-AF65-F5344CB8AC3E}">
        <p14:creationId xmlns:p14="http://schemas.microsoft.com/office/powerpoint/2010/main" val="166350034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A84F431-E5D1-8334-0BA2-52C7297A141D}"/>
              </a:ext>
            </a:extLst>
          </p:cNvPr>
          <p:cNvSpPr>
            <a:spLocks noGrp="1"/>
          </p:cNvSpPr>
          <p:nvPr>
            <p:ph type="sldNum" sz="quarter" idx="12"/>
          </p:nvPr>
        </p:nvSpPr>
        <p:spPr/>
        <p:txBody>
          <a:bodyPr/>
          <a:lstStyle/>
          <a:p>
            <a:fld id="{A82C58F3-3795-4080-90EF-797C1431D8B7}" type="slidenum">
              <a:rPr lang="fr-FR" smtClean="0"/>
              <a:t>32</a:t>
            </a:fld>
            <a:endParaRPr lang="fr-FR"/>
          </a:p>
        </p:txBody>
      </p:sp>
      <p:sp>
        <p:nvSpPr>
          <p:cNvPr id="3" name="ZoneTexte 2">
            <a:extLst>
              <a:ext uri="{FF2B5EF4-FFF2-40B4-BE49-F238E27FC236}">
                <a16:creationId xmlns:a16="http://schemas.microsoft.com/office/drawing/2014/main" id="{3238578A-8D1C-1AEA-4920-304108F61268}"/>
              </a:ext>
            </a:extLst>
          </p:cNvPr>
          <p:cNvSpPr txBox="1"/>
          <p:nvPr/>
        </p:nvSpPr>
        <p:spPr>
          <a:xfrm>
            <a:off x="595993" y="114300"/>
            <a:ext cx="7021286" cy="1323439"/>
          </a:xfrm>
          <a:prstGeom prst="rect">
            <a:avLst/>
          </a:prstGeom>
          <a:noFill/>
        </p:spPr>
        <p:txBody>
          <a:bodyPr wrap="square" rtlCol="0">
            <a:spAutoFit/>
          </a:bodyPr>
          <a:lstStyle/>
          <a:p>
            <a:r>
              <a:rPr lang="fr-FR" sz="4000" b="1" dirty="0"/>
              <a:t>QU’EST</a:t>
            </a:r>
            <a:r>
              <a:rPr lang="en-US" sz="4000" b="1" dirty="0"/>
              <a:t>-CE QU</a:t>
            </a:r>
            <a:r>
              <a:rPr lang="fr-FR" sz="4000" b="1" dirty="0"/>
              <a:t>’UN RÉSEAU DE NEURONES ?</a:t>
            </a:r>
          </a:p>
        </p:txBody>
      </p:sp>
      <p:sp>
        <p:nvSpPr>
          <p:cNvPr id="4" name="ZoneTexte 3">
            <a:extLst>
              <a:ext uri="{FF2B5EF4-FFF2-40B4-BE49-F238E27FC236}">
                <a16:creationId xmlns:a16="http://schemas.microsoft.com/office/drawing/2014/main" id="{FB66CD90-3D2D-F8AE-FB18-9D717CFEC0FF}"/>
              </a:ext>
            </a:extLst>
          </p:cNvPr>
          <p:cNvSpPr txBox="1"/>
          <p:nvPr/>
        </p:nvSpPr>
        <p:spPr>
          <a:xfrm>
            <a:off x="28575" y="1347788"/>
            <a:ext cx="9086849" cy="3000821"/>
          </a:xfrm>
          <a:prstGeom prst="rect">
            <a:avLst/>
          </a:prstGeom>
          <a:noFill/>
        </p:spPr>
        <p:txBody>
          <a:bodyPr wrap="square" rtlCol="0">
            <a:spAutoFit/>
          </a:bodyPr>
          <a:lstStyle/>
          <a:p>
            <a:pPr algn="l"/>
            <a:r>
              <a:rPr lang="fr-FR" sz="2100" b="0" i="0" u="none" strike="noStrike" baseline="0" dirty="0">
                <a:solidFill>
                  <a:srgbClr val="000000"/>
                </a:solidFill>
                <a:latin typeface="NimbusRomNo9L-Regu"/>
              </a:rPr>
              <a:t>Les réseaux de neurones sont des modelés informatiques inspires par le fonctionnement du</a:t>
            </a:r>
            <a:r>
              <a:rPr lang="fr-FR" sz="2100" b="0" i="0" u="none" strike="noStrike" dirty="0">
                <a:solidFill>
                  <a:srgbClr val="000000"/>
                </a:solidFill>
                <a:latin typeface="NimbusRomNo9L-Regu"/>
              </a:rPr>
              <a:t> </a:t>
            </a:r>
            <a:r>
              <a:rPr lang="fr-FR" sz="2100" b="0" i="0" u="none" strike="noStrike" baseline="0" dirty="0">
                <a:solidFill>
                  <a:srgbClr val="000000"/>
                </a:solidFill>
                <a:latin typeface="NimbusRomNo9L-Regu"/>
              </a:rPr>
              <a:t>cerveau humain. Un réseau de neurones est composé</a:t>
            </a:r>
            <a:r>
              <a:rPr lang="fr-FR" sz="2100" dirty="0">
                <a:solidFill>
                  <a:srgbClr val="000000"/>
                </a:solidFill>
                <a:latin typeface="NimbusRomNo9L-Regu"/>
              </a:rPr>
              <a:t> </a:t>
            </a:r>
            <a:r>
              <a:rPr lang="fr-FR" sz="2100" b="0" i="0" u="none" strike="noStrike" baseline="0" dirty="0">
                <a:solidFill>
                  <a:srgbClr val="000000"/>
                </a:solidFill>
                <a:latin typeface="NimbusRomNo9L-Regu"/>
              </a:rPr>
              <a:t>de couches de neurones interconnectes, où chaque neurone est une unité de calcul élémentaire.</a:t>
            </a:r>
            <a:r>
              <a:rPr lang="fr-FR" sz="2100" b="0" i="0" u="none" strike="noStrike" dirty="0">
                <a:solidFill>
                  <a:srgbClr val="000000"/>
                </a:solidFill>
                <a:latin typeface="NimbusRomNo9L-Regu"/>
              </a:rPr>
              <a:t> </a:t>
            </a:r>
            <a:r>
              <a:rPr lang="fr-FR" sz="2100" b="0" i="0" u="none" strike="noStrike" baseline="0" dirty="0">
                <a:solidFill>
                  <a:srgbClr val="000000"/>
                </a:solidFill>
                <a:latin typeface="NimbusRomNo9L-Regu"/>
              </a:rPr>
              <a:t>L’apprentissage dans les réseaux de neurones est souvent supervise, où le réseau ajuste ses poids et ses biais pour minimiser une fonction de perte, afin de produire des prédictions précises. Les réseaux de neurones sont largement utilisés dans des domaines tels que la vision par ordinateur, le traitement du langage naturel, la reconnaissance de la parole, la robotique et bien d’autres.</a:t>
            </a:r>
            <a:endParaRPr lang="fr-FR" sz="2100" dirty="0"/>
          </a:p>
        </p:txBody>
      </p:sp>
    </p:spTree>
    <p:extLst>
      <p:ext uri="{BB962C8B-B14F-4D97-AF65-F5344CB8AC3E}">
        <p14:creationId xmlns:p14="http://schemas.microsoft.com/office/powerpoint/2010/main" val="367233223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58A4700-01F0-25C3-17A0-962E36785728}"/>
              </a:ext>
            </a:extLst>
          </p:cNvPr>
          <p:cNvSpPr>
            <a:spLocks noGrp="1"/>
          </p:cNvSpPr>
          <p:nvPr>
            <p:ph type="sldNum" sz="quarter" idx="12"/>
          </p:nvPr>
        </p:nvSpPr>
        <p:spPr/>
        <p:txBody>
          <a:bodyPr/>
          <a:lstStyle/>
          <a:p>
            <a:fld id="{A82C58F3-3795-4080-90EF-797C1431D8B7}" type="slidenum">
              <a:rPr lang="fr-FR" smtClean="0"/>
              <a:t>33</a:t>
            </a:fld>
            <a:endParaRPr lang="fr-FR"/>
          </a:p>
        </p:txBody>
      </p:sp>
      <p:sp>
        <p:nvSpPr>
          <p:cNvPr id="3" name="ZoneTexte 2">
            <a:extLst>
              <a:ext uri="{FF2B5EF4-FFF2-40B4-BE49-F238E27FC236}">
                <a16:creationId xmlns:a16="http://schemas.microsoft.com/office/drawing/2014/main" id="{42CB0E0C-3CBA-5299-D10E-ADF4F80494C7}"/>
              </a:ext>
            </a:extLst>
          </p:cNvPr>
          <p:cNvSpPr txBox="1"/>
          <p:nvPr/>
        </p:nvSpPr>
        <p:spPr>
          <a:xfrm>
            <a:off x="451692" y="352540"/>
            <a:ext cx="6841474" cy="1323439"/>
          </a:xfrm>
          <a:prstGeom prst="rect">
            <a:avLst/>
          </a:prstGeom>
          <a:noFill/>
        </p:spPr>
        <p:txBody>
          <a:bodyPr wrap="square" rtlCol="0">
            <a:spAutoFit/>
          </a:bodyPr>
          <a:lstStyle/>
          <a:p>
            <a:r>
              <a:rPr lang="fr-FR" sz="4000" b="1" dirty="0"/>
              <a:t>MODÉLISATION D’UN NEURONE </a:t>
            </a:r>
          </a:p>
        </p:txBody>
      </p:sp>
      <p:sp>
        <p:nvSpPr>
          <p:cNvPr id="4" name="ZoneTexte 3">
            <a:extLst>
              <a:ext uri="{FF2B5EF4-FFF2-40B4-BE49-F238E27FC236}">
                <a16:creationId xmlns:a16="http://schemas.microsoft.com/office/drawing/2014/main" id="{A5CBBA11-3FED-66EF-9C85-E3F2FF5C63F9}"/>
              </a:ext>
            </a:extLst>
          </p:cNvPr>
          <p:cNvSpPr txBox="1"/>
          <p:nvPr/>
        </p:nvSpPr>
        <p:spPr>
          <a:xfrm>
            <a:off x="352540" y="2027104"/>
            <a:ext cx="8251633" cy="2246769"/>
          </a:xfrm>
          <a:prstGeom prst="rect">
            <a:avLst/>
          </a:prstGeom>
          <a:noFill/>
        </p:spPr>
        <p:txBody>
          <a:bodyPr wrap="square" rtlCol="0">
            <a:spAutoFit/>
          </a:bodyPr>
          <a:lstStyle/>
          <a:p>
            <a:pPr algn="l"/>
            <a:r>
              <a:rPr lang="fr-FR" sz="2800" b="0" i="0" u="none" strike="noStrike" baseline="0" dirty="0">
                <a:latin typeface="NimbusRomNo9L-Regu"/>
              </a:rPr>
              <a:t>Les réseaux de neurones artificiels sont des modelés mathématiques inspires de la biologie. Le neurone artificiel, est né initialement du d´désir de modéliser le fonctionnement d’un neurone</a:t>
            </a:r>
          </a:p>
          <a:p>
            <a:pPr algn="l"/>
            <a:r>
              <a:rPr lang="fr-FR" sz="2800" b="0" i="0" u="none" strike="noStrike" baseline="0" dirty="0">
                <a:latin typeface="NimbusRomNo9L-Regu"/>
              </a:rPr>
              <a:t>biologique.</a:t>
            </a:r>
            <a:endParaRPr lang="fr-FR" sz="2800" dirty="0"/>
          </a:p>
        </p:txBody>
      </p:sp>
    </p:spTree>
    <p:extLst>
      <p:ext uri="{BB962C8B-B14F-4D97-AF65-F5344CB8AC3E}">
        <p14:creationId xmlns:p14="http://schemas.microsoft.com/office/powerpoint/2010/main" val="186954058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58A4700-01F0-25C3-17A0-962E36785728}"/>
              </a:ext>
            </a:extLst>
          </p:cNvPr>
          <p:cNvSpPr>
            <a:spLocks noGrp="1"/>
          </p:cNvSpPr>
          <p:nvPr>
            <p:ph type="sldNum" sz="quarter" idx="12"/>
          </p:nvPr>
        </p:nvSpPr>
        <p:spPr/>
        <p:txBody>
          <a:bodyPr/>
          <a:lstStyle/>
          <a:p>
            <a:fld id="{A82C58F3-3795-4080-90EF-797C1431D8B7}" type="slidenum">
              <a:rPr lang="fr-FR" smtClean="0"/>
              <a:t>34</a:t>
            </a:fld>
            <a:endParaRPr lang="fr-FR"/>
          </a:p>
        </p:txBody>
      </p:sp>
      <p:sp>
        <p:nvSpPr>
          <p:cNvPr id="3" name="ZoneTexte 2">
            <a:extLst>
              <a:ext uri="{FF2B5EF4-FFF2-40B4-BE49-F238E27FC236}">
                <a16:creationId xmlns:a16="http://schemas.microsoft.com/office/drawing/2014/main" id="{42CB0E0C-3CBA-5299-D10E-ADF4F80494C7}"/>
              </a:ext>
            </a:extLst>
          </p:cNvPr>
          <p:cNvSpPr txBox="1"/>
          <p:nvPr/>
        </p:nvSpPr>
        <p:spPr>
          <a:xfrm>
            <a:off x="451692" y="352540"/>
            <a:ext cx="6841474" cy="1323439"/>
          </a:xfrm>
          <a:prstGeom prst="rect">
            <a:avLst/>
          </a:prstGeom>
          <a:noFill/>
        </p:spPr>
        <p:txBody>
          <a:bodyPr wrap="square" rtlCol="0">
            <a:spAutoFit/>
          </a:bodyPr>
          <a:lstStyle/>
          <a:p>
            <a:r>
              <a:rPr lang="fr-FR" sz="4000" b="1" dirty="0"/>
              <a:t>MODÉLISATION D’UN NEURONE </a:t>
            </a:r>
          </a:p>
        </p:txBody>
      </p:sp>
      <p:pic>
        <p:nvPicPr>
          <p:cNvPr id="6" name="Image 5">
            <a:extLst>
              <a:ext uri="{FF2B5EF4-FFF2-40B4-BE49-F238E27FC236}">
                <a16:creationId xmlns:a16="http://schemas.microsoft.com/office/drawing/2014/main" id="{3B71992A-1225-8B37-D409-656950AA9B45}"/>
              </a:ext>
            </a:extLst>
          </p:cNvPr>
          <p:cNvPicPr>
            <a:picLocks noChangeAspect="1"/>
          </p:cNvPicPr>
          <p:nvPr/>
        </p:nvPicPr>
        <p:blipFill>
          <a:blip r:embed="rId2"/>
          <a:stretch>
            <a:fillRect/>
          </a:stretch>
        </p:blipFill>
        <p:spPr>
          <a:xfrm>
            <a:off x="451692" y="1974056"/>
            <a:ext cx="3156563" cy="2495129"/>
          </a:xfrm>
          <a:prstGeom prst="rect">
            <a:avLst/>
          </a:prstGeom>
        </p:spPr>
      </p:pic>
      <p:pic>
        <p:nvPicPr>
          <p:cNvPr id="8" name="Image 7">
            <a:extLst>
              <a:ext uri="{FF2B5EF4-FFF2-40B4-BE49-F238E27FC236}">
                <a16:creationId xmlns:a16="http://schemas.microsoft.com/office/drawing/2014/main" id="{361A5E8C-CC56-DCBB-5AA9-D5EFFA41709F}"/>
              </a:ext>
            </a:extLst>
          </p:cNvPr>
          <p:cNvPicPr>
            <a:picLocks noChangeAspect="1"/>
          </p:cNvPicPr>
          <p:nvPr/>
        </p:nvPicPr>
        <p:blipFill>
          <a:blip r:embed="rId3"/>
          <a:stretch>
            <a:fillRect/>
          </a:stretch>
        </p:blipFill>
        <p:spPr>
          <a:xfrm>
            <a:off x="4870892" y="1489314"/>
            <a:ext cx="4002736" cy="3169443"/>
          </a:xfrm>
          <a:prstGeom prst="rect">
            <a:avLst/>
          </a:prstGeom>
        </p:spPr>
      </p:pic>
    </p:spTree>
    <p:extLst>
      <p:ext uri="{BB962C8B-B14F-4D97-AF65-F5344CB8AC3E}">
        <p14:creationId xmlns:p14="http://schemas.microsoft.com/office/powerpoint/2010/main" val="61839985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35</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 Modèle d’un neurone formel </a:t>
            </a:r>
          </a:p>
        </p:txBody>
      </p:sp>
      <p:pic>
        <p:nvPicPr>
          <p:cNvPr id="8" name="Image 7">
            <a:extLst>
              <a:ext uri="{FF2B5EF4-FFF2-40B4-BE49-F238E27FC236}">
                <a16:creationId xmlns:a16="http://schemas.microsoft.com/office/drawing/2014/main" id="{8793C625-D11B-FABF-2C99-989C2F5FB34F}"/>
              </a:ext>
            </a:extLst>
          </p:cNvPr>
          <p:cNvPicPr>
            <a:picLocks noChangeAspect="1"/>
          </p:cNvPicPr>
          <p:nvPr/>
        </p:nvPicPr>
        <p:blipFill>
          <a:blip r:embed="rId2"/>
          <a:stretch>
            <a:fillRect/>
          </a:stretch>
        </p:blipFill>
        <p:spPr>
          <a:xfrm>
            <a:off x="522960" y="2063865"/>
            <a:ext cx="7816810" cy="2703398"/>
          </a:xfrm>
          <a:prstGeom prst="rect">
            <a:avLst/>
          </a:prstGeom>
        </p:spPr>
      </p:pic>
    </p:spTree>
    <p:extLst>
      <p:ext uri="{BB962C8B-B14F-4D97-AF65-F5344CB8AC3E}">
        <p14:creationId xmlns:p14="http://schemas.microsoft.com/office/powerpoint/2010/main" val="375398397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36</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II</a:t>
            </a:r>
            <a:r>
              <a:rPr lang="en-US" sz="2400" b="1" dirty="0">
                <a:solidFill>
                  <a:schemeClr val="accent1">
                    <a:lumMod val="75000"/>
                  </a:schemeClr>
                </a:solidFill>
              </a:rPr>
              <a:t>-</a:t>
            </a:r>
            <a:r>
              <a:rPr lang="en-US" sz="2400" b="1" dirty="0" err="1">
                <a:solidFill>
                  <a:schemeClr val="accent1">
                    <a:lumMod val="75000"/>
                  </a:schemeClr>
                </a:solidFill>
              </a:rPr>
              <a:t>Fonction</a:t>
            </a:r>
            <a:r>
              <a:rPr lang="en-US" sz="2400" b="1" dirty="0">
                <a:solidFill>
                  <a:schemeClr val="accent1">
                    <a:lumMod val="75000"/>
                  </a:schemeClr>
                </a:solidFill>
              </a:rPr>
              <a:t> d</a:t>
            </a:r>
            <a:r>
              <a:rPr lang="fr-FR" sz="2400" b="1" dirty="0">
                <a:solidFill>
                  <a:schemeClr val="accent1">
                    <a:lumMod val="75000"/>
                  </a:schemeClr>
                </a:solidFill>
              </a:rPr>
              <a:t>’activation</a:t>
            </a:r>
          </a:p>
        </p:txBody>
      </p:sp>
      <p:sp>
        <p:nvSpPr>
          <p:cNvPr id="5" name="ZoneTexte 4">
            <a:extLst>
              <a:ext uri="{FF2B5EF4-FFF2-40B4-BE49-F238E27FC236}">
                <a16:creationId xmlns:a16="http://schemas.microsoft.com/office/drawing/2014/main" id="{FD9FB36F-B963-2132-4A89-80C2E6120CDC}"/>
              </a:ext>
            </a:extLst>
          </p:cNvPr>
          <p:cNvSpPr txBox="1"/>
          <p:nvPr/>
        </p:nvSpPr>
        <p:spPr>
          <a:xfrm>
            <a:off x="352540" y="1961559"/>
            <a:ext cx="8525242" cy="400110"/>
          </a:xfrm>
          <a:prstGeom prst="rect">
            <a:avLst/>
          </a:prstGeom>
          <a:noFill/>
        </p:spPr>
        <p:txBody>
          <a:bodyPr wrap="square" rtlCol="0">
            <a:spAutoFit/>
          </a:bodyPr>
          <a:lstStyle/>
          <a:p>
            <a:r>
              <a:rPr lang="fr-FR" sz="2000" b="0" i="0" u="none" strike="noStrike" baseline="0" dirty="0">
                <a:latin typeface="NimbusRomNo9L-Regu"/>
              </a:rPr>
              <a:t>Il existe plusieurs fonctions d’activation. Nous pouvons citer les types suivants :</a:t>
            </a:r>
            <a:endParaRPr lang="fr-FR" sz="2000" dirty="0"/>
          </a:p>
        </p:txBody>
      </p:sp>
      <p:pic>
        <p:nvPicPr>
          <p:cNvPr id="9" name="Image 8">
            <a:extLst>
              <a:ext uri="{FF2B5EF4-FFF2-40B4-BE49-F238E27FC236}">
                <a16:creationId xmlns:a16="http://schemas.microsoft.com/office/drawing/2014/main" id="{1FA701CD-0116-728E-BD5D-9489472B4603}"/>
              </a:ext>
            </a:extLst>
          </p:cNvPr>
          <p:cNvPicPr>
            <a:picLocks noChangeAspect="1"/>
          </p:cNvPicPr>
          <p:nvPr/>
        </p:nvPicPr>
        <p:blipFill>
          <a:blip r:embed="rId2"/>
          <a:stretch>
            <a:fillRect/>
          </a:stretch>
        </p:blipFill>
        <p:spPr>
          <a:xfrm>
            <a:off x="5428528" y="2423224"/>
            <a:ext cx="3304782" cy="2539880"/>
          </a:xfrm>
          <a:prstGeom prst="rect">
            <a:avLst/>
          </a:prstGeom>
        </p:spPr>
      </p:pic>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0B2F058B-80A9-0395-EDB1-5663E33BC1CB}"/>
                  </a:ext>
                </a:extLst>
              </p:cNvPr>
              <p:cNvSpPr txBox="1"/>
              <p:nvPr/>
            </p:nvSpPr>
            <p:spPr>
              <a:xfrm>
                <a:off x="254643" y="2571750"/>
                <a:ext cx="5069711" cy="2021579"/>
              </a:xfrm>
              <a:prstGeom prst="rect">
                <a:avLst/>
              </a:prstGeom>
              <a:noFill/>
            </p:spPr>
            <p:txBody>
              <a:bodyPr wrap="square" rtlCol="0">
                <a:spAutoFit/>
              </a:bodyPr>
              <a:lstStyle/>
              <a:p>
                <a:pPr algn="l"/>
                <a:r>
                  <a:rPr lang="fr-FR" sz="1800" b="1" i="0" u="none" strike="noStrike" baseline="0" dirty="0">
                    <a:latin typeface="NimbusRomNo9L-Regu"/>
                  </a:rPr>
                  <a:t>— </a:t>
                </a:r>
                <a:r>
                  <a:rPr lang="fr-FR" sz="1800" b="1" i="0" u="none" strike="noStrike" baseline="0" dirty="0">
                    <a:latin typeface="NimbusRomNo9L-Medi"/>
                  </a:rPr>
                  <a:t>Fonction sigmoïde : </a:t>
                </a:r>
                <a:r>
                  <a:rPr lang="fr-FR" sz="1800" b="0" i="0" u="none" strike="noStrike" baseline="0" dirty="0">
                    <a:latin typeface="NimbusRomNo9L-Regu"/>
                  </a:rPr>
                  <a:t>La fonction sigmoïde est très utilisée dans les réseaux de neurones, strictement Croissante. Un exemple de fonction sigmoïde est d´définie par l’équation suivante</a:t>
                </a:r>
                <a:r>
                  <a:rPr lang="en-US" sz="1800" b="0" i="0" u="none" strike="noStrike" baseline="0" dirty="0">
                    <a:latin typeface="NimbusRomNo9L-Regu"/>
                  </a:rPr>
                  <a:t>:</a:t>
                </a:r>
                <a:endParaRPr lang="fr-FR" sz="1800" b="0" i="0" u="none" strike="noStrike" baseline="0" dirty="0">
                  <a:latin typeface="NimbusRomNo9L-Regu"/>
                </a:endParaRPr>
              </a:p>
              <a:p>
                <a:pPr algn="l"/>
                <a:endParaRPr lang="fr-FR" dirty="0">
                  <a:latin typeface="NimbusRomNo9L-Regu"/>
                </a:endParaRPr>
              </a:p>
              <a:p>
                <a:pPr algn="l"/>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1+</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𝑒</m:t>
                              </m:r>
                            </m:e>
                            <m:sup>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𝛼</m:t>
                              </m:r>
                              <m:r>
                                <a:rPr lang="fr-FR" b="0" i="1" smtClean="0">
                                  <a:latin typeface="Cambria Math" panose="02040503050406030204" pitchFamily="18" charset="0"/>
                                  <a:ea typeface="Cambria Math" panose="02040503050406030204" pitchFamily="18" charset="0"/>
                                </a:rPr>
                                <m:t>𝑥</m:t>
                              </m:r>
                            </m:sup>
                          </m:sSup>
                        </m:den>
                      </m:f>
                    </m:oMath>
                  </m:oMathPara>
                </a14:m>
                <a:endParaRPr lang="fr-FR" dirty="0"/>
              </a:p>
            </p:txBody>
          </p:sp>
        </mc:Choice>
        <mc:Fallback xmlns="">
          <p:sp>
            <p:nvSpPr>
              <p:cNvPr id="10" name="ZoneTexte 9">
                <a:extLst>
                  <a:ext uri="{FF2B5EF4-FFF2-40B4-BE49-F238E27FC236}">
                    <a16:creationId xmlns:a16="http://schemas.microsoft.com/office/drawing/2014/main" id="{0B2F058B-80A9-0395-EDB1-5663E33BC1CB}"/>
                  </a:ext>
                </a:extLst>
              </p:cNvPr>
              <p:cNvSpPr txBox="1">
                <a:spLocks noRot="1" noChangeAspect="1" noMove="1" noResize="1" noEditPoints="1" noAdjustHandles="1" noChangeArrowheads="1" noChangeShapeType="1" noTextEdit="1"/>
              </p:cNvSpPr>
              <p:nvPr/>
            </p:nvSpPr>
            <p:spPr>
              <a:xfrm>
                <a:off x="254643" y="2571750"/>
                <a:ext cx="5069711" cy="2021579"/>
              </a:xfrm>
              <a:prstGeom prst="rect">
                <a:avLst/>
              </a:prstGeom>
              <a:blipFill>
                <a:blip r:embed="rId3"/>
                <a:stretch>
                  <a:fillRect l="-1083" t="-1813" r="-722"/>
                </a:stretch>
              </a:blipFill>
            </p:spPr>
            <p:txBody>
              <a:bodyPr/>
              <a:lstStyle/>
              <a:p>
                <a:r>
                  <a:rPr lang="fr-FR">
                    <a:noFill/>
                  </a:rPr>
                  <a:t> </a:t>
                </a:r>
              </a:p>
            </p:txBody>
          </p:sp>
        </mc:Fallback>
      </mc:AlternateContent>
    </p:spTree>
    <p:extLst>
      <p:ext uri="{BB962C8B-B14F-4D97-AF65-F5344CB8AC3E}">
        <p14:creationId xmlns:p14="http://schemas.microsoft.com/office/powerpoint/2010/main" val="110921090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37</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II</a:t>
            </a:r>
            <a:r>
              <a:rPr lang="en-US" sz="2400" b="1" dirty="0">
                <a:solidFill>
                  <a:schemeClr val="accent1">
                    <a:lumMod val="75000"/>
                  </a:schemeClr>
                </a:solidFill>
              </a:rPr>
              <a:t>-</a:t>
            </a:r>
            <a:r>
              <a:rPr lang="en-US" sz="2400" b="1" dirty="0" err="1">
                <a:solidFill>
                  <a:schemeClr val="accent1">
                    <a:lumMod val="75000"/>
                  </a:schemeClr>
                </a:solidFill>
              </a:rPr>
              <a:t>Fonction</a:t>
            </a:r>
            <a:r>
              <a:rPr lang="en-US" sz="2400" b="1" dirty="0">
                <a:solidFill>
                  <a:schemeClr val="accent1">
                    <a:lumMod val="75000"/>
                  </a:schemeClr>
                </a:solidFill>
              </a:rPr>
              <a:t> d</a:t>
            </a:r>
            <a:r>
              <a:rPr lang="fr-FR" sz="2400" b="1" dirty="0">
                <a:solidFill>
                  <a:schemeClr val="accent1">
                    <a:lumMod val="75000"/>
                  </a:schemeClr>
                </a:solidFill>
              </a:rPr>
              <a:t>’activation</a:t>
            </a:r>
          </a:p>
        </p:txBody>
      </p:sp>
      <p:sp>
        <p:nvSpPr>
          <p:cNvPr id="5" name="ZoneTexte 4">
            <a:extLst>
              <a:ext uri="{FF2B5EF4-FFF2-40B4-BE49-F238E27FC236}">
                <a16:creationId xmlns:a16="http://schemas.microsoft.com/office/drawing/2014/main" id="{FD9FB36F-B963-2132-4A89-80C2E6120CDC}"/>
              </a:ext>
            </a:extLst>
          </p:cNvPr>
          <p:cNvSpPr txBox="1"/>
          <p:nvPr/>
        </p:nvSpPr>
        <p:spPr>
          <a:xfrm>
            <a:off x="352540" y="1961559"/>
            <a:ext cx="8525242" cy="400110"/>
          </a:xfrm>
          <a:prstGeom prst="rect">
            <a:avLst/>
          </a:prstGeom>
          <a:noFill/>
        </p:spPr>
        <p:txBody>
          <a:bodyPr wrap="square" rtlCol="0">
            <a:spAutoFit/>
          </a:bodyPr>
          <a:lstStyle/>
          <a:p>
            <a:r>
              <a:rPr lang="fr-FR" sz="2000" b="0" i="0" u="none" strike="noStrike" baseline="0" dirty="0">
                <a:latin typeface="NimbusRomNo9L-Regu"/>
              </a:rPr>
              <a:t>Il existe plusieurs fonctions d’activation. Nous pouvons citer les types suivants :</a:t>
            </a:r>
            <a:endParaRPr lang="fr-FR" sz="2000" dirty="0"/>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B3BF6BF5-FA17-BC20-CD77-FBF70761B996}"/>
                  </a:ext>
                </a:extLst>
              </p:cNvPr>
              <p:cNvSpPr txBox="1"/>
              <p:nvPr/>
            </p:nvSpPr>
            <p:spPr>
              <a:xfrm>
                <a:off x="495759" y="2571750"/>
                <a:ext cx="8382023" cy="2317750"/>
              </a:xfrm>
              <a:prstGeom prst="rect">
                <a:avLst/>
              </a:prstGeom>
              <a:noFill/>
            </p:spPr>
            <p:txBody>
              <a:bodyPr wrap="square" rtlCol="0">
                <a:spAutoFit/>
              </a:bodyPr>
              <a:lstStyle/>
              <a:p>
                <a:pPr algn="l"/>
                <a:r>
                  <a:rPr lang="fr-FR" sz="2000" b="1" i="0" u="none" strike="noStrike" baseline="0" dirty="0">
                    <a:latin typeface="NimbusRomNo9L-Regu"/>
                  </a:rPr>
                  <a:t>— </a:t>
                </a:r>
                <a:r>
                  <a:rPr lang="fr-FR" sz="2000" b="1" i="0" u="none" strike="noStrike" baseline="0" dirty="0">
                    <a:latin typeface="NimbusRomNo9L-Medi"/>
                  </a:rPr>
                  <a:t>Fonction seuil </a:t>
                </a:r>
                <a:r>
                  <a:rPr lang="fr-FR" sz="2000" b="0" i="0" u="none" strike="noStrike" baseline="0" dirty="0">
                    <a:latin typeface="NimbusRomNo9L-Medi"/>
                  </a:rPr>
                  <a:t>:</a:t>
                </a:r>
                <a:r>
                  <a:rPr lang="fr-FR" sz="2000" b="0" i="0" u="none" strike="noStrike" baseline="0" dirty="0">
                    <a:latin typeface="NimbusRomNo9L-Regu"/>
                  </a:rPr>
                  <a:t>Est une fonction qui produit une sortie binaire ,en fonction d’une valeur seuil fixée .Si la valeur d’entrée dépasse le seuil ,la sortie activée (généralement a 1) , sinon la sortie désactivée (généralement a 0). Elle est définie comme suit :</a:t>
                </a:r>
              </a:p>
              <a:p>
                <a:pPr algn="l"/>
                <a:endParaRPr lang="fr-FR" sz="2000" dirty="0">
                  <a:latin typeface="NimbusRomNo9L-Regu"/>
                </a:endParaRPr>
              </a:p>
              <a:p>
                <a:pPr algn="l"/>
                <a:r>
                  <a:rPr lang="fr-FR" sz="2000" dirty="0"/>
                  <a:t>      f(x)=</a:t>
                </a:r>
                <a14:m>
                  <m:oMath xmlns:m="http://schemas.openxmlformats.org/officeDocument/2006/math">
                    <m:d>
                      <m:dPr>
                        <m:begChr m:val="{"/>
                        <m:endChr m:val=""/>
                        <m:ctrlPr>
                          <a:rPr lang="fr-FR" sz="2000" i="1" smtClean="0">
                            <a:latin typeface="Cambria Math" panose="02040503050406030204" pitchFamily="18" charset="0"/>
                          </a:rPr>
                        </m:ctrlPr>
                      </m:dPr>
                      <m:e>
                        <m:eqArr>
                          <m:eqArrPr>
                            <m:ctrlPr>
                              <a:rPr lang="fr-FR" sz="2000" i="1" smtClean="0">
                                <a:latin typeface="Cambria Math" panose="02040503050406030204" pitchFamily="18" charset="0"/>
                              </a:rPr>
                            </m:ctrlPr>
                          </m:eqArrPr>
                          <m:e>
                            <m:r>
                              <a:rPr lang="fr-FR" sz="2000" b="0" i="1" smtClean="0">
                                <a:latin typeface="Cambria Math" panose="02040503050406030204" pitchFamily="18" charset="0"/>
                              </a:rPr>
                              <m:t>1          </m:t>
                            </m:r>
                            <m:r>
                              <a:rPr lang="fr-FR" sz="2000" b="0" i="1" smtClean="0">
                                <a:latin typeface="Cambria Math" panose="02040503050406030204" pitchFamily="18" charset="0"/>
                              </a:rPr>
                              <m:t>𝑠𝑖</m:t>
                            </m:r>
                            <m:r>
                              <a:rPr lang="fr-FR" sz="2000" b="0" i="1" smtClean="0">
                                <a:latin typeface="Cambria Math" panose="02040503050406030204" pitchFamily="18" charset="0"/>
                              </a:rPr>
                              <m:t>   </m:t>
                            </m:r>
                            <m:r>
                              <a:rPr lang="fr-FR" sz="2000" b="0" i="1" smtClean="0">
                                <a:latin typeface="Cambria Math" panose="02040503050406030204" pitchFamily="18" charset="0"/>
                              </a:rPr>
                              <m:t>𝑥</m:t>
                            </m:r>
                            <m:r>
                              <a:rPr lang="fr-FR" sz="2000" b="0" i="1" smtClean="0">
                                <a:latin typeface="Cambria Math" panose="02040503050406030204" pitchFamily="18" charset="0"/>
                                <a:ea typeface="Cambria Math" panose="02040503050406030204" pitchFamily="18" charset="0"/>
                              </a:rPr>
                              <m:t>&gt;</m:t>
                            </m:r>
                            <m:r>
                              <a:rPr lang="fr-FR" sz="2000" b="0" i="1" smtClean="0">
                                <a:latin typeface="Cambria Math" panose="02040503050406030204" pitchFamily="18" charset="0"/>
                                <a:ea typeface="Cambria Math" panose="02040503050406030204" pitchFamily="18" charset="0"/>
                              </a:rPr>
                              <m:t>𝑠𝑒𝑢𝑖𝑙</m:t>
                            </m:r>
                            <m:r>
                              <a:rPr lang="fr-FR" sz="2000" b="0" i="1" smtClean="0">
                                <a:latin typeface="Cambria Math" panose="02040503050406030204" pitchFamily="18" charset="0"/>
                              </a:rPr>
                              <m:t>     </m:t>
                            </m:r>
                          </m:e>
                          <m:e>
                            <m:r>
                              <a:rPr lang="fr-FR" sz="2000" b="0" i="1" smtClean="0">
                                <a:latin typeface="Cambria Math" panose="02040503050406030204" pitchFamily="18" charset="0"/>
                              </a:rPr>
                              <m:t>0         </m:t>
                            </m:r>
                            <m:r>
                              <a:rPr lang="fr-FR" sz="2000" b="0" i="1" smtClean="0">
                                <a:latin typeface="Cambria Math" panose="02040503050406030204" pitchFamily="18" charset="0"/>
                              </a:rPr>
                              <m:t>𝑠𝑖𝑛𝑜𝑛</m:t>
                            </m:r>
                            <m:r>
                              <a:rPr lang="fr-FR" sz="2000" b="0" i="1" smtClean="0">
                                <a:latin typeface="Cambria Math" panose="02040503050406030204" pitchFamily="18" charset="0"/>
                              </a:rPr>
                              <m:t>                     </m:t>
                            </m:r>
                          </m:e>
                        </m:eqArr>
                      </m:e>
                    </m:d>
                  </m:oMath>
                </a14:m>
                <a:endParaRPr lang="fr-FR" sz="2000" dirty="0"/>
              </a:p>
            </p:txBody>
          </p:sp>
        </mc:Choice>
        <mc:Fallback xmlns="">
          <p:sp>
            <p:nvSpPr>
              <p:cNvPr id="4" name="ZoneTexte 3">
                <a:extLst>
                  <a:ext uri="{FF2B5EF4-FFF2-40B4-BE49-F238E27FC236}">
                    <a16:creationId xmlns:a16="http://schemas.microsoft.com/office/drawing/2014/main" id="{B3BF6BF5-FA17-BC20-CD77-FBF70761B996}"/>
                  </a:ext>
                </a:extLst>
              </p:cNvPr>
              <p:cNvSpPr txBox="1">
                <a:spLocks noRot="1" noChangeAspect="1" noMove="1" noResize="1" noEditPoints="1" noAdjustHandles="1" noChangeArrowheads="1" noChangeShapeType="1" noTextEdit="1"/>
              </p:cNvSpPr>
              <p:nvPr/>
            </p:nvSpPr>
            <p:spPr>
              <a:xfrm>
                <a:off x="495759" y="2571750"/>
                <a:ext cx="8382023" cy="2317750"/>
              </a:xfrm>
              <a:prstGeom prst="rect">
                <a:avLst/>
              </a:prstGeom>
              <a:blipFill>
                <a:blip r:embed="rId2"/>
                <a:stretch>
                  <a:fillRect l="-727" t="-1579"/>
                </a:stretch>
              </a:blipFill>
            </p:spPr>
            <p:txBody>
              <a:bodyPr/>
              <a:lstStyle/>
              <a:p>
                <a:r>
                  <a:rPr lang="fr-FR">
                    <a:noFill/>
                  </a:rPr>
                  <a:t> </a:t>
                </a:r>
              </a:p>
            </p:txBody>
          </p:sp>
        </mc:Fallback>
      </mc:AlternateContent>
    </p:spTree>
    <p:extLst>
      <p:ext uri="{BB962C8B-B14F-4D97-AF65-F5344CB8AC3E}">
        <p14:creationId xmlns:p14="http://schemas.microsoft.com/office/powerpoint/2010/main" val="288077724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38</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II</a:t>
            </a:r>
            <a:r>
              <a:rPr lang="en-US" sz="2400" b="1" dirty="0">
                <a:solidFill>
                  <a:schemeClr val="accent1">
                    <a:lumMod val="75000"/>
                  </a:schemeClr>
                </a:solidFill>
              </a:rPr>
              <a:t>-</a:t>
            </a:r>
            <a:r>
              <a:rPr lang="en-US" sz="2400" b="1" dirty="0" err="1">
                <a:solidFill>
                  <a:schemeClr val="accent1">
                    <a:lumMod val="75000"/>
                  </a:schemeClr>
                </a:solidFill>
              </a:rPr>
              <a:t>Fonction</a:t>
            </a:r>
            <a:r>
              <a:rPr lang="en-US" sz="2400" b="1" dirty="0">
                <a:solidFill>
                  <a:schemeClr val="accent1">
                    <a:lumMod val="75000"/>
                  </a:schemeClr>
                </a:solidFill>
              </a:rPr>
              <a:t> d</a:t>
            </a:r>
            <a:r>
              <a:rPr lang="fr-FR" sz="2400" b="1" dirty="0">
                <a:solidFill>
                  <a:schemeClr val="accent1">
                    <a:lumMod val="75000"/>
                  </a:schemeClr>
                </a:solidFill>
              </a:rPr>
              <a:t>’activation</a:t>
            </a:r>
          </a:p>
        </p:txBody>
      </p:sp>
      <p:sp>
        <p:nvSpPr>
          <p:cNvPr id="5" name="ZoneTexte 4">
            <a:extLst>
              <a:ext uri="{FF2B5EF4-FFF2-40B4-BE49-F238E27FC236}">
                <a16:creationId xmlns:a16="http://schemas.microsoft.com/office/drawing/2014/main" id="{FD9FB36F-B963-2132-4A89-80C2E6120CDC}"/>
              </a:ext>
            </a:extLst>
          </p:cNvPr>
          <p:cNvSpPr txBox="1"/>
          <p:nvPr/>
        </p:nvSpPr>
        <p:spPr>
          <a:xfrm>
            <a:off x="352540" y="1961559"/>
            <a:ext cx="8525242" cy="400110"/>
          </a:xfrm>
          <a:prstGeom prst="rect">
            <a:avLst/>
          </a:prstGeom>
          <a:noFill/>
        </p:spPr>
        <p:txBody>
          <a:bodyPr wrap="square" rtlCol="0">
            <a:spAutoFit/>
          </a:bodyPr>
          <a:lstStyle/>
          <a:p>
            <a:r>
              <a:rPr lang="fr-FR" sz="2000" b="0" i="0" u="none" strike="noStrike" baseline="0" dirty="0">
                <a:latin typeface="NimbusRomNo9L-Regu"/>
              </a:rPr>
              <a:t>Il existe plusieurs fonctions d’activation. Nous pouvons citer les types suivants :</a:t>
            </a:r>
            <a:endParaRPr lang="fr-FR" sz="2000" dirty="0"/>
          </a:p>
        </p:txBody>
      </p:sp>
      <p:pic>
        <p:nvPicPr>
          <p:cNvPr id="8" name="Image 7">
            <a:extLst>
              <a:ext uri="{FF2B5EF4-FFF2-40B4-BE49-F238E27FC236}">
                <a16:creationId xmlns:a16="http://schemas.microsoft.com/office/drawing/2014/main" id="{D2A37E00-C101-AAA1-80E4-3B76B52C7283}"/>
              </a:ext>
            </a:extLst>
          </p:cNvPr>
          <p:cNvPicPr>
            <a:picLocks noChangeAspect="1"/>
          </p:cNvPicPr>
          <p:nvPr/>
        </p:nvPicPr>
        <p:blipFill>
          <a:blip r:embed="rId3"/>
          <a:stretch>
            <a:fillRect/>
          </a:stretch>
        </p:blipFill>
        <p:spPr>
          <a:xfrm>
            <a:off x="5162309" y="2525530"/>
            <a:ext cx="3507000" cy="2420711"/>
          </a:xfrm>
          <a:prstGeom prst="rect">
            <a:avLst/>
          </a:prstGeom>
        </p:spPr>
      </p:pic>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3AA548E6-36F9-7609-500E-23DDCCF38C5F}"/>
                  </a:ext>
                </a:extLst>
              </p:cNvPr>
              <p:cNvSpPr txBox="1"/>
              <p:nvPr/>
            </p:nvSpPr>
            <p:spPr>
              <a:xfrm>
                <a:off x="144067" y="2571750"/>
                <a:ext cx="4589979" cy="2308324"/>
              </a:xfrm>
              <a:prstGeom prst="rect">
                <a:avLst/>
              </a:prstGeom>
              <a:noFill/>
            </p:spPr>
            <p:txBody>
              <a:bodyPr wrap="square" rtlCol="0">
                <a:spAutoFit/>
              </a:bodyPr>
              <a:lstStyle/>
              <a:p>
                <a:pPr algn="l"/>
                <a:r>
                  <a:rPr lang="fr-FR" sz="2400" b="1" i="0" u="none" strike="noStrike" baseline="0" dirty="0">
                    <a:latin typeface="NimbusRomNo9L-Regu"/>
                  </a:rPr>
                  <a:t>— </a:t>
                </a:r>
                <a:r>
                  <a:rPr lang="fr-FR" sz="2400" b="1" i="0" u="none" strike="noStrike" baseline="0" dirty="0">
                    <a:latin typeface="NimbusRomNo9L-Medi"/>
                  </a:rPr>
                  <a:t>Fonction </a:t>
                </a:r>
                <a:r>
                  <a:rPr lang="fr-FR" sz="2400" b="1" i="0" u="none" strike="noStrike" baseline="0" dirty="0" err="1">
                    <a:latin typeface="NimbusRomNo9L-Medi"/>
                  </a:rPr>
                  <a:t>ReLU</a:t>
                </a:r>
                <a:r>
                  <a:rPr lang="fr-FR" sz="2400" b="1" i="0" u="none" strike="noStrike" baseline="0" dirty="0">
                    <a:latin typeface="NimbusRomNo9L-Medi"/>
                  </a:rPr>
                  <a:t> (</a:t>
                </a:r>
                <a:r>
                  <a:rPr lang="fr-FR" sz="2400" b="1" i="0" u="none" strike="noStrike" baseline="0" dirty="0" err="1">
                    <a:latin typeface="NimbusRomNo9L-Medi"/>
                  </a:rPr>
                  <a:t>Rectified</a:t>
                </a:r>
                <a:r>
                  <a:rPr lang="fr-FR" sz="2400" b="1" i="0" u="none" strike="noStrike" baseline="0" dirty="0">
                    <a:latin typeface="NimbusRomNo9L-Medi"/>
                  </a:rPr>
                  <a:t> </a:t>
                </a:r>
                <a:r>
                  <a:rPr lang="fr-FR" sz="2400" b="1" i="0" u="none" strike="noStrike" baseline="0" dirty="0" err="1">
                    <a:latin typeface="NimbusRomNo9L-Medi"/>
                  </a:rPr>
                  <a:t>Linear</a:t>
                </a:r>
                <a:r>
                  <a:rPr lang="fr-FR" sz="2400" b="1" i="0" u="none" strike="noStrike" baseline="0" dirty="0">
                    <a:latin typeface="NimbusRomNo9L-Medi"/>
                  </a:rPr>
                  <a:t> Unit) : </a:t>
                </a:r>
                <a:r>
                  <a:rPr lang="fr-FR" sz="2400" b="0" i="0" u="none" strike="noStrike" baseline="0" dirty="0">
                    <a:latin typeface="NimbusRomNo9L-Regu"/>
                  </a:rPr>
                  <a:t>Est l’une des fonctions Les plus utilisées</a:t>
                </a:r>
              </a:p>
              <a:p>
                <a:pPr algn="l"/>
                <a:r>
                  <a:rPr lang="fr-FR" sz="2400" b="0" i="0" u="none" strike="noStrike" baseline="0" dirty="0">
                    <a:latin typeface="NimbusRomNo9L-Regu"/>
                  </a:rPr>
                  <a:t>.Elle est définie comme suit :</a:t>
                </a:r>
              </a:p>
              <a:p>
                <a:pPr algn="l"/>
                <a:endParaRPr lang="fr-FR" sz="2400" dirty="0">
                  <a:latin typeface="NimbusRomNo9L-Regu"/>
                </a:endParaRPr>
              </a:p>
              <a:p>
                <a:pPr algn="l"/>
                <a:r>
                  <a:rPr lang="fr-FR" sz="2400" dirty="0">
                    <a:latin typeface="NimbusRomNo9L-Regu"/>
                  </a:rPr>
                  <a:t>      f(x)</a:t>
                </a:r>
                <a14:m>
                  <m:oMath xmlns:m="http://schemas.openxmlformats.org/officeDocument/2006/math">
                    <m:r>
                      <a:rPr lang="fr-FR" sz="2400" b="0" i="1" smtClean="0">
                        <a:latin typeface="Cambria Math" panose="02040503050406030204" pitchFamily="18" charset="0"/>
                      </a:rPr>
                      <m:t>=</m:t>
                    </m:r>
                    <m:r>
                      <m:rPr>
                        <m:sty m:val="p"/>
                      </m:rPr>
                      <a:rPr lang="fr-FR" sz="2400" b="0" i="0" smtClean="0">
                        <a:latin typeface="Cambria Math" panose="02040503050406030204" pitchFamily="18" charset="0"/>
                      </a:rPr>
                      <m:t>max</m:t>
                    </m:r>
                    <m:r>
                      <a:rPr lang="en-US" sz="2400" b="0" i="0" smtClean="0">
                        <a:latin typeface="Cambria Math" panose="02040503050406030204" pitchFamily="18" charset="0"/>
                      </a:rPr>
                      <m:t>(0,</m:t>
                    </m:r>
                    <m:r>
                      <m:rPr>
                        <m:sty m:val="p"/>
                      </m:rPr>
                      <a:rPr lang="en-US" sz="2400" b="0" i="0" smtClean="0">
                        <a:latin typeface="Cambria Math" panose="02040503050406030204" pitchFamily="18" charset="0"/>
                      </a:rPr>
                      <m:t>x</m:t>
                    </m:r>
                    <m:r>
                      <a:rPr lang="fr-FR" sz="2400" b="0" i="0" smtClean="0">
                        <a:latin typeface="Cambria Math" panose="02040503050406030204" pitchFamily="18" charset="0"/>
                      </a:rPr>
                      <m:t>)</m:t>
                    </m:r>
                  </m:oMath>
                </a14:m>
                <a:endParaRPr lang="fr-FR" sz="2400" dirty="0"/>
              </a:p>
            </p:txBody>
          </p:sp>
        </mc:Choice>
        <mc:Fallback xmlns="">
          <p:sp>
            <p:nvSpPr>
              <p:cNvPr id="10" name="ZoneTexte 9">
                <a:extLst>
                  <a:ext uri="{FF2B5EF4-FFF2-40B4-BE49-F238E27FC236}">
                    <a16:creationId xmlns:a16="http://schemas.microsoft.com/office/drawing/2014/main" id="{3AA548E6-36F9-7609-500E-23DDCCF38C5F}"/>
                  </a:ext>
                </a:extLst>
              </p:cNvPr>
              <p:cNvSpPr txBox="1">
                <a:spLocks noRot="1" noChangeAspect="1" noMove="1" noResize="1" noEditPoints="1" noAdjustHandles="1" noChangeArrowheads="1" noChangeShapeType="1" noTextEdit="1"/>
              </p:cNvSpPr>
              <p:nvPr/>
            </p:nvSpPr>
            <p:spPr>
              <a:xfrm>
                <a:off x="144067" y="2571750"/>
                <a:ext cx="4589979" cy="2308324"/>
              </a:xfrm>
              <a:prstGeom prst="rect">
                <a:avLst/>
              </a:prstGeom>
              <a:blipFill>
                <a:blip r:embed="rId4"/>
                <a:stretch>
                  <a:fillRect l="-2125" t="-2111" b="-4749"/>
                </a:stretch>
              </a:blipFill>
            </p:spPr>
            <p:txBody>
              <a:bodyPr/>
              <a:lstStyle/>
              <a:p>
                <a:r>
                  <a:rPr lang="fr-FR">
                    <a:noFill/>
                  </a:rPr>
                  <a:t> </a:t>
                </a:r>
              </a:p>
            </p:txBody>
          </p:sp>
        </mc:Fallback>
      </mc:AlternateContent>
    </p:spTree>
    <p:extLst>
      <p:ext uri="{BB962C8B-B14F-4D97-AF65-F5344CB8AC3E}">
        <p14:creationId xmlns:p14="http://schemas.microsoft.com/office/powerpoint/2010/main" val="78899455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922FA29-FF3C-FCD1-E426-0AC4A1600C94}"/>
              </a:ext>
            </a:extLst>
          </p:cNvPr>
          <p:cNvSpPr>
            <a:spLocks noGrp="1"/>
          </p:cNvSpPr>
          <p:nvPr>
            <p:ph type="sldNum" sz="quarter" idx="12"/>
          </p:nvPr>
        </p:nvSpPr>
        <p:spPr/>
        <p:txBody>
          <a:bodyPr/>
          <a:lstStyle/>
          <a:p>
            <a:fld id="{A82C58F3-3795-4080-90EF-797C1431D8B7}" type="slidenum">
              <a:rPr lang="fr-FR" smtClean="0"/>
              <a:t>39</a:t>
            </a:fld>
            <a:endParaRPr lang="fr-FR"/>
          </a:p>
        </p:txBody>
      </p:sp>
      <p:sp>
        <p:nvSpPr>
          <p:cNvPr id="3" name="ZoneTexte 2">
            <a:extLst>
              <a:ext uri="{FF2B5EF4-FFF2-40B4-BE49-F238E27FC236}">
                <a16:creationId xmlns:a16="http://schemas.microsoft.com/office/drawing/2014/main" id="{E91723BD-1F90-B5C0-D048-C4D735706B6F}"/>
              </a:ext>
            </a:extLst>
          </p:cNvPr>
          <p:cNvSpPr txBox="1"/>
          <p:nvPr/>
        </p:nvSpPr>
        <p:spPr>
          <a:xfrm>
            <a:off x="544010" y="277792"/>
            <a:ext cx="8356922" cy="1077218"/>
          </a:xfrm>
          <a:prstGeom prst="rect">
            <a:avLst/>
          </a:prstGeom>
          <a:noFill/>
        </p:spPr>
        <p:txBody>
          <a:bodyPr wrap="square" rtlCol="0">
            <a:spAutoFit/>
          </a:bodyPr>
          <a:lstStyle/>
          <a:p>
            <a:r>
              <a:rPr lang="fr-FR" sz="3200" b="1" i="0" u="none" strike="noStrike" baseline="0" dirty="0">
                <a:latin typeface="NimbusRomNo9L-Medi"/>
              </a:rPr>
              <a:t>LES DIFFÉRENTS TYPES DE RÉSEAUX DE NEURONES ARTIFICIELS</a:t>
            </a:r>
            <a:endParaRPr lang="fr-FR" sz="3200" b="1" dirty="0"/>
          </a:p>
        </p:txBody>
      </p:sp>
      <p:sp>
        <p:nvSpPr>
          <p:cNvPr id="4" name="ZoneTexte 3">
            <a:extLst>
              <a:ext uri="{FF2B5EF4-FFF2-40B4-BE49-F238E27FC236}">
                <a16:creationId xmlns:a16="http://schemas.microsoft.com/office/drawing/2014/main" id="{9E2D88FF-9F8A-7D50-965E-B7C7AF8AD415}"/>
              </a:ext>
            </a:extLst>
          </p:cNvPr>
          <p:cNvSpPr txBox="1"/>
          <p:nvPr/>
        </p:nvSpPr>
        <p:spPr>
          <a:xfrm>
            <a:off x="335666" y="1562582"/>
            <a:ext cx="8565266" cy="2554545"/>
          </a:xfrm>
          <a:prstGeom prst="rect">
            <a:avLst/>
          </a:prstGeom>
          <a:noFill/>
        </p:spPr>
        <p:txBody>
          <a:bodyPr wrap="square" rtlCol="0">
            <a:spAutoFit/>
          </a:bodyPr>
          <a:lstStyle/>
          <a:p>
            <a:pPr algn="l"/>
            <a:r>
              <a:rPr lang="fr-FR" sz="3200" b="0" i="0" u="none" strike="noStrike" baseline="0" dirty="0">
                <a:latin typeface="NimbusRomNo9L-Regu"/>
              </a:rPr>
              <a:t>Il existe plusieurs types de réseaux de neurones, chacun adapté à des tâches spécifiques en fonction de la structure et de l’architecture du réseau. Voici quelques-uns des types les plus courants :</a:t>
            </a:r>
            <a:endParaRPr lang="fr-FR" sz="3200" dirty="0"/>
          </a:p>
        </p:txBody>
      </p:sp>
    </p:spTree>
    <p:extLst>
      <p:ext uri="{BB962C8B-B14F-4D97-AF65-F5344CB8AC3E}">
        <p14:creationId xmlns:p14="http://schemas.microsoft.com/office/powerpoint/2010/main" val="51678270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922FA29-FF3C-FCD1-E426-0AC4A1600C94}"/>
              </a:ext>
            </a:extLst>
          </p:cNvPr>
          <p:cNvSpPr>
            <a:spLocks noGrp="1"/>
          </p:cNvSpPr>
          <p:nvPr>
            <p:ph type="sldNum" sz="quarter" idx="12"/>
          </p:nvPr>
        </p:nvSpPr>
        <p:spPr/>
        <p:txBody>
          <a:bodyPr/>
          <a:lstStyle/>
          <a:p>
            <a:fld id="{A82C58F3-3795-4080-90EF-797C1431D8B7}" type="slidenum">
              <a:rPr lang="fr-FR" smtClean="0"/>
              <a:t>40</a:t>
            </a:fld>
            <a:endParaRPr lang="fr-FR"/>
          </a:p>
        </p:txBody>
      </p:sp>
      <p:sp>
        <p:nvSpPr>
          <p:cNvPr id="3" name="ZoneTexte 2">
            <a:extLst>
              <a:ext uri="{FF2B5EF4-FFF2-40B4-BE49-F238E27FC236}">
                <a16:creationId xmlns:a16="http://schemas.microsoft.com/office/drawing/2014/main" id="{E91723BD-1F90-B5C0-D048-C4D735706B6F}"/>
              </a:ext>
            </a:extLst>
          </p:cNvPr>
          <p:cNvSpPr txBox="1"/>
          <p:nvPr/>
        </p:nvSpPr>
        <p:spPr>
          <a:xfrm>
            <a:off x="544010" y="277792"/>
            <a:ext cx="8356922" cy="1077218"/>
          </a:xfrm>
          <a:prstGeom prst="rect">
            <a:avLst/>
          </a:prstGeom>
          <a:noFill/>
        </p:spPr>
        <p:txBody>
          <a:bodyPr wrap="square" rtlCol="0">
            <a:spAutoFit/>
          </a:bodyPr>
          <a:lstStyle/>
          <a:p>
            <a:r>
              <a:rPr lang="fr-FR" sz="3200" b="1" i="0" u="none" strike="noStrike" baseline="0" dirty="0">
                <a:latin typeface="NimbusRomNo9L-Medi"/>
              </a:rPr>
              <a:t>LES DIFFÉRENTS TYPES DE RÉSEAUX DE NEURONES ARTIFICIELS</a:t>
            </a:r>
            <a:endParaRPr lang="fr-FR" sz="3200" b="1" dirty="0"/>
          </a:p>
        </p:txBody>
      </p:sp>
      <p:sp>
        <p:nvSpPr>
          <p:cNvPr id="5" name="ZoneTexte 4">
            <a:extLst>
              <a:ext uri="{FF2B5EF4-FFF2-40B4-BE49-F238E27FC236}">
                <a16:creationId xmlns:a16="http://schemas.microsoft.com/office/drawing/2014/main" id="{0EC53135-7EA9-968E-819A-8853D46631CD}"/>
              </a:ext>
            </a:extLst>
          </p:cNvPr>
          <p:cNvSpPr txBox="1"/>
          <p:nvPr/>
        </p:nvSpPr>
        <p:spPr>
          <a:xfrm>
            <a:off x="266218" y="1904941"/>
            <a:ext cx="4305782" cy="3139321"/>
          </a:xfrm>
          <a:prstGeom prst="rect">
            <a:avLst/>
          </a:prstGeom>
          <a:noFill/>
        </p:spPr>
        <p:txBody>
          <a:bodyPr wrap="square" rtlCol="0">
            <a:spAutoFit/>
          </a:bodyPr>
          <a:lstStyle/>
          <a:p>
            <a:pPr algn="l"/>
            <a:r>
              <a:rPr lang="fr-FR" b="1" dirty="0">
                <a:solidFill>
                  <a:schemeClr val="tx2">
                    <a:lumMod val="90000"/>
                    <a:lumOff val="10000"/>
                  </a:schemeClr>
                </a:solidFill>
                <a:latin typeface="NimbusRomNo9L-Medi"/>
              </a:rPr>
              <a:t>I-</a:t>
            </a:r>
            <a:r>
              <a:rPr lang="fr-FR" sz="1800" b="1" i="0" u="none" strike="noStrike" baseline="0" dirty="0">
                <a:solidFill>
                  <a:schemeClr val="tx2">
                    <a:lumMod val="90000"/>
                    <a:lumOff val="10000"/>
                  </a:schemeClr>
                </a:solidFill>
                <a:latin typeface="NimbusRomNo9L-Medi"/>
              </a:rPr>
              <a:t>Réseaux de neurones </a:t>
            </a:r>
            <a:r>
              <a:rPr lang="fr-FR" sz="1800" b="1" i="0" u="none" strike="noStrike" baseline="0" dirty="0" err="1">
                <a:solidFill>
                  <a:schemeClr val="tx2">
                    <a:lumMod val="90000"/>
                    <a:lumOff val="10000"/>
                  </a:schemeClr>
                </a:solidFill>
                <a:latin typeface="NimbusRomNo9L-Medi"/>
              </a:rPr>
              <a:t>Feed</a:t>
            </a:r>
            <a:r>
              <a:rPr lang="fr-FR" b="1" dirty="0" err="1">
                <a:solidFill>
                  <a:schemeClr val="tx2">
                    <a:lumMod val="90000"/>
                    <a:lumOff val="10000"/>
                  </a:schemeClr>
                </a:solidFill>
                <a:latin typeface="NimbusRomNo9L-Medi"/>
              </a:rPr>
              <a:t>-</a:t>
            </a:r>
            <a:r>
              <a:rPr lang="fr-FR" sz="1800" b="1" i="0" u="none" strike="noStrike" baseline="0" dirty="0" err="1">
                <a:solidFill>
                  <a:schemeClr val="tx2">
                    <a:lumMod val="90000"/>
                    <a:lumOff val="10000"/>
                  </a:schemeClr>
                </a:solidFill>
                <a:latin typeface="NimbusRomNo9L-Medi"/>
              </a:rPr>
              <a:t>Forward</a:t>
            </a:r>
            <a:r>
              <a:rPr lang="fr-FR" sz="1800" b="1" i="0" u="none" strike="noStrike" baseline="0" dirty="0">
                <a:solidFill>
                  <a:schemeClr val="tx2">
                    <a:lumMod val="90000"/>
                    <a:lumOff val="10000"/>
                  </a:schemeClr>
                </a:solidFill>
                <a:latin typeface="NimbusRomNo9L-Medi"/>
              </a:rPr>
              <a:t> (réseaux de neurones multicouches)</a:t>
            </a:r>
          </a:p>
          <a:p>
            <a:pPr algn="l"/>
            <a:r>
              <a:rPr lang="fr-FR" sz="1800" b="0" i="0" u="none" strike="noStrike" baseline="0" dirty="0">
                <a:latin typeface="NimbusRomNo9L-Regu"/>
              </a:rPr>
              <a:t>Les réseaux </a:t>
            </a:r>
            <a:r>
              <a:rPr lang="fr-FR" sz="1800" b="0" i="0" u="none" strike="noStrike" baseline="0" dirty="0" err="1">
                <a:latin typeface="NimbusRomNo9L-Regu"/>
              </a:rPr>
              <a:t>Feed</a:t>
            </a:r>
            <a:r>
              <a:rPr lang="fr-FR" dirty="0" err="1">
                <a:latin typeface="NimbusRomNo9L-Regu"/>
              </a:rPr>
              <a:t>-</a:t>
            </a:r>
            <a:r>
              <a:rPr lang="fr-FR" sz="1800" b="0" i="0" u="none" strike="noStrike" baseline="0" dirty="0" err="1">
                <a:latin typeface="NimbusRomNo9L-Regu"/>
              </a:rPr>
              <a:t>Forward</a:t>
            </a:r>
            <a:r>
              <a:rPr lang="fr-FR" sz="1800" b="0" i="0" u="none" strike="noStrike" baseline="0" dirty="0">
                <a:latin typeface="NimbusRomNo9L-Regu"/>
              </a:rPr>
              <a:t> sont la forme la plus simple de réseaux de neurones. ils se composent de plusieurs couches de neurones, chaque neurone étant connecté à tous les neurones de la couche suivante. Ils sont utilisés pour des tâches comme la classification, la régression et la reconnaissance de motifs.</a:t>
            </a:r>
            <a:endParaRPr lang="fr-FR" dirty="0"/>
          </a:p>
        </p:txBody>
      </p:sp>
      <p:pic>
        <p:nvPicPr>
          <p:cNvPr id="7" name="Image 6">
            <a:extLst>
              <a:ext uri="{FF2B5EF4-FFF2-40B4-BE49-F238E27FC236}">
                <a16:creationId xmlns:a16="http://schemas.microsoft.com/office/drawing/2014/main" id="{DB4595B5-3644-B57C-4E83-1D3849683E88}"/>
              </a:ext>
            </a:extLst>
          </p:cNvPr>
          <p:cNvPicPr>
            <a:picLocks noChangeAspect="1"/>
          </p:cNvPicPr>
          <p:nvPr/>
        </p:nvPicPr>
        <p:blipFill>
          <a:blip r:embed="rId2"/>
          <a:stretch>
            <a:fillRect/>
          </a:stretch>
        </p:blipFill>
        <p:spPr>
          <a:xfrm>
            <a:off x="4572000" y="1586396"/>
            <a:ext cx="4328932" cy="3499412"/>
          </a:xfrm>
          <a:prstGeom prst="rect">
            <a:avLst/>
          </a:prstGeom>
        </p:spPr>
      </p:pic>
    </p:spTree>
    <p:extLst>
      <p:ext uri="{BB962C8B-B14F-4D97-AF65-F5344CB8AC3E}">
        <p14:creationId xmlns:p14="http://schemas.microsoft.com/office/powerpoint/2010/main" val="427875690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922FA29-FF3C-FCD1-E426-0AC4A1600C94}"/>
              </a:ext>
            </a:extLst>
          </p:cNvPr>
          <p:cNvSpPr>
            <a:spLocks noGrp="1"/>
          </p:cNvSpPr>
          <p:nvPr>
            <p:ph type="sldNum" sz="quarter" idx="12"/>
          </p:nvPr>
        </p:nvSpPr>
        <p:spPr/>
        <p:txBody>
          <a:bodyPr/>
          <a:lstStyle/>
          <a:p>
            <a:fld id="{A82C58F3-3795-4080-90EF-797C1431D8B7}" type="slidenum">
              <a:rPr lang="fr-FR" smtClean="0"/>
              <a:t>41</a:t>
            </a:fld>
            <a:endParaRPr lang="fr-FR"/>
          </a:p>
        </p:txBody>
      </p:sp>
      <p:sp>
        <p:nvSpPr>
          <p:cNvPr id="3" name="ZoneTexte 2">
            <a:extLst>
              <a:ext uri="{FF2B5EF4-FFF2-40B4-BE49-F238E27FC236}">
                <a16:creationId xmlns:a16="http://schemas.microsoft.com/office/drawing/2014/main" id="{E91723BD-1F90-B5C0-D048-C4D735706B6F}"/>
              </a:ext>
            </a:extLst>
          </p:cNvPr>
          <p:cNvSpPr txBox="1"/>
          <p:nvPr/>
        </p:nvSpPr>
        <p:spPr>
          <a:xfrm>
            <a:off x="544010" y="277792"/>
            <a:ext cx="8356922" cy="1077218"/>
          </a:xfrm>
          <a:prstGeom prst="rect">
            <a:avLst/>
          </a:prstGeom>
          <a:noFill/>
        </p:spPr>
        <p:txBody>
          <a:bodyPr wrap="square" rtlCol="0">
            <a:spAutoFit/>
          </a:bodyPr>
          <a:lstStyle/>
          <a:p>
            <a:r>
              <a:rPr lang="fr-FR" sz="3200" b="1" i="0" u="none" strike="noStrike" baseline="0" dirty="0">
                <a:latin typeface="NimbusRomNo9L-Medi"/>
              </a:rPr>
              <a:t>LES DIFFÉRENTS TYPES DE RÉSEAUX DE NEURONES ARTIFICIELS</a:t>
            </a:r>
            <a:endParaRPr lang="fr-FR" sz="3200" b="1" dirty="0"/>
          </a:p>
        </p:txBody>
      </p:sp>
      <p:sp>
        <p:nvSpPr>
          <p:cNvPr id="4" name="ZoneTexte 3">
            <a:extLst>
              <a:ext uri="{FF2B5EF4-FFF2-40B4-BE49-F238E27FC236}">
                <a16:creationId xmlns:a16="http://schemas.microsoft.com/office/drawing/2014/main" id="{5F9748C4-0043-5F78-1EA4-A0F55EE7995C}"/>
              </a:ext>
            </a:extLst>
          </p:cNvPr>
          <p:cNvSpPr txBox="1"/>
          <p:nvPr/>
        </p:nvSpPr>
        <p:spPr>
          <a:xfrm>
            <a:off x="243069" y="1355010"/>
            <a:ext cx="5000264" cy="3693319"/>
          </a:xfrm>
          <a:prstGeom prst="rect">
            <a:avLst/>
          </a:prstGeom>
          <a:noFill/>
        </p:spPr>
        <p:txBody>
          <a:bodyPr wrap="square" rtlCol="0">
            <a:spAutoFit/>
          </a:bodyPr>
          <a:lstStyle/>
          <a:p>
            <a:pPr algn="l"/>
            <a:r>
              <a:rPr lang="fr-FR" b="1" dirty="0">
                <a:latin typeface="NimbusRomNo9L-Medi"/>
              </a:rPr>
              <a:t>II-</a:t>
            </a:r>
            <a:r>
              <a:rPr lang="fr-FR" sz="1800" b="1" i="0" u="none" strike="noStrike" baseline="0" dirty="0">
                <a:latin typeface="NimbusRomNo9L-Medi"/>
              </a:rPr>
              <a:t> Réseaux de neurones récurrents (RNN)</a:t>
            </a:r>
          </a:p>
          <a:p>
            <a:pPr algn="l"/>
            <a:r>
              <a:rPr lang="fr-FR" sz="1800" b="0" i="0" u="none" strike="noStrike" baseline="0" dirty="0">
                <a:latin typeface="NimbusRomNo9L-Regu"/>
              </a:rPr>
              <a:t>Ce sont des réseaux de neurones spécialisés qui utilisent le contexte des entrées lors du  calcul de la sortie. La sortie dépend des entrées et des sorties calculées précédemment. Ainsi, les RNN conviennent aux applications où les informations historiques sont importantes. Ces réseaux nous aident à prévoir les séries chronologiques dans les applications commerciales et à prévoir les mots dans les applications de type </a:t>
            </a:r>
            <a:r>
              <a:rPr lang="fr-FR" sz="1800" b="0" i="0" u="none" strike="noStrike" baseline="0" dirty="0" err="1">
                <a:latin typeface="NimbusRomNo9L-Regu"/>
              </a:rPr>
              <a:t>chatbot</a:t>
            </a:r>
            <a:r>
              <a:rPr lang="fr-FR" sz="1800" b="0" i="0" u="none" strike="noStrike" baseline="0" dirty="0">
                <a:latin typeface="NimbusRomNo9L-Regu"/>
              </a:rPr>
              <a:t>. Ils peuvent fonctionner avec différentes longueurs d’entrée et de sortie et nécessitent une grande quantité de données.</a:t>
            </a:r>
            <a:endParaRPr lang="fr-FR" dirty="0"/>
          </a:p>
        </p:txBody>
      </p:sp>
      <p:pic>
        <p:nvPicPr>
          <p:cNvPr id="8" name="Image 7">
            <a:extLst>
              <a:ext uri="{FF2B5EF4-FFF2-40B4-BE49-F238E27FC236}">
                <a16:creationId xmlns:a16="http://schemas.microsoft.com/office/drawing/2014/main" id="{B4B11A47-3CF2-CFCC-8FEE-692B1CFEA30E}"/>
              </a:ext>
            </a:extLst>
          </p:cNvPr>
          <p:cNvPicPr>
            <a:picLocks noChangeAspect="1"/>
          </p:cNvPicPr>
          <p:nvPr/>
        </p:nvPicPr>
        <p:blipFill>
          <a:blip r:embed="rId2"/>
          <a:stretch>
            <a:fillRect/>
          </a:stretch>
        </p:blipFill>
        <p:spPr>
          <a:xfrm>
            <a:off x="5150735" y="1215342"/>
            <a:ext cx="3750198" cy="3551921"/>
          </a:xfrm>
          <a:prstGeom prst="rect">
            <a:avLst/>
          </a:prstGeom>
        </p:spPr>
      </p:pic>
    </p:spTree>
    <p:extLst>
      <p:ext uri="{BB962C8B-B14F-4D97-AF65-F5344CB8AC3E}">
        <p14:creationId xmlns:p14="http://schemas.microsoft.com/office/powerpoint/2010/main" val="422718058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42</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5" name="ZoneTexte 4">
            <a:extLst>
              <a:ext uri="{FF2B5EF4-FFF2-40B4-BE49-F238E27FC236}">
                <a16:creationId xmlns:a16="http://schemas.microsoft.com/office/drawing/2014/main" id="{9331F694-DCCE-8C2E-3D03-6247EB55D2A7}"/>
              </a:ext>
            </a:extLst>
          </p:cNvPr>
          <p:cNvSpPr txBox="1"/>
          <p:nvPr/>
        </p:nvSpPr>
        <p:spPr>
          <a:xfrm>
            <a:off x="445625" y="1705291"/>
            <a:ext cx="8252749" cy="923330"/>
          </a:xfrm>
          <a:prstGeom prst="rect">
            <a:avLst/>
          </a:prstGeom>
          <a:noFill/>
        </p:spPr>
        <p:txBody>
          <a:bodyPr wrap="square" rtlCol="0">
            <a:spAutoFit/>
          </a:bodyPr>
          <a:lstStyle/>
          <a:p>
            <a:pPr algn="l"/>
            <a:r>
              <a:rPr lang="fr-FR" sz="1800" b="1" i="0" u="none" strike="noStrike" baseline="0" dirty="0">
                <a:latin typeface="NimbusRomNo9L-Medi"/>
              </a:rPr>
              <a:t>Initialisation : </a:t>
            </a:r>
            <a:r>
              <a:rPr lang="fr-FR" sz="1800" b="0" i="0" u="none" strike="noStrike" baseline="0" dirty="0">
                <a:latin typeface="NimbusRomNo9L-Regu"/>
              </a:rPr>
              <a:t>Au début du processus d’apprentissage, les poids des connexions entre les neurones du réseau de neurones sont généralement initialisés aléatoirement.</a:t>
            </a:r>
          </a:p>
          <a:p>
            <a:endParaRPr lang="fr-FR" dirty="0"/>
          </a:p>
        </p:txBody>
      </p:sp>
      <p:sp>
        <p:nvSpPr>
          <p:cNvPr id="6" name="ZoneTexte 5">
            <a:extLst>
              <a:ext uri="{FF2B5EF4-FFF2-40B4-BE49-F238E27FC236}">
                <a16:creationId xmlns:a16="http://schemas.microsoft.com/office/drawing/2014/main" id="{122D381B-26A6-45F5-CFA8-C7D0B00C4282}"/>
              </a:ext>
            </a:extLst>
          </p:cNvPr>
          <p:cNvSpPr txBox="1"/>
          <p:nvPr/>
        </p:nvSpPr>
        <p:spPr>
          <a:xfrm>
            <a:off x="445625" y="2343314"/>
            <a:ext cx="8044405" cy="2031325"/>
          </a:xfrm>
          <a:prstGeom prst="rect">
            <a:avLst/>
          </a:prstGeom>
          <a:noFill/>
        </p:spPr>
        <p:txBody>
          <a:bodyPr wrap="square" rtlCol="0">
            <a:spAutoFit/>
          </a:bodyPr>
          <a:lstStyle/>
          <a:p>
            <a:pPr algn="l"/>
            <a:r>
              <a:rPr lang="fr-FR" sz="1800" b="1" i="0" u="none" strike="noStrike" baseline="0" dirty="0">
                <a:latin typeface="NimbusRomNo9L-Medi"/>
              </a:rPr>
              <a:t>Propagation avant (</a:t>
            </a:r>
            <a:r>
              <a:rPr lang="fr-FR" sz="1800" b="1" i="0" u="none" strike="noStrike" baseline="0" dirty="0" err="1">
                <a:latin typeface="NimbusRomNo9L-Medi"/>
              </a:rPr>
              <a:t>forward</a:t>
            </a:r>
            <a:r>
              <a:rPr lang="fr-FR" sz="1800" b="1" i="0" u="none" strike="noStrike" baseline="0" dirty="0">
                <a:latin typeface="NimbusRomNo9L-Medi"/>
              </a:rPr>
              <a:t> propagation) </a:t>
            </a:r>
            <a:r>
              <a:rPr lang="fr-FR" sz="1800" b="1" i="0" u="none" strike="noStrike" baseline="0" dirty="0">
                <a:latin typeface="NimbusRomNo9L-Regu"/>
              </a:rPr>
              <a:t>: </a:t>
            </a:r>
            <a:r>
              <a:rPr lang="fr-FR" sz="1800" b="0" i="0" u="none" strike="noStrike" baseline="0" dirty="0">
                <a:latin typeface="NimbusRomNo9L-Regu"/>
              </a:rPr>
              <a:t>Lorsqu’une donnée est introduite dans le réseau, elle est propagée à travers les différentes couches de neurones, de la couche d’entr</a:t>
            </a:r>
            <a:r>
              <a:rPr lang="fr-FR" dirty="0">
                <a:latin typeface="NimbusRomNo9L-Regu"/>
              </a:rPr>
              <a:t>é</a:t>
            </a:r>
            <a:r>
              <a:rPr lang="fr-FR" sz="1800" b="0" i="0" u="none" strike="noStrike" baseline="0" dirty="0">
                <a:latin typeface="NimbusRomNo9L-Regu"/>
              </a:rPr>
              <a:t>e à la couche de sortie. `A chaque couche, les données sont transformées par des opérations mathématiques, généralement des multiplications de matrices suivies de l’application d’une fonction d’activation.</a:t>
            </a:r>
            <a:endParaRPr lang="fr-FR" dirty="0"/>
          </a:p>
          <a:p>
            <a:endParaRPr lang="fr-FR" sz="1800" b="0" i="0" u="none" strike="noStrike" baseline="0" dirty="0">
              <a:latin typeface="NimbusRomNo9L-Regu"/>
            </a:endParaRPr>
          </a:p>
          <a:p>
            <a:endParaRPr lang="fr-FR" dirty="0"/>
          </a:p>
        </p:txBody>
      </p:sp>
    </p:spTree>
    <p:extLst>
      <p:ext uri="{BB962C8B-B14F-4D97-AF65-F5344CB8AC3E}">
        <p14:creationId xmlns:p14="http://schemas.microsoft.com/office/powerpoint/2010/main" val="331225555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43</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7" name="ZoneTexte 6">
            <a:extLst>
              <a:ext uri="{FF2B5EF4-FFF2-40B4-BE49-F238E27FC236}">
                <a16:creationId xmlns:a16="http://schemas.microsoft.com/office/drawing/2014/main" id="{297A2C40-A6F2-94DE-B873-A77B891D863F}"/>
              </a:ext>
            </a:extLst>
          </p:cNvPr>
          <p:cNvSpPr txBox="1"/>
          <p:nvPr/>
        </p:nvSpPr>
        <p:spPr>
          <a:xfrm>
            <a:off x="405114" y="1696983"/>
            <a:ext cx="8073341" cy="1200329"/>
          </a:xfrm>
          <a:prstGeom prst="rect">
            <a:avLst/>
          </a:prstGeom>
          <a:noFill/>
        </p:spPr>
        <p:txBody>
          <a:bodyPr wrap="square" rtlCol="0">
            <a:spAutoFit/>
          </a:bodyPr>
          <a:lstStyle/>
          <a:p>
            <a:pPr algn="l"/>
            <a:r>
              <a:rPr lang="fr-FR" sz="1800" b="1" i="0" u="none" strike="noStrike" baseline="0" dirty="0">
                <a:latin typeface="NimbusRomNo9L-Medi"/>
              </a:rPr>
              <a:t>Calcul de l’erreur : </a:t>
            </a:r>
            <a:r>
              <a:rPr lang="fr-FR" sz="1800" b="0" i="0" u="none" strike="noStrike" baseline="0" dirty="0">
                <a:latin typeface="NimbusRomNo9L-Regu"/>
              </a:rPr>
              <a:t>Une fois que les données ont été propagées à travers le réseau et que la sortie finale est g</a:t>
            </a:r>
            <a:r>
              <a:rPr lang="fr-FR" dirty="0">
                <a:latin typeface="NimbusRomNo9L-Regu"/>
              </a:rPr>
              <a:t>é</a:t>
            </a:r>
            <a:r>
              <a:rPr lang="fr-FR" sz="1800" b="0" i="0" u="none" strike="noStrike" baseline="0" dirty="0">
                <a:latin typeface="NimbusRomNo9L-Regu"/>
              </a:rPr>
              <a:t>nérée, l’erreur entre la sortie prédite et la sortie réelle est calculée à l’aide d’une fonction de perte ou de coût. Cette fonction mesure `a quel point les prédictions du réseau diffèrent des véritables valeurs cibles.</a:t>
            </a:r>
            <a:endParaRPr lang="fr-FR" dirty="0"/>
          </a:p>
        </p:txBody>
      </p:sp>
      <p:sp>
        <p:nvSpPr>
          <p:cNvPr id="8" name="ZoneTexte 7">
            <a:extLst>
              <a:ext uri="{FF2B5EF4-FFF2-40B4-BE49-F238E27FC236}">
                <a16:creationId xmlns:a16="http://schemas.microsoft.com/office/drawing/2014/main" id="{BE3BCA64-6758-D241-CC7E-04F68ACB753C}"/>
              </a:ext>
            </a:extLst>
          </p:cNvPr>
          <p:cNvSpPr txBox="1"/>
          <p:nvPr/>
        </p:nvSpPr>
        <p:spPr>
          <a:xfrm>
            <a:off x="405114" y="2897312"/>
            <a:ext cx="8029213" cy="1200329"/>
          </a:xfrm>
          <a:prstGeom prst="rect">
            <a:avLst/>
          </a:prstGeom>
          <a:noFill/>
        </p:spPr>
        <p:txBody>
          <a:bodyPr wrap="square" rtlCol="0">
            <a:spAutoFit/>
          </a:bodyPr>
          <a:lstStyle/>
          <a:p>
            <a:pPr algn="l"/>
            <a:r>
              <a:rPr lang="fr-FR" sz="1800" b="1" i="0" u="none" strike="noStrike" baseline="0" dirty="0">
                <a:latin typeface="NimbusRomNo9L-Medi"/>
              </a:rPr>
              <a:t>Rétropropagation (</a:t>
            </a:r>
            <a:r>
              <a:rPr lang="fr-FR" sz="1800" b="1" i="0" u="none" strike="noStrike" baseline="0" dirty="0" err="1">
                <a:latin typeface="NimbusRomNo9L-Medi"/>
              </a:rPr>
              <a:t>backpropagation</a:t>
            </a:r>
            <a:r>
              <a:rPr lang="fr-FR" sz="1800" b="1" i="0" u="none" strike="noStrike" baseline="0" dirty="0">
                <a:latin typeface="NimbusRomNo9L-Medi"/>
              </a:rPr>
              <a:t>) : </a:t>
            </a:r>
            <a:r>
              <a:rPr lang="fr-FR" sz="1800" b="0" i="0" u="none" strike="noStrike" baseline="0" dirty="0">
                <a:latin typeface="NimbusRomNo9L-Regu"/>
              </a:rPr>
              <a:t>L’erreur est ensuite propagée en arrière à travers le réseau </a:t>
            </a:r>
            <a:r>
              <a:rPr lang="fr-FR" dirty="0">
                <a:latin typeface="NimbusRomNo9L-Regu"/>
              </a:rPr>
              <a:t>à</a:t>
            </a:r>
            <a:r>
              <a:rPr lang="fr-FR" sz="1800" b="0" i="0" u="none" strike="noStrike" baseline="0" dirty="0">
                <a:latin typeface="NimbusRomNo9L-Regu"/>
              </a:rPr>
              <a:t> l’aide de l’algorithme de rétropropagation. Cela permet de calculer les gradients de l’erreur par rapport aux poids du réseau, ce qui indique comment les poids doivent être ajustés pour réduire l’erreur.</a:t>
            </a:r>
            <a:endParaRPr lang="fr-FR" dirty="0"/>
          </a:p>
        </p:txBody>
      </p:sp>
    </p:spTree>
    <p:extLst>
      <p:ext uri="{BB962C8B-B14F-4D97-AF65-F5344CB8AC3E}">
        <p14:creationId xmlns:p14="http://schemas.microsoft.com/office/powerpoint/2010/main" val="395106592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44</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7" name="ZoneTexte 6">
            <a:extLst>
              <a:ext uri="{FF2B5EF4-FFF2-40B4-BE49-F238E27FC236}">
                <a16:creationId xmlns:a16="http://schemas.microsoft.com/office/drawing/2014/main" id="{297A2C40-A6F2-94DE-B873-A77B891D863F}"/>
              </a:ext>
            </a:extLst>
          </p:cNvPr>
          <p:cNvSpPr txBox="1"/>
          <p:nvPr/>
        </p:nvSpPr>
        <p:spPr>
          <a:xfrm>
            <a:off x="405114" y="1743149"/>
            <a:ext cx="8073341" cy="2554545"/>
          </a:xfrm>
          <a:prstGeom prst="rect">
            <a:avLst/>
          </a:prstGeom>
          <a:noFill/>
        </p:spPr>
        <p:txBody>
          <a:bodyPr wrap="square" rtlCol="0">
            <a:spAutoFit/>
          </a:bodyPr>
          <a:lstStyle/>
          <a:p>
            <a:pPr algn="l"/>
            <a:r>
              <a:rPr lang="fr-FR" sz="2000" b="1" i="0" u="none" strike="noStrike" baseline="0" dirty="0">
                <a:latin typeface="NimbusRomNo9L-Medi"/>
              </a:rPr>
              <a:t>Mise à jour des poids : </a:t>
            </a:r>
            <a:r>
              <a:rPr lang="fr-FR" sz="2000" b="0" i="0" u="none" strike="noStrike" baseline="0" dirty="0">
                <a:latin typeface="NimbusRomNo9L-Regu"/>
              </a:rPr>
              <a:t>Les poids du réseau sont mis à jour en utilisant les gradients calculés</a:t>
            </a:r>
            <a:r>
              <a:rPr lang="fr-FR" sz="2000" dirty="0">
                <a:latin typeface="NimbusRomNo9L-Regu"/>
              </a:rPr>
              <a:t> </a:t>
            </a:r>
            <a:r>
              <a:rPr lang="fr-FR" sz="2000" b="0" i="0" u="none" strike="noStrike" baseline="0" dirty="0">
                <a:latin typeface="NimbusRomNo9L-Regu"/>
              </a:rPr>
              <a:t>lors de la rétropropagation, souvent à l’aide d’algorithmes d’optimisation tels que la descente  de gradient stochastique (SGD) ou ses variantes, comme Adam ou </a:t>
            </a:r>
            <a:r>
              <a:rPr lang="fr-FR" sz="2000" b="0" i="0" u="none" strike="noStrike" baseline="0" dirty="0" err="1">
                <a:latin typeface="NimbusRomNo9L-Regu"/>
              </a:rPr>
              <a:t>RMSprop</a:t>
            </a:r>
            <a:r>
              <a:rPr lang="fr-FR" sz="2000" b="0" i="0" u="none" strike="noStrike" baseline="0" dirty="0">
                <a:latin typeface="NimbusRomNo9L-Regu"/>
              </a:rPr>
              <a:t>.</a:t>
            </a:r>
          </a:p>
          <a:p>
            <a:pPr algn="l"/>
            <a:r>
              <a:rPr lang="fr-FR" sz="2000" b="1" i="0" u="none" strike="noStrike" baseline="0" dirty="0">
                <a:latin typeface="NimbusRomNo9L-Medi"/>
              </a:rPr>
              <a:t>Itération : </a:t>
            </a:r>
            <a:r>
              <a:rPr lang="fr-FR" sz="2000" b="0" i="0" u="none" strike="noStrike" baseline="0" dirty="0">
                <a:latin typeface="NimbusRomNo9L-Regu"/>
              </a:rPr>
              <a:t>Les étapes de propagation avant, de calcul de l’erreur, de rétropropagation et de mise à jour des poids sont r</a:t>
            </a:r>
            <a:r>
              <a:rPr lang="fr-FR" sz="2000" dirty="0">
                <a:latin typeface="NimbusRomNo9L-Regu"/>
              </a:rPr>
              <a:t>é</a:t>
            </a:r>
            <a:r>
              <a:rPr lang="fr-FR" sz="2000" b="0" i="0" u="none" strike="noStrike" baseline="0" dirty="0">
                <a:latin typeface="NimbusRomNo9L-Regu"/>
              </a:rPr>
              <a:t>pétées de manière itérative sur de nombreuses itérations jusqu’ à ce que le r</a:t>
            </a:r>
            <a:r>
              <a:rPr lang="fr-FR" sz="2000" dirty="0">
                <a:latin typeface="NimbusRomNo9L-Regu"/>
              </a:rPr>
              <a:t>é</a:t>
            </a:r>
            <a:r>
              <a:rPr lang="fr-FR" sz="2000" b="0" i="0" u="none" strike="noStrike" baseline="0" dirty="0">
                <a:latin typeface="NimbusRomNo9L-Regu"/>
              </a:rPr>
              <a:t>seau atteigne un niveau de performance satisfaisant sur les données d’entraînement.</a:t>
            </a:r>
          </a:p>
        </p:txBody>
      </p:sp>
    </p:spTree>
    <p:extLst>
      <p:ext uri="{BB962C8B-B14F-4D97-AF65-F5344CB8AC3E}">
        <p14:creationId xmlns:p14="http://schemas.microsoft.com/office/powerpoint/2010/main" val="41169035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45</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7" name="ZoneTexte 6">
            <a:extLst>
              <a:ext uri="{FF2B5EF4-FFF2-40B4-BE49-F238E27FC236}">
                <a16:creationId xmlns:a16="http://schemas.microsoft.com/office/drawing/2014/main" id="{297A2C40-A6F2-94DE-B873-A77B891D863F}"/>
              </a:ext>
            </a:extLst>
          </p:cNvPr>
          <p:cNvSpPr txBox="1"/>
          <p:nvPr/>
        </p:nvSpPr>
        <p:spPr>
          <a:xfrm>
            <a:off x="405114" y="1743149"/>
            <a:ext cx="8073341" cy="1754326"/>
          </a:xfrm>
          <a:prstGeom prst="rect">
            <a:avLst/>
          </a:prstGeom>
          <a:noFill/>
        </p:spPr>
        <p:txBody>
          <a:bodyPr wrap="square" rtlCol="0">
            <a:spAutoFit/>
          </a:bodyPr>
          <a:lstStyle/>
          <a:p>
            <a:pPr algn="l"/>
            <a:r>
              <a:rPr lang="fr-FR" sz="1800" b="1" i="0" u="none" strike="noStrike" baseline="0" dirty="0">
                <a:latin typeface="NimbusRomNo9L-Medi"/>
              </a:rPr>
              <a:t>Evaluation : </a:t>
            </a:r>
            <a:r>
              <a:rPr lang="fr-FR" sz="1800" b="0" i="0" u="none" strike="noStrike" baseline="0" dirty="0">
                <a:latin typeface="NimbusRomNo9L-Regu"/>
              </a:rPr>
              <a:t>Une fois l’entraînement terminé, le réseau peut être évaluer sur des données de test pour évaluer sa performance sur des données qu’il n’a pas vu pendant l’entraînement. Ce processus d’apprentissage profond permet au réseau de neurones d’ajuster ses poids pour minimiser l’erreur entre ses prédictions et les vraies valeurs cibles, ce qui lui permet d’apprendre </a:t>
            </a:r>
            <a:r>
              <a:rPr lang="fr-FR" dirty="0">
                <a:latin typeface="NimbusRomNo9L-Regu"/>
              </a:rPr>
              <a:t>à </a:t>
            </a:r>
            <a:r>
              <a:rPr lang="fr-FR" sz="1800" b="0" i="0" u="none" strike="noStrike" baseline="0" dirty="0">
                <a:latin typeface="NimbusRomNo9L-Regu"/>
              </a:rPr>
              <a:t>e</a:t>
            </a:r>
            <a:r>
              <a:rPr lang="fr-FR" sz="1800" b="0" i="0" u="none" strike="noStrike" baseline="0" dirty="0">
                <a:latin typeface="rtxr"/>
              </a:rPr>
              <a:t>ff</a:t>
            </a:r>
            <a:r>
              <a:rPr lang="fr-FR" sz="1800" b="0" i="0" u="none" strike="noStrike" baseline="0" dirty="0">
                <a:latin typeface="NimbusRomNo9L-Regu"/>
              </a:rPr>
              <a:t>ectuer des tâches telles que la classification, la régression, la génération de données.</a:t>
            </a:r>
            <a:endParaRPr lang="fr-FR" dirty="0"/>
          </a:p>
        </p:txBody>
      </p:sp>
    </p:spTree>
    <p:extLst>
      <p:ext uri="{BB962C8B-B14F-4D97-AF65-F5344CB8AC3E}">
        <p14:creationId xmlns:p14="http://schemas.microsoft.com/office/powerpoint/2010/main" val="8485086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46</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2724728" y="2050472"/>
            <a:ext cx="4932218" cy="769441"/>
          </a:xfrm>
          <a:prstGeom prst="rect">
            <a:avLst/>
          </a:prstGeom>
          <a:noFill/>
        </p:spPr>
        <p:txBody>
          <a:bodyPr wrap="square" rtlCol="0">
            <a:spAutoFit/>
          </a:bodyPr>
          <a:lstStyle/>
          <a:p>
            <a:r>
              <a:rPr lang="fr-FR" sz="4400" b="1" dirty="0">
                <a:solidFill>
                  <a:schemeClr val="bg1"/>
                </a:solidFill>
                <a:latin typeface="Perpetua Titling MT" panose="02020502060505020804" pitchFamily="18" charset="0"/>
                <a:cs typeface="Aharoni" panose="02010803020104030203" pitchFamily="2" charset="-79"/>
              </a:rPr>
              <a:t>CHAPITRE Ii</a:t>
            </a:r>
          </a:p>
        </p:txBody>
      </p:sp>
    </p:spTree>
    <p:extLst>
      <p:ext uri="{BB962C8B-B14F-4D97-AF65-F5344CB8AC3E}">
        <p14:creationId xmlns:p14="http://schemas.microsoft.com/office/powerpoint/2010/main" val="308097397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47</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3251200" y="766617"/>
            <a:ext cx="4932218" cy="584775"/>
          </a:xfrm>
          <a:prstGeom prst="rect">
            <a:avLst/>
          </a:prstGeom>
          <a:noFill/>
        </p:spPr>
        <p:txBody>
          <a:bodyPr wrap="square" rtlCol="0">
            <a:spAutoFit/>
          </a:bodyPr>
          <a:lstStyle/>
          <a:p>
            <a:r>
              <a:rPr lang="fr-FR" sz="3200" b="1" dirty="0">
                <a:solidFill>
                  <a:schemeClr val="bg1"/>
                </a:solidFill>
                <a:latin typeface="Perpetua Titling MT" panose="02020502060505020804" pitchFamily="18" charset="0"/>
                <a:cs typeface="Aharoni" panose="02010803020104030203" pitchFamily="2" charset="-79"/>
              </a:rPr>
              <a:t>CHAPITRE II</a:t>
            </a:r>
          </a:p>
        </p:txBody>
      </p:sp>
      <p:sp>
        <p:nvSpPr>
          <p:cNvPr id="5" name="ZoneTexte 4">
            <a:extLst>
              <a:ext uri="{FF2B5EF4-FFF2-40B4-BE49-F238E27FC236}">
                <a16:creationId xmlns:a16="http://schemas.microsoft.com/office/drawing/2014/main" id="{E6389DA8-9902-0D93-94B7-A1DB595732D4}"/>
              </a:ext>
            </a:extLst>
          </p:cNvPr>
          <p:cNvSpPr txBox="1"/>
          <p:nvPr/>
        </p:nvSpPr>
        <p:spPr>
          <a:xfrm>
            <a:off x="2962563" y="2248584"/>
            <a:ext cx="6990773" cy="646331"/>
          </a:xfrm>
          <a:prstGeom prst="rect">
            <a:avLst/>
          </a:prstGeom>
          <a:noFill/>
        </p:spPr>
        <p:txBody>
          <a:bodyPr wrap="square" rtlCol="0">
            <a:spAutoFit/>
          </a:bodyPr>
          <a:lstStyle/>
          <a:p>
            <a:r>
              <a:rPr lang="en-US" sz="3600" b="1" dirty="0">
                <a:solidFill>
                  <a:schemeClr val="bg1"/>
                </a:solidFill>
                <a:latin typeface="Perpetua Titling MT" panose="02020502060505020804" pitchFamily="18" charset="0"/>
                <a:cs typeface="Aharoni" panose="02010803020104030203" pitchFamily="2" charset="-79"/>
              </a:rPr>
              <a:t>Application</a:t>
            </a:r>
            <a:r>
              <a:rPr lang="fr-FR" sz="3600" b="1" dirty="0">
                <a:solidFill>
                  <a:schemeClr val="bg1"/>
                </a:solidFill>
                <a:latin typeface="Perpetua Titling MT" panose="02020502060505020804" pitchFamily="18" charset="0"/>
                <a:cs typeface="Aharoni" panose="02010803020104030203" pitchFamily="2" charset="-79"/>
              </a:rPr>
              <a:t> </a:t>
            </a:r>
            <a:endParaRPr lang="fr-FR" sz="3600" dirty="0">
              <a:latin typeface="Perpetua Titling MT" panose="02020502060505020804" pitchFamily="18" charset="0"/>
            </a:endParaRPr>
          </a:p>
        </p:txBody>
      </p:sp>
    </p:spTree>
    <p:extLst>
      <p:ext uri="{BB962C8B-B14F-4D97-AF65-F5344CB8AC3E}">
        <p14:creationId xmlns:p14="http://schemas.microsoft.com/office/powerpoint/2010/main" val="26911311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FE6B16-65EE-5818-BA07-EA92E3E59C10}"/>
              </a:ext>
            </a:extLst>
          </p:cNvPr>
          <p:cNvSpPr>
            <a:spLocks noGrp="1"/>
          </p:cNvSpPr>
          <p:nvPr>
            <p:ph type="sldNum" sz="quarter" idx="12"/>
          </p:nvPr>
        </p:nvSpPr>
        <p:spPr/>
        <p:txBody>
          <a:bodyPr/>
          <a:lstStyle/>
          <a:p>
            <a:fld id="{A82C58F3-3795-4080-90EF-797C1431D8B7}" type="slidenum">
              <a:rPr lang="fr-FR" smtClean="0"/>
              <a:t>48</a:t>
            </a:fld>
            <a:endParaRPr lang="fr-FR"/>
          </a:p>
        </p:txBody>
      </p:sp>
      <p:sp>
        <p:nvSpPr>
          <p:cNvPr id="4" name="ZoneTexte 3">
            <a:extLst>
              <a:ext uri="{FF2B5EF4-FFF2-40B4-BE49-F238E27FC236}">
                <a16:creationId xmlns:a16="http://schemas.microsoft.com/office/drawing/2014/main" id="{E952C046-3D35-FB72-4085-24200BE5DF84}"/>
              </a:ext>
            </a:extLst>
          </p:cNvPr>
          <p:cNvSpPr txBox="1"/>
          <p:nvPr/>
        </p:nvSpPr>
        <p:spPr>
          <a:xfrm>
            <a:off x="486137" y="405118"/>
            <a:ext cx="4734046" cy="707886"/>
          </a:xfrm>
          <a:prstGeom prst="rect">
            <a:avLst/>
          </a:prstGeom>
          <a:noFill/>
        </p:spPr>
        <p:txBody>
          <a:bodyPr wrap="square" rtlCol="0">
            <a:spAutoFit/>
          </a:bodyPr>
          <a:lstStyle/>
          <a:p>
            <a:r>
              <a:rPr lang="fr-FR" sz="4000" b="1" dirty="0"/>
              <a:t>PROBLÉMATIQUE  ?</a:t>
            </a:r>
          </a:p>
        </p:txBody>
      </p:sp>
      <p:sp>
        <p:nvSpPr>
          <p:cNvPr id="5" name="ZoneTexte 4">
            <a:extLst>
              <a:ext uri="{FF2B5EF4-FFF2-40B4-BE49-F238E27FC236}">
                <a16:creationId xmlns:a16="http://schemas.microsoft.com/office/drawing/2014/main" id="{E564B43F-4135-4E64-B6EE-68DFE2FC2C77}"/>
              </a:ext>
            </a:extLst>
          </p:cNvPr>
          <p:cNvSpPr txBox="1"/>
          <p:nvPr/>
        </p:nvSpPr>
        <p:spPr>
          <a:xfrm>
            <a:off x="482519" y="1347402"/>
            <a:ext cx="8032831" cy="3046988"/>
          </a:xfrm>
          <a:prstGeom prst="rect">
            <a:avLst/>
          </a:prstGeom>
          <a:noFill/>
        </p:spPr>
        <p:txBody>
          <a:bodyPr wrap="square" rtlCol="0">
            <a:spAutoFit/>
          </a:bodyPr>
          <a:lstStyle/>
          <a:p>
            <a:pPr algn="l"/>
            <a:r>
              <a:rPr lang="fr-FR" sz="2400" b="0" i="0" u="none" strike="noStrike" baseline="0" dirty="0">
                <a:latin typeface="NimbusRomNo9L-Regu"/>
              </a:rPr>
              <a:t>Dans cette partie </a:t>
            </a:r>
            <a:r>
              <a:rPr lang="en-US" sz="2400" b="0" i="0" u="none" strike="noStrike" baseline="0" dirty="0">
                <a:latin typeface="NimbusRomNo9L-Regu"/>
              </a:rPr>
              <a:t>, </a:t>
            </a:r>
            <a:r>
              <a:rPr lang="fr-FR" sz="2400" dirty="0">
                <a:latin typeface="NimbusRomNo9L-Regu"/>
              </a:rPr>
              <a:t>N</a:t>
            </a:r>
            <a:r>
              <a:rPr lang="fr-FR" sz="2400" b="0" i="0" u="none" strike="noStrike" baseline="0" dirty="0">
                <a:latin typeface="NimbusRomNo9L-Regu"/>
              </a:rPr>
              <a:t>ous présentons un exemple d’approximation d’une courbe à l’aide d’un réseau de neurones. Cet exemple montre et détaille comment résoudre un problème de régression non linéaire avec </a:t>
            </a:r>
            <a:r>
              <a:rPr lang="fr-FR" sz="2400" b="0" i="0" u="none" strike="noStrike" baseline="0" dirty="0" err="1">
                <a:latin typeface="NimbusRomNo9L-Regu"/>
              </a:rPr>
              <a:t>TensorFlow</a:t>
            </a:r>
            <a:r>
              <a:rPr lang="fr-FR" sz="2400" b="0" i="0" u="none" strike="noStrike" baseline="0" dirty="0">
                <a:latin typeface="NimbusRomNo9L-Regu"/>
              </a:rPr>
              <a:t>.</a:t>
            </a:r>
          </a:p>
          <a:p>
            <a:pPr algn="l"/>
            <a:r>
              <a:rPr lang="fr-FR" sz="2400" b="0" i="0" u="none" strike="noStrike" baseline="0" dirty="0">
                <a:latin typeface="NimbusRomNo9L-Regu"/>
              </a:rPr>
              <a:t>Après avoir crée le réseau de neurones, nous allons le dessiner avec Networkx.</a:t>
            </a:r>
          </a:p>
          <a:p>
            <a:pPr algn="l"/>
            <a:r>
              <a:rPr lang="fr-FR" sz="2400" b="0" i="0" u="none" strike="noStrike" baseline="0" dirty="0">
                <a:latin typeface="NimbusRomNo9L-Regu"/>
              </a:rPr>
              <a:t>La suite de ce chapitre a été réalisée en ligne sur Google </a:t>
            </a:r>
            <a:r>
              <a:rPr lang="fr-FR" sz="2400" b="0" i="0" u="none" strike="noStrike" baseline="0" dirty="0" err="1">
                <a:latin typeface="NimbusRomNo9L-Regu"/>
              </a:rPr>
              <a:t>Colaboratory</a:t>
            </a:r>
            <a:r>
              <a:rPr lang="fr-FR" sz="2400" b="0" i="0" u="none" strike="noStrike" baseline="0" dirty="0">
                <a:latin typeface="NimbusRomNo9L-Regu"/>
              </a:rPr>
              <a:t>.</a:t>
            </a:r>
            <a:endParaRPr lang="fr-CA" sz="2400" kern="1200" dirty="0">
              <a:solidFill>
                <a:schemeClr val="tx1"/>
              </a:solidFill>
              <a:latin typeface="+mn-lt"/>
              <a:ea typeface="+mn-ea"/>
              <a:cs typeface="+mn-cs"/>
            </a:endParaRPr>
          </a:p>
        </p:txBody>
      </p:sp>
    </p:spTree>
    <p:extLst>
      <p:ext uri="{BB962C8B-B14F-4D97-AF65-F5344CB8AC3E}">
        <p14:creationId xmlns:p14="http://schemas.microsoft.com/office/powerpoint/2010/main" val="207420056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49</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4" name="ZoneTexte 3">
            <a:extLst>
              <a:ext uri="{FF2B5EF4-FFF2-40B4-BE49-F238E27FC236}">
                <a16:creationId xmlns:a16="http://schemas.microsoft.com/office/drawing/2014/main" id="{C3BE5A1A-588E-C626-1780-A41212FC7470}"/>
              </a:ext>
            </a:extLst>
          </p:cNvPr>
          <p:cNvSpPr txBox="1"/>
          <p:nvPr/>
        </p:nvSpPr>
        <p:spPr>
          <a:xfrm>
            <a:off x="573313" y="1186103"/>
            <a:ext cx="8236857" cy="523220"/>
          </a:xfrm>
          <a:prstGeom prst="rect">
            <a:avLst/>
          </a:prstGeom>
          <a:noFill/>
        </p:spPr>
        <p:txBody>
          <a:bodyPr wrap="square" rtlCol="0">
            <a:spAutoFit/>
          </a:bodyPr>
          <a:lstStyle/>
          <a:p>
            <a:r>
              <a:rPr lang="fr-FR" sz="2800" b="1" dirty="0"/>
              <a:t>I-Définition du problème </a:t>
            </a:r>
          </a:p>
        </p:txBody>
      </p:sp>
      <p:sp>
        <p:nvSpPr>
          <p:cNvPr id="6" name="ZoneTexte 5">
            <a:extLst>
              <a:ext uri="{FF2B5EF4-FFF2-40B4-BE49-F238E27FC236}">
                <a16:creationId xmlns:a16="http://schemas.microsoft.com/office/drawing/2014/main" id="{725B2266-D353-3AFE-5ABA-78DF931F3693}"/>
              </a:ext>
            </a:extLst>
          </p:cNvPr>
          <p:cNvSpPr txBox="1"/>
          <p:nvPr/>
        </p:nvSpPr>
        <p:spPr>
          <a:xfrm>
            <a:off x="674950" y="1640114"/>
            <a:ext cx="8186021" cy="2308324"/>
          </a:xfrm>
          <a:prstGeom prst="rect">
            <a:avLst/>
          </a:prstGeom>
          <a:noFill/>
        </p:spPr>
        <p:txBody>
          <a:bodyPr wrap="square" rtlCol="0">
            <a:spAutoFit/>
          </a:bodyPr>
          <a:lstStyle/>
          <a:p>
            <a:pPr algn="l"/>
            <a:r>
              <a:rPr lang="fr-FR" sz="2400" b="0" i="0" u="none" strike="noStrike" baseline="0" dirty="0">
                <a:latin typeface="NimbusRomNo9L-Regu"/>
              </a:rPr>
              <a:t>Le but de cet exemple est d’approximer une fonction non linéaire donnée par l’équation</a:t>
            </a:r>
            <a:r>
              <a:rPr lang="fr-FR" sz="2400" dirty="0">
                <a:latin typeface="NimbusRomNo9L-Regu"/>
              </a:rPr>
              <a:t> </a:t>
            </a:r>
            <a:r>
              <a:rPr lang="fr-FR" sz="2400" b="0" i="0" u="none" strike="noStrike" baseline="0" dirty="0">
                <a:latin typeface="NimbusRomNo9L-Regu"/>
              </a:rPr>
              <a:t>suivante :</a:t>
            </a:r>
          </a:p>
          <a:p>
            <a:pPr algn="l"/>
            <a:r>
              <a:rPr lang="fr-FR" sz="2400" dirty="0">
                <a:latin typeface="NimbusRomNo9L-Regu"/>
              </a:rPr>
              <a:t>                            </a:t>
            </a:r>
            <a:r>
              <a:rPr lang="es-ES" sz="2400" b="1" i="0" u="none" strike="noStrike" baseline="0" dirty="0">
                <a:latin typeface="NimbusRomNo9L-ReguItal"/>
              </a:rPr>
              <a:t>Y </a:t>
            </a:r>
            <a:r>
              <a:rPr lang="es-ES" sz="2400" b="1" i="0" u="none" strike="noStrike" baseline="0" dirty="0">
                <a:latin typeface="rtxr"/>
              </a:rPr>
              <a:t>= </a:t>
            </a:r>
            <a:r>
              <a:rPr lang="es-ES" sz="2400" b="1" i="0" u="none" strike="noStrike" baseline="0" dirty="0">
                <a:latin typeface="NimbusRomNo9L-Regu"/>
              </a:rPr>
              <a:t>0</a:t>
            </a:r>
            <a:r>
              <a:rPr lang="es-ES" sz="2400" b="1" i="0" u="none" strike="noStrike" baseline="0" dirty="0">
                <a:latin typeface="rtxmi"/>
              </a:rPr>
              <a:t>.</a:t>
            </a:r>
            <a:r>
              <a:rPr lang="es-ES" sz="2400" b="1" i="0" u="none" strike="noStrike" baseline="0" dirty="0">
                <a:latin typeface="NimbusRomNo9L-Regu"/>
              </a:rPr>
              <a:t>1 </a:t>
            </a:r>
            <a:r>
              <a:rPr lang="es-ES" sz="2400" b="1" i="0" u="none" strike="noStrike" baseline="0" dirty="0">
                <a:latin typeface="txsy"/>
              </a:rPr>
              <a:t>∗ </a:t>
            </a:r>
            <a:r>
              <a:rPr lang="es-ES" sz="2400" b="1" i="0" u="none" strike="noStrike" baseline="0" dirty="0">
                <a:latin typeface="NimbusRomNo9L-ReguItal"/>
              </a:rPr>
              <a:t>X </a:t>
            </a:r>
            <a:r>
              <a:rPr lang="es-ES" sz="2400" b="1" i="0" u="none" strike="noStrike" baseline="0" dirty="0">
                <a:latin typeface="txsy"/>
              </a:rPr>
              <a:t>∗ </a:t>
            </a:r>
            <a:r>
              <a:rPr lang="es-ES" sz="2400" b="1" i="0" u="none" strike="noStrike" baseline="0" dirty="0">
                <a:latin typeface="NimbusRomNo9L-ReguItal"/>
              </a:rPr>
              <a:t>cos</a:t>
            </a:r>
            <a:r>
              <a:rPr lang="es-ES" sz="2400" b="1" i="0" u="none" strike="noStrike" baseline="0" dirty="0">
                <a:latin typeface="NimbusRomNo9L-Regu"/>
              </a:rPr>
              <a:t>(</a:t>
            </a:r>
            <a:r>
              <a:rPr lang="es-ES" sz="2400" b="1" i="0" u="none" strike="noStrike" baseline="0" dirty="0">
                <a:latin typeface="NimbusRomNo9L-ReguItal"/>
              </a:rPr>
              <a:t>X</a:t>
            </a:r>
            <a:r>
              <a:rPr lang="es-ES" sz="2400" b="1" i="0" u="none" strike="noStrike" baseline="0" dirty="0">
                <a:latin typeface="NimbusRomNo9L-Regu"/>
              </a:rPr>
              <a:t>)</a:t>
            </a:r>
          </a:p>
          <a:p>
            <a:pPr algn="l"/>
            <a:r>
              <a:rPr lang="fr-FR" sz="2400" b="0" i="0" u="none" strike="noStrike" baseline="0" dirty="0">
                <a:latin typeface="NimbusRomNo9L-Regu"/>
              </a:rPr>
              <a:t>Les points bleus représente un échantillon de notre jeu d’apprentissage, la ligne rouge est l’approximation faite par le réseau de neurones artificiel.</a:t>
            </a:r>
            <a:endParaRPr lang="fr-FR" sz="2400" dirty="0"/>
          </a:p>
        </p:txBody>
      </p:sp>
    </p:spTree>
    <p:extLst>
      <p:ext uri="{BB962C8B-B14F-4D97-AF65-F5344CB8AC3E}">
        <p14:creationId xmlns:p14="http://schemas.microsoft.com/office/powerpoint/2010/main" val="86389432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50</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pic>
        <p:nvPicPr>
          <p:cNvPr id="5" name="Image 4">
            <a:extLst>
              <a:ext uri="{FF2B5EF4-FFF2-40B4-BE49-F238E27FC236}">
                <a16:creationId xmlns:a16="http://schemas.microsoft.com/office/drawing/2014/main" id="{BEAEC469-C78A-A5FB-EE11-258648767BB0}"/>
              </a:ext>
            </a:extLst>
          </p:cNvPr>
          <p:cNvPicPr>
            <a:picLocks noChangeAspect="1"/>
          </p:cNvPicPr>
          <p:nvPr/>
        </p:nvPicPr>
        <p:blipFill>
          <a:blip r:embed="rId2"/>
          <a:stretch>
            <a:fillRect/>
          </a:stretch>
        </p:blipFill>
        <p:spPr>
          <a:xfrm>
            <a:off x="3759199" y="1101423"/>
            <a:ext cx="5304971" cy="4178999"/>
          </a:xfrm>
          <a:prstGeom prst="rect">
            <a:avLst/>
          </a:prstGeom>
        </p:spPr>
      </p:pic>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217714" y="1734457"/>
            <a:ext cx="3541485" cy="2585323"/>
          </a:xfrm>
          <a:prstGeom prst="rect">
            <a:avLst/>
          </a:prstGeom>
          <a:noFill/>
        </p:spPr>
        <p:txBody>
          <a:bodyPr wrap="square" rtlCol="0">
            <a:spAutoFit/>
          </a:bodyPr>
          <a:lstStyle/>
          <a:p>
            <a:pPr algn="l"/>
            <a:r>
              <a:rPr lang="fr-FR" dirty="0"/>
              <a:t>Dans cette partie du code on a commencé par importer les bibliothèques nécessaires ,ensuite </a:t>
            </a:r>
            <a:r>
              <a:rPr lang="fr-FR" dirty="0">
                <a:latin typeface="NimbusRomNo9L-Regu"/>
              </a:rPr>
              <a:t>on a</a:t>
            </a:r>
            <a:r>
              <a:rPr lang="fr-FR" sz="1800" b="0" i="0" u="none" strike="noStrike" baseline="0" dirty="0">
                <a:latin typeface="NimbusRomNo9L-Regu"/>
              </a:rPr>
              <a:t> créé le jeu de données pour l’apprentissage.  </a:t>
            </a:r>
          </a:p>
          <a:p>
            <a:pPr algn="l"/>
            <a:r>
              <a:rPr lang="fr-FR" b="1" dirty="0" err="1">
                <a:latin typeface="NimbusRomNo9L-Medi"/>
              </a:rPr>
              <a:t>x</a:t>
            </a:r>
            <a:r>
              <a:rPr lang="fr-FR" sz="1800" b="1" i="0" u="none" strike="noStrike" baseline="0" dirty="0" err="1">
                <a:latin typeface="NimbusRomNo9L-Medi"/>
              </a:rPr>
              <a:t>_data</a:t>
            </a:r>
            <a:r>
              <a:rPr lang="fr-FR" sz="1800" b="1" i="0" u="none" strike="noStrike" baseline="0" dirty="0">
                <a:latin typeface="NimbusRomNo9L-Medi"/>
              </a:rPr>
              <a:t> </a:t>
            </a:r>
            <a:r>
              <a:rPr lang="fr-FR" sz="1800" b="0" i="0" u="none" strike="noStrike" baseline="0" dirty="0">
                <a:latin typeface="NimbusRomNo9L-Regu"/>
              </a:rPr>
              <a:t>est composé de 1000 points, et un bruit normal est ajouté sur l’axe des ordonnées pour chaque point :</a:t>
            </a:r>
            <a:endParaRPr lang="fr-FR" dirty="0"/>
          </a:p>
        </p:txBody>
      </p:sp>
    </p:spTree>
    <p:extLst>
      <p:ext uri="{BB962C8B-B14F-4D97-AF65-F5344CB8AC3E}">
        <p14:creationId xmlns:p14="http://schemas.microsoft.com/office/powerpoint/2010/main" val="427710111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51</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217714" y="1734457"/>
            <a:ext cx="3541485" cy="1938992"/>
          </a:xfrm>
          <a:prstGeom prst="rect">
            <a:avLst/>
          </a:prstGeom>
          <a:noFill/>
        </p:spPr>
        <p:txBody>
          <a:bodyPr wrap="square" rtlCol="0">
            <a:spAutoFit/>
          </a:bodyPr>
          <a:lstStyle/>
          <a:p>
            <a:pPr algn="l"/>
            <a:r>
              <a:rPr lang="fr-FR" sz="2400" dirty="0">
                <a:latin typeface="NimbusRomNo9L-Regu"/>
              </a:rPr>
              <a:t>Et dans la sortie en obtient le nuage</a:t>
            </a:r>
          </a:p>
          <a:p>
            <a:pPr algn="l"/>
            <a:r>
              <a:rPr lang="fr-FR" sz="2400" dirty="0">
                <a:latin typeface="NimbusRomNo9L-Regu"/>
              </a:rPr>
              <a:t>d</a:t>
            </a:r>
            <a:r>
              <a:rPr lang="fr-FR" sz="2400" b="0" i="0" u="none" strike="noStrike" baseline="0" dirty="0">
                <a:latin typeface="NimbusRomNo9L-Regu"/>
              </a:rPr>
              <a:t>es points ,qui représente notre </a:t>
            </a:r>
            <a:r>
              <a:rPr lang="fr-FR" sz="2400" b="1" i="0" u="none" strike="noStrike" baseline="0" dirty="0" err="1">
                <a:latin typeface="NimbusRomNo9L-Regu"/>
              </a:rPr>
              <a:t>dataset</a:t>
            </a:r>
            <a:r>
              <a:rPr lang="fr-FR" sz="2400" dirty="0">
                <a:latin typeface="NimbusRomNo9L-Regu"/>
              </a:rPr>
              <a:t> (ou le jeu de données</a:t>
            </a:r>
            <a:r>
              <a:rPr lang="fr-FR" sz="2400" b="0" i="0" u="none" strike="noStrike" baseline="0" dirty="0">
                <a:latin typeface="NimbusRomNo9L-Regu"/>
              </a:rPr>
              <a:t>)</a:t>
            </a:r>
          </a:p>
        </p:txBody>
      </p:sp>
      <p:pic>
        <p:nvPicPr>
          <p:cNvPr id="8" name="Image 7">
            <a:extLst>
              <a:ext uri="{FF2B5EF4-FFF2-40B4-BE49-F238E27FC236}">
                <a16:creationId xmlns:a16="http://schemas.microsoft.com/office/drawing/2014/main" id="{06110450-15D1-BFF9-BF51-F52BF3F6D767}"/>
              </a:ext>
            </a:extLst>
          </p:cNvPr>
          <p:cNvPicPr>
            <a:picLocks noChangeAspect="1"/>
          </p:cNvPicPr>
          <p:nvPr/>
        </p:nvPicPr>
        <p:blipFill>
          <a:blip r:embed="rId2"/>
          <a:stretch>
            <a:fillRect/>
          </a:stretch>
        </p:blipFill>
        <p:spPr>
          <a:xfrm>
            <a:off x="3672115" y="972457"/>
            <a:ext cx="5386294" cy="4171043"/>
          </a:xfrm>
          <a:prstGeom prst="rect">
            <a:avLst/>
          </a:prstGeom>
        </p:spPr>
      </p:pic>
    </p:spTree>
    <p:extLst>
      <p:ext uri="{BB962C8B-B14F-4D97-AF65-F5344CB8AC3E}">
        <p14:creationId xmlns:p14="http://schemas.microsoft.com/office/powerpoint/2010/main" val="33725913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52</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217714" y="1734457"/>
            <a:ext cx="3940628" cy="2585323"/>
          </a:xfrm>
          <a:prstGeom prst="rect">
            <a:avLst/>
          </a:prstGeom>
          <a:noFill/>
        </p:spPr>
        <p:txBody>
          <a:bodyPr wrap="square" rtlCol="0">
            <a:spAutoFit/>
          </a:bodyPr>
          <a:lstStyle/>
          <a:p>
            <a:pPr algn="l"/>
            <a:r>
              <a:rPr lang="fr-FR" b="0" i="0" u="none" strike="noStrike" baseline="0" dirty="0">
                <a:latin typeface="NimbusRomNo9L-Regu"/>
              </a:rPr>
              <a:t>Lorsque notre jeu de données est prêt, nous pouvons créer le réseau :</a:t>
            </a:r>
          </a:p>
          <a:p>
            <a:pPr algn="l"/>
            <a:r>
              <a:rPr lang="fr-FR" b="0" i="0" u="none" strike="noStrike" baseline="0" dirty="0">
                <a:latin typeface="NimbusRomNo9L-Regu"/>
              </a:rPr>
              <a:t>. La première couche contient un seul neurone linéaire (pour l’entrée). La seconde couche contient 10 unité de type RELU. La troisième couche contient 10 unité de type RELU. La dernière couche ne contient qu’une unité linéaire (pour la sortie)</a:t>
            </a:r>
          </a:p>
        </p:txBody>
      </p:sp>
      <p:pic>
        <p:nvPicPr>
          <p:cNvPr id="10" name="Image 9">
            <a:extLst>
              <a:ext uri="{FF2B5EF4-FFF2-40B4-BE49-F238E27FC236}">
                <a16:creationId xmlns:a16="http://schemas.microsoft.com/office/drawing/2014/main" id="{A346892F-CFA9-FC4D-9BA0-0EBD7B76211D}"/>
              </a:ext>
            </a:extLst>
          </p:cNvPr>
          <p:cNvPicPr>
            <a:picLocks noChangeAspect="1"/>
          </p:cNvPicPr>
          <p:nvPr/>
        </p:nvPicPr>
        <p:blipFill>
          <a:blip r:embed="rId2"/>
          <a:stretch>
            <a:fillRect/>
          </a:stretch>
        </p:blipFill>
        <p:spPr>
          <a:xfrm>
            <a:off x="4158343" y="972457"/>
            <a:ext cx="4934858" cy="4162274"/>
          </a:xfrm>
          <a:prstGeom prst="rect">
            <a:avLst/>
          </a:prstGeom>
        </p:spPr>
      </p:pic>
      <p:sp>
        <p:nvSpPr>
          <p:cNvPr id="11" name="ZoneTexte 10">
            <a:extLst>
              <a:ext uri="{FF2B5EF4-FFF2-40B4-BE49-F238E27FC236}">
                <a16:creationId xmlns:a16="http://schemas.microsoft.com/office/drawing/2014/main" id="{FCCF85F3-F925-9AAF-0EC0-A92EAD72FE5E}"/>
              </a:ext>
            </a:extLst>
          </p:cNvPr>
          <p:cNvSpPr txBox="1"/>
          <p:nvPr/>
        </p:nvSpPr>
        <p:spPr>
          <a:xfrm>
            <a:off x="381000" y="1861772"/>
            <a:ext cx="3577771" cy="2031325"/>
          </a:xfrm>
          <a:prstGeom prst="rect">
            <a:avLst/>
          </a:prstGeom>
          <a:noFill/>
        </p:spPr>
        <p:txBody>
          <a:bodyPr wrap="square" rtlCol="0">
            <a:spAutoFit/>
          </a:bodyPr>
          <a:lstStyle/>
          <a:p>
            <a:pPr algn="l"/>
            <a:r>
              <a:rPr lang="fr-FR" sz="1800" b="0" i="0" u="none" strike="noStrike" baseline="0" dirty="0">
                <a:latin typeface="NimbusRomNo9L-Regu"/>
              </a:rPr>
              <a:t>Le modèle est compilé avec les paramètres d’optimisation suivants :</a:t>
            </a:r>
          </a:p>
          <a:p>
            <a:pPr algn="l"/>
            <a:r>
              <a:rPr lang="fr-FR" sz="1800" b="0" i="0" u="none" strike="noStrike" baseline="0" dirty="0">
                <a:latin typeface="NimbusRomNo9L-Regu"/>
              </a:rPr>
              <a:t>. L’algorithme d’optimisation est Adam </a:t>
            </a:r>
            <a:r>
              <a:rPr lang="fr-FR" sz="1800" b="0" i="0" u="none" strike="noStrike" baseline="0" dirty="0">
                <a:latin typeface="NimbusRomNo9L-Medi"/>
              </a:rPr>
              <a:t>(</a:t>
            </a:r>
            <a:r>
              <a:rPr lang="fr-FR" sz="1800" b="0" i="0" u="none" strike="noStrike" baseline="0" dirty="0" err="1">
                <a:latin typeface="NimbusRomNo9L-Medi"/>
              </a:rPr>
              <a:t>optimizer</a:t>
            </a:r>
            <a:r>
              <a:rPr lang="fr-FR" sz="1800" b="0" i="0" u="none" strike="noStrike" baseline="0" dirty="0">
                <a:latin typeface="rtxb"/>
              </a:rPr>
              <a:t>=</a:t>
            </a:r>
            <a:r>
              <a:rPr lang="fr-FR" sz="1800" b="0" i="0" u="none" strike="noStrike" baseline="0" dirty="0">
                <a:latin typeface="NimbusRomNo9L-Medi"/>
              </a:rPr>
              <a:t>”</a:t>
            </a:r>
            <a:r>
              <a:rPr lang="fr-FR" sz="1800" b="0" i="0" u="none" strike="noStrike" baseline="0" dirty="0" err="1">
                <a:latin typeface="NimbusRomNo9L-Medi"/>
              </a:rPr>
              <a:t>adam</a:t>
            </a:r>
            <a:r>
              <a:rPr lang="fr-FR" sz="1800" b="0" i="0" u="none" strike="noStrike" baseline="0" dirty="0">
                <a:latin typeface="NimbusRomNo9L-Medi"/>
              </a:rPr>
              <a:t>”)</a:t>
            </a:r>
            <a:r>
              <a:rPr lang="fr-FR" sz="1800" b="0" i="0" u="none" strike="noStrike" baseline="0" dirty="0">
                <a:latin typeface="NimbusRomNo9L-Regu"/>
              </a:rPr>
              <a:t>.</a:t>
            </a:r>
          </a:p>
          <a:p>
            <a:pPr algn="l"/>
            <a:r>
              <a:rPr lang="fr-FR" sz="1800" b="0" i="0" u="none" strike="noStrike" baseline="0" dirty="0">
                <a:latin typeface="NimbusRomNo9L-Regu"/>
              </a:rPr>
              <a:t>. </a:t>
            </a:r>
            <a:r>
              <a:rPr lang="fr-FR" sz="1800" b="0" i="0" u="none" strike="noStrike" baseline="0" dirty="0" err="1">
                <a:latin typeface="NimbusRomNo9L-Regu"/>
              </a:rPr>
              <a:t>Loss</a:t>
            </a:r>
            <a:r>
              <a:rPr lang="fr-FR" sz="1800" b="0" i="0" u="none" strike="noStrike" baseline="0" dirty="0">
                <a:latin typeface="NimbusRomNo9L-Regu"/>
              </a:rPr>
              <a:t> est la perte ou l’erreur calculée sur la base des moindres </a:t>
            </a:r>
            <a:r>
              <a:rPr lang="fr-FR" sz="1800" b="0" i="0" u="none" strike="noStrike" baseline="0" dirty="0" err="1">
                <a:latin typeface="NimbusRomNo9L-Regu"/>
              </a:rPr>
              <a:t>carr´es</a:t>
            </a:r>
            <a:r>
              <a:rPr lang="fr-FR" sz="1800" b="0" i="0" u="none" strike="noStrike" baseline="0" dirty="0">
                <a:latin typeface="NimbusRomNo9L-Regu"/>
              </a:rPr>
              <a:t> </a:t>
            </a:r>
            <a:r>
              <a:rPr lang="fr-FR" sz="1800" b="0" i="0" u="none" strike="noStrike" baseline="0" dirty="0">
                <a:latin typeface="NimbusRomNo9L-Medi"/>
              </a:rPr>
              <a:t>(</a:t>
            </a:r>
            <a:r>
              <a:rPr lang="fr-FR" sz="1800" b="0" i="0" u="none" strike="noStrike" baseline="0" dirty="0" err="1">
                <a:latin typeface="NimbusRomNo9L-Medi"/>
              </a:rPr>
              <a:t>loss</a:t>
            </a:r>
            <a:r>
              <a:rPr lang="fr-FR" sz="1800" b="0" i="0" u="none" strike="noStrike" baseline="0" dirty="0">
                <a:latin typeface="rtxb"/>
              </a:rPr>
              <a:t>=</a:t>
            </a:r>
            <a:r>
              <a:rPr lang="fr-FR" sz="1800" b="0" i="0" u="none" strike="noStrike" baseline="0" dirty="0">
                <a:latin typeface="NimbusRomNo9L-Medi"/>
              </a:rPr>
              <a:t>’</a:t>
            </a:r>
            <a:r>
              <a:rPr lang="fr-FR" sz="1800" b="0" i="0" u="none" strike="noStrike" baseline="0" dirty="0" err="1">
                <a:latin typeface="NimbusRomNo9L-Medi"/>
              </a:rPr>
              <a:t>mse</a:t>
            </a:r>
            <a:r>
              <a:rPr lang="fr-FR" sz="1800" b="0" i="0" u="none" strike="noStrike" baseline="0" dirty="0">
                <a:latin typeface="NimbusRomNo9L-Medi"/>
              </a:rPr>
              <a:t>’)</a:t>
            </a:r>
            <a:r>
              <a:rPr lang="fr-FR" sz="1800" b="0" i="0" u="none" strike="noStrike" baseline="0" dirty="0">
                <a:latin typeface="NimbusRomNo9L-Regu"/>
              </a:rPr>
              <a:t>.</a:t>
            </a:r>
            <a:endParaRPr lang="fr-FR" dirty="0"/>
          </a:p>
        </p:txBody>
      </p:sp>
    </p:spTree>
    <p:extLst>
      <p:ext uri="{BB962C8B-B14F-4D97-AF65-F5344CB8AC3E}">
        <p14:creationId xmlns:p14="http://schemas.microsoft.com/office/powerpoint/2010/main" val="25800999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7"/>
                                        </p:tgtEl>
                                      </p:cBhvr>
                                    </p:animEffect>
                                    <p:anim calcmode="lin" valueType="num">
                                      <p:cBhvr>
                                        <p:cTn id="14" dur="1000"/>
                                        <p:tgtEl>
                                          <p:spTgt spid="7"/>
                                        </p:tgtEl>
                                        <p:attrNameLst>
                                          <p:attrName>ppt_x</p:attrName>
                                        </p:attrNameLst>
                                      </p:cBhvr>
                                      <p:tavLst>
                                        <p:tav tm="0">
                                          <p:val>
                                            <p:strVal val="ppt_x"/>
                                          </p:val>
                                        </p:tav>
                                        <p:tav tm="100000">
                                          <p:val>
                                            <p:strVal val="ppt_x"/>
                                          </p:val>
                                        </p:tav>
                                      </p:tavLst>
                                    </p:anim>
                                    <p:anim calcmode="lin" valueType="num">
                                      <p:cBhvr>
                                        <p:cTn id="15" dur="1000"/>
                                        <p:tgtEl>
                                          <p:spTgt spid="7"/>
                                        </p:tgtEl>
                                        <p:attrNameLst>
                                          <p:attrName>ppt_y</p:attrName>
                                        </p:attrNameLst>
                                      </p:cBhvr>
                                      <p:tavLst>
                                        <p:tav tm="0">
                                          <p:val>
                                            <p:strVal val="ppt_y"/>
                                          </p:val>
                                        </p:tav>
                                        <p:tav tm="100000">
                                          <p:val>
                                            <p:strVal val="ppt_y+.1"/>
                                          </p:val>
                                        </p:tav>
                                      </p:tavLst>
                                    </p:anim>
                                    <p:set>
                                      <p:cBhvr>
                                        <p:cTn id="16" dur="1" fill="hold">
                                          <p:stCondLst>
                                            <p:cond delay="999"/>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1" nodeType="clickEffect">
                                  <p:stCondLst>
                                    <p:cond delay="0"/>
                                  </p:stCondLst>
                                  <p:childTnLst>
                                    <p:animEffect transition="out" filter="fade">
                                      <p:cBhvr>
                                        <p:cTn id="27" dur="1000"/>
                                        <p:tgtEl>
                                          <p:spTgt spid="11"/>
                                        </p:tgtEl>
                                      </p:cBhvr>
                                    </p:animEffect>
                                    <p:anim calcmode="lin" valueType="num">
                                      <p:cBhvr>
                                        <p:cTn id="28" dur="1000"/>
                                        <p:tgtEl>
                                          <p:spTgt spid="11"/>
                                        </p:tgtEl>
                                        <p:attrNameLst>
                                          <p:attrName>ppt_x</p:attrName>
                                        </p:attrNameLst>
                                      </p:cBhvr>
                                      <p:tavLst>
                                        <p:tav tm="0">
                                          <p:val>
                                            <p:strVal val="ppt_x"/>
                                          </p:val>
                                        </p:tav>
                                        <p:tav tm="100000">
                                          <p:val>
                                            <p:strVal val="ppt_x"/>
                                          </p:val>
                                        </p:tav>
                                      </p:tavLst>
                                    </p:anim>
                                    <p:anim calcmode="lin" valueType="num">
                                      <p:cBhvr>
                                        <p:cTn id="29" dur="1000"/>
                                        <p:tgtEl>
                                          <p:spTgt spid="11"/>
                                        </p:tgtEl>
                                        <p:attrNameLst>
                                          <p:attrName>ppt_y</p:attrName>
                                        </p:attrNameLst>
                                      </p:cBhvr>
                                      <p:tavLst>
                                        <p:tav tm="0">
                                          <p:val>
                                            <p:strVal val="ppt_y"/>
                                          </p:val>
                                        </p:tav>
                                        <p:tav tm="100000">
                                          <p:val>
                                            <p:strVal val="ppt_y+.1"/>
                                          </p:val>
                                        </p:tav>
                                      </p:tavLst>
                                    </p:anim>
                                    <p:set>
                                      <p:cBhvr>
                                        <p:cTn id="30" dur="1" fill="hold">
                                          <p:stCondLst>
                                            <p:cond delay="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1" grpId="0"/>
      <p:bldP spid="11"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53</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152400" y="1901371"/>
            <a:ext cx="3940628" cy="2246769"/>
          </a:xfrm>
          <a:prstGeom prst="rect">
            <a:avLst/>
          </a:prstGeom>
          <a:noFill/>
        </p:spPr>
        <p:txBody>
          <a:bodyPr wrap="square" rtlCol="0">
            <a:spAutoFit/>
          </a:bodyPr>
          <a:lstStyle/>
          <a:p>
            <a:pPr algn="l"/>
            <a:r>
              <a:rPr lang="fr-FR" sz="2000" dirty="0">
                <a:latin typeface="NimbusRomNo9L-Regu"/>
              </a:rPr>
              <a:t>Dans cette partie on a lancé l'entraînement de notre réseau de neurones , et comme on peut le voir dans la sortie a chaque étape notre modèle calcule l’erreur grâce à la fonction </a:t>
            </a:r>
            <a:r>
              <a:rPr lang="fr-FR" sz="2000" b="1" dirty="0">
                <a:latin typeface="NimbusRomNo9L-Regu"/>
              </a:rPr>
              <a:t>‘</a:t>
            </a:r>
            <a:r>
              <a:rPr lang="fr-FR" sz="2000" b="1" dirty="0" err="1">
                <a:latin typeface="NimbusRomNo9L-Regu"/>
              </a:rPr>
              <a:t>mse</a:t>
            </a:r>
            <a:r>
              <a:rPr lang="fr-FR" sz="2000" b="1" dirty="0">
                <a:latin typeface="NimbusRomNo9L-Regu"/>
              </a:rPr>
              <a:t>’ </a:t>
            </a:r>
            <a:r>
              <a:rPr lang="fr-FR" sz="2000" dirty="0">
                <a:latin typeface="NimbusRomNo9L-Regu"/>
              </a:rPr>
              <a:t>et essaye de la minimiser avec la fonction </a:t>
            </a:r>
            <a:r>
              <a:rPr lang="fr-FR" sz="2000" b="1" dirty="0">
                <a:latin typeface="NimbusRomNo9L-Regu"/>
              </a:rPr>
              <a:t>‘</a:t>
            </a:r>
            <a:r>
              <a:rPr lang="fr-FR" sz="2000" b="1" dirty="0" err="1">
                <a:latin typeface="NimbusRomNo9L-Regu"/>
              </a:rPr>
              <a:t>adam</a:t>
            </a:r>
            <a:r>
              <a:rPr lang="fr-FR" sz="2000" b="1" dirty="0">
                <a:latin typeface="NimbusRomNo9L-Regu"/>
              </a:rPr>
              <a:t>’ </a:t>
            </a:r>
            <a:r>
              <a:rPr lang="fr-FR" sz="2000" dirty="0">
                <a:latin typeface="NimbusRomNo9L-Regu"/>
              </a:rPr>
              <a:t>.</a:t>
            </a:r>
            <a:endParaRPr lang="fr-FR" sz="2000" i="0" u="none" strike="noStrike" baseline="0" dirty="0">
              <a:latin typeface="NimbusRomNo9L-Regu"/>
            </a:endParaRPr>
          </a:p>
        </p:txBody>
      </p:sp>
      <p:pic>
        <p:nvPicPr>
          <p:cNvPr id="5" name="Image 4">
            <a:extLst>
              <a:ext uri="{FF2B5EF4-FFF2-40B4-BE49-F238E27FC236}">
                <a16:creationId xmlns:a16="http://schemas.microsoft.com/office/drawing/2014/main" id="{719BA3F9-9F6A-CD79-62D9-F51BB1824C32}"/>
              </a:ext>
            </a:extLst>
          </p:cNvPr>
          <p:cNvPicPr>
            <a:picLocks noChangeAspect="1"/>
          </p:cNvPicPr>
          <p:nvPr/>
        </p:nvPicPr>
        <p:blipFill>
          <a:blip r:embed="rId2"/>
          <a:stretch>
            <a:fillRect/>
          </a:stretch>
        </p:blipFill>
        <p:spPr>
          <a:xfrm>
            <a:off x="4020456" y="1101423"/>
            <a:ext cx="5021944" cy="3987922"/>
          </a:xfrm>
          <a:prstGeom prst="rect">
            <a:avLst/>
          </a:prstGeom>
        </p:spPr>
      </p:pic>
      <p:sp>
        <p:nvSpPr>
          <p:cNvPr id="8" name="ZoneTexte 7">
            <a:extLst>
              <a:ext uri="{FF2B5EF4-FFF2-40B4-BE49-F238E27FC236}">
                <a16:creationId xmlns:a16="http://schemas.microsoft.com/office/drawing/2014/main" id="{66E5961F-3AE0-FEE2-EC55-FFFB68C1E22B}"/>
              </a:ext>
            </a:extLst>
          </p:cNvPr>
          <p:cNvSpPr txBox="1"/>
          <p:nvPr/>
        </p:nvSpPr>
        <p:spPr>
          <a:xfrm>
            <a:off x="152400" y="1900414"/>
            <a:ext cx="4161064" cy="2585323"/>
          </a:xfrm>
          <a:prstGeom prst="rect">
            <a:avLst/>
          </a:prstGeom>
          <a:noFill/>
        </p:spPr>
        <p:txBody>
          <a:bodyPr wrap="square" rtlCol="0">
            <a:spAutoFit/>
          </a:bodyPr>
          <a:lstStyle/>
          <a:p>
            <a:pPr algn="l"/>
            <a:r>
              <a:rPr lang="fr-FR" sz="1800" b="0" i="0" u="none" strike="noStrike" baseline="0" dirty="0">
                <a:latin typeface="NimbusRomNo9L-Regu"/>
              </a:rPr>
              <a:t>Une fois le modèle créé, </a:t>
            </a:r>
            <a:r>
              <a:rPr lang="fr-FR" dirty="0">
                <a:latin typeface="NimbusRomNo9L-Regu"/>
              </a:rPr>
              <a:t>ensuite nous allons </a:t>
            </a:r>
            <a:r>
              <a:rPr lang="fr-FR" sz="1800" b="0" i="0" u="none" strike="noStrike" baseline="0" dirty="0">
                <a:latin typeface="NimbusRomNo9L-Regu"/>
              </a:rPr>
              <a:t>entraîner notre réseau :</a:t>
            </a:r>
          </a:p>
          <a:p>
            <a:pPr algn="l"/>
            <a:r>
              <a:rPr lang="es-ES" sz="1800" b="1" i="0" u="none" strike="noStrike" baseline="0" dirty="0">
                <a:latin typeface="NimbusRomNo9L-Regu"/>
              </a:rPr>
              <a:t>. </a:t>
            </a:r>
            <a:r>
              <a:rPr lang="es-ES" sz="1800" b="1" i="0" u="none" strike="noStrike" baseline="0" dirty="0" err="1">
                <a:latin typeface="NimbusRomNo9L-Medi"/>
              </a:rPr>
              <a:t>x_data</a:t>
            </a:r>
            <a:r>
              <a:rPr lang="es-ES" sz="1800" b="1" i="0" u="none" strike="noStrike" baseline="0" dirty="0">
                <a:latin typeface="NimbusRomNo9L-Medi"/>
              </a:rPr>
              <a:t> </a:t>
            </a:r>
            <a:r>
              <a:rPr lang="es-ES" sz="1800" b="0" i="0" u="none" strike="noStrike" baseline="0" dirty="0" err="1">
                <a:latin typeface="NimbusRomNo9L-Regu"/>
              </a:rPr>
              <a:t>est</a:t>
            </a:r>
            <a:r>
              <a:rPr lang="es-ES" sz="1800" b="0" i="0" u="none" strike="noStrike" baseline="0" dirty="0">
                <a:latin typeface="NimbusRomNo9L-Regu"/>
              </a:rPr>
              <a:t> </a:t>
            </a:r>
            <a:r>
              <a:rPr lang="es-ES" sz="1800" b="0" i="0" u="none" strike="noStrike" baseline="0" dirty="0" err="1">
                <a:latin typeface="NimbusRomNo9L-Regu"/>
              </a:rPr>
              <a:t>l’entr´ee</a:t>
            </a:r>
            <a:endParaRPr lang="es-ES" sz="1800" b="0" i="0" u="none" strike="noStrike" baseline="0" dirty="0">
              <a:latin typeface="NimbusRomNo9L-Regu"/>
            </a:endParaRPr>
          </a:p>
          <a:p>
            <a:pPr algn="l"/>
            <a:r>
              <a:rPr lang="fr-FR" sz="1800" b="1" i="0" u="none" strike="noStrike" baseline="0" dirty="0">
                <a:latin typeface="NimbusRomNo9L-Regu"/>
              </a:rPr>
              <a:t>. </a:t>
            </a:r>
            <a:r>
              <a:rPr lang="fr-FR" b="1" dirty="0" err="1">
                <a:latin typeface="NimbusRomNo9L-Medi"/>
              </a:rPr>
              <a:t>y</a:t>
            </a:r>
            <a:r>
              <a:rPr lang="fr-FR" sz="1800" b="1" i="0" u="none" strike="noStrike" baseline="0" dirty="0" err="1">
                <a:latin typeface="NimbusRomNo9L-Medi"/>
              </a:rPr>
              <a:t>_data</a:t>
            </a:r>
            <a:r>
              <a:rPr lang="fr-FR" sz="1800" b="1" i="0" u="none" strike="noStrike" baseline="0" dirty="0">
                <a:latin typeface="NimbusRomNo9L-Medi"/>
              </a:rPr>
              <a:t> </a:t>
            </a:r>
            <a:r>
              <a:rPr lang="fr-FR" sz="1800" b="0" i="0" u="none" strike="noStrike" baseline="0" dirty="0">
                <a:latin typeface="NimbusRomNo9L-Regu"/>
              </a:rPr>
              <a:t>est la sortie désirée</a:t>
            </a:r>
          </a:p>
          <a:p>
            <a:pPr algn="l"/>
            <a:r>
              <a:rPr lang="fr-FR" sz="1800" b="1" i="0" u="none" strike="noStrike" baseline="0" dirty="0">
                <a:latin typeface="NimbusRomNo9L-Regu"/>
              </a:rPr>
              <a:t>. </a:t>
            </a:r>
            <a:r>
              <a:rPr lang="fr-FR" sz="1800" b="1" i="0" u="none" strike="noStrike" baseline="0" dirty="0" err="1">
                <a:latin typeface="NimbusRomNo9L-Medi"/>
              </a:rPr>
              <a:t>epochs</a:t>
            </a:r>
            <a:r>
              <a:rPr lang="fr-FR" sz="1800" b="1" i="0" u="none" strike="noStrike" baseline="0" dirty="0">
                <a:latin typeface="rtxb"/>
              </a:rPr>
              <a:t>=</a:t>
            </a:r>
            <a:r>
              <a:rPr lang="fr-FR" b="1" dirty="0">
                <a:latin typeface="NimbusRomNo9L-Medi"/>
              </a:rPr>
              <a:t>700</a:t>
            </a:r>
            <a:r>
              <a:rPr lang="fr-FR" sz="1800" b="1" i="0" u="none" strike="noStrike" baseline="0" dirty="0">
                <a:latin typeface="NimbusRomNo9L-Medi"/>
              </a:rPr>
              <a:t> </a:t>
            </a:r>
            <a:r>
              <a:rPr lang="fr-FR" sz="1800" b="0" i="0" u="none" strike="noStrike" baseline="0" dirty="0">
                <a:latin typeface="NimbusRomNo9L-Regu"/>
              </a:rPr>
              <a:t>signifie que notre réseaux sera entrainé 700 fois sur notre jeu de données</a:t>
            </a:r>
          </a:p>
          <a:p>
            <a:pPr algn="l"/>
            <a:r>
              <a:rPr lang="fr-FR" sz="1800" b="1" i="0" u="none" strike="noStrike" baseline="0" dirty="0">
                <a:latin typeface="NimbusRomNo9L-Regu"/>
              </a:rPr>
              <a:t>. </a:t>
            </a:r>
            <a:r>
              <a:rPr lang="fr-FR" sz="1800" b="1" i="0" u="none" strike="noStrike" baseline="0" dirty="0" err="1">
                <a:latin typeface="NimbusRomNo9L-Medi"/>
              </a:rPr>
              <a:t>verbose</a:t>
            </a:r>
            <a:r>
              <a:rPr lang="fr-FR" sz="1800" b="1" i="0" u="none" strike="noStrike" baseline="0" dirty="0">
                <a:latin typeface="rtxb"/>
              </a:rPr>
              <a:t>=</a:t>
            </a:r>
            <a:r>
              <a:rPr lang="fr-FR" sz="1800" b="1" i="0" u="none" strike="noStrike" baseline="0" dirty="0">
                <a:latin typeface="NimbusRomNo9L-Medi"/>
              </a:rPr>
              <a:t>1 </a:t>
            </a:r>
            <a:r>
              <a:rPr lang="fr-FR" sz="1800" b="0" i="0" u="none" strike="noStrike" baseline="0" dirty="0">
                <a:latin typeface="NimbusRomNo9L-Regu"/>
              </a:rPr>
              <a:t>a</a:t>
            </a:r>
            <a:r>
              <a:rPr lang="fr-FR" sz="1800" b="0" i="0" u="none" strike="noStrike" baseline="0" dirty="0">
                <a:latin typeface="rtxr"/>
              </a:rPr>
              <a:t>ffi</a:t>
            </a:r>
            <a:r>
              <a:rPr lang="fr-FR" sz="1800" b="0" i="0" u="none" strike="noStrike" baseline="0" dirty="0">
                <a:latin typeface="NimbusRomNo9L-Regu"/>
              </a:rPr>
              <a:t>che la progression dans la console</a:t>
            </a:r>
            <a:endParaRPr lang="fr-FR" dirty="0"/>
          </a:p>
        </p:txBody>
      </p:sp>
    </p:spTree>
    <p:extLst>
      <p:ext uri="{BB962C8B-B14F-4D97-AF65-F5344CB8AC3E}">
        <p14:creationId xmlns:p14="http://schemas.microsoft.com/office/powerpoint/2010/main" val="357749417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8"/>
                                        </p:tgtEl>
                                      </p:cBhvr>
                                    </p:animEffect>
                                    <p:anim calcmode="lin" valueType="num">
                                      <p:cBhvr>
                                        <p:cTn id="14" dur="1000"/>
                                        <p:tgtEl>
                                          <p:spTgt spid="8"/>
                                        </p:tgtEl>
                                        <p:attrNameLst>
                                          <p:attrName>ppt_x</p:attrName>
                                        </p:attrNameLst>
                                      </p:cBhvr>
                                      <p:tavLst>
                                        <p:tav tm="0">
                                          <p:val>
                                            <p:strVal val="ppt_x"/>
                                          </p:val>
                                        </p:tav>
                                        <p:tav tm="100000">
                                          <p:val>
                                            <p:strVal val="ppt_x"/>
                                          </p:val>
                                        </p:tav>
                                      </p:tavLst>
                                    </p:anim>
                                    <p:anim calcmode="lin" valueType="num">
                                      <p:cBhvr>
                                        <p:cTn id="15" dur="1000"/>
                                        <p:tgtEl>
                                          <p:spTgt spid="8"/>
                                        </p:tgtEl>
                                        <p:attrNameLst>
                                          <p:attrName>ppt_y</p:attrName>
                                        </p:attrNameLst>
                                      </p:cBhvr>
                                      <p:tavLst>
                                        <p:tav tm="0">
                                          <p:val>
                                            <p:strVal val="ppt_y"/>
                                          </p:val>
                                        </p:tav>
                                        <p:tav tm="100000">
                                          <p:val>
                                            <p:strVal val="ppt_y+.1"/>
                                          </p:val>
                                        </p:tav>
                                      </p:tavLst>
                                    </p:anim>
                                    <p:set>
                                      <p:cBhvr>
                                        <p:cTn id="16" dur="1" fill="hold">
                                          <p:stCondLst>
                                            <p:cond delay="999"/>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1" nodeType="clickEffect">
                                  <p:stCondLst>
                                    <p:cond delay="0"/>
                                  </p:stCondLst>
                                  <p:childTnLst>
                                    <p:animEffect transition="out" filter="fade">
                                      <p:cBhvr>
                                        <p:cTn id="27" dur="1000"/>
                                        <p:tgtEl>
                                          <p:spTgt spid="7"/>
                                        </p:tgtEl>
                                      </p:cBhvr>
                                    </p:animEffect>
                                    <p:anim calcmode="lin" valueType="num">
                                      <p:cBhvr>
                                        <p:cTn id="28" dur="1000"/>
                                        <p:tgtEl>
                                          <p:spTgt spid="7"/>
                                        </p:tgtEl>
                                        <p:attrNameLst>
                                          <p:attrName>ppt_x</p:attrName>
                                        </p:attrNameLst>
                                      </p:cBhvr>
                                      <p:tavLst>
                                        <p:tav tm="0">
                                          <p:val>
                                            <p:strVal val="ppt_x"/>
                                          </p:val>
                                        </p:tav>
                                        <p:tav tm="100000">
                                          <p:val>
                                            <p:strVal val="ppt_x"/>
                                          </p:val>
                                        </p:tav>
                                      </p:tavLst>
                                    </p:anim>
                                    <p:anim calcmode="lin" valueType="num">
                                      <p:cBhvr>
                                        <p:cTn id="29" dur="1000"/>
                                        <p:tgtEl>
                                          <p:spTgt spid="7"/>
                                        </p:tgtEl>
                                        <p:attrNameLst>
                                          <p:attrName>ppt_y</p:attrName>
                                        </p:attrNameLst>
                                      </p:cBhvr>
                                      <p:tavLst>
                                        <p:tav tm="0">
                                          <p:val>
                                            <p:strVal val="ppt_y"/>
                                          </p:val>
                                        </p:tav>
                                        <p:tav tm="100000">
                                          <p:val>
                                            <p:strVal val="ppt_y+.1"/>
                                          </p:val>
                                        </p:tav>
                                      </p:tavLst>
                                    </p:anim>
                                    <p:set>
                                      <p:cBhvr>
                                        <p:cTn id="30"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54</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152400" y="1786920"/>
            <a:ext cx="3606799" cy="2677656"/>
          </a:xfrm>
          <a:prstGeom prst="rect">
            <a:avLst/>
          </a:prstGeom>
          <a:noFill/>
        </p:spPr>
        <p:txBody>
          <a:bodyPr wrap="square" rtlCol="0">
            <a:spAutoFit/>
          </a:bodyPr>
          <a:lstStyle/>
          <a:p>
            <a:pPr algn="l"/>
            <a:r>
              <a:rPr lang="fr-FR" sz="2400" b="0" i="0" u="none" strike="noStrike" baseline="0" dirty="0">
                <a:latin typeface="NimbusRomNo9L-Regu"/>
              </a:rPr>
              <a:t>Lorsque l’apprentissage est terminé , on utilise le code suivant pour approximer le nuage de points avec une courbe , et dessiner cette courbe et l’afficher avec matplotlib.</a:t>
            </a:r>
          </a:p>
        </p:txBody>
      </p:sp>
      <p:pic>
        <p:nvPicPr>
          <p:cNvPr id="10" name="Image 9">
            <a:extLst>
              <a:ext uri="{FF2B5EF4-FFF2-40B4-BE49-F238E27FC236}">
                <a16:creationId xmlns:a16="http://schemas.microsoft.com/office/drawing/2014/main" id="{4B8ED077-F798-5CBA-1F1B-341DC0F573BE}"/>
              </a:ext>
            </a:extLst>
          </p:cNvPr>
          <p:cNvPicPr>
            <a:picLocks noChangeAspect="1"/>
          </p:cNvPicPr>
          <p:nvPr/>
        </p:nvPicPr>
        <p:blipFill>
          <a:blip r:embed="rId2"/>
          <a:stretch>
            <a:fillRect/>
          </a:stretch>
        </p:blipFill>
        <p:spPr>
          <a:xfrm>
            <a:off x="3903182" y="1353311"/>
            <a:ext cx="5240818" cy="3906947"/>
          </a:xfrm>
          <a:prstGeom prst="rect">
            <a:avLst/>
          </a:prstGeom>
        </p:spPr>
      </p:pic>
    </p:spTree>
    <p:extLst>
      <p:ext uri="{BB962C8B-B14F-4D97-AF65-F5344CB8AC3E}">
        <p14:creationId xmlns:p14="http://schemas.microsoft.com/office/powerpoint/2010/main" val="8477991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55</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152400" y="1833086"/>
            <a:ext cx="2931042" cy="2554545"/>
          </a:xfrm>
          <a:prstGeom prst="rect">
            <a:avLst/>
          </a:prstGeom>
          <a:noFill/>
        </p:spPr>
        <p:txBody>
          <a:bodyPr wrap="square" rtlCol="0">
            <a:spAutoFit/>
          </a:bodyPr>
          <a:lstStyle/>
          <a:p>
            <a:pPr algn="l"/>
            <a:r>
              <a:rPr lang="fr-FR" sz="2000" dirty="0">
                <a:latin typeface="NimbusRomNo9L-Regu"/>
              </a:rPr>
              <a:t>Voici le résultat </a:t>
            </a:r>
            <a:r>
              <a:rPr lang="fr-FR" sz="2000" dirty="0" err="1">
                <a:latin typeface="NimbusRomNo9L-Regu"/>
              </a:rPr>
              <a:t>qu</a:t>
            </a:r>
            <a:r>
              <a:rPr lang="fr-FR" sz="2000" dirty="0">
                <a:latin typeface="NimbusRomNo9L-Regu"/>
              </a:rPr>
              <a:t> ’on a obtenu</a:t>
            </a:r>
            <a:r>
              <a:rPr lang="en-US" sz="2000" dirty="0">
                <a:latin typeface="NimbusRomNo9L-Regu"/>
              </a:rPr>
              <a:t>:</a:t>
            </a:r>
          </a:p>
          <a:p>
            <a:pPr algn="l"/>
            <a:r>
              <a:rPr lang="en-US" sz="2000" dirty="0">
                <a:latin typeface="NimbusRomNo9L-Regu"/>
              </a:rPr>
              <a:t>La </a:t>
            </a:r>
            <a:r>
              <a:rPr lang="fr-FR" sz="2000" dirty="0">
                <a:latin typeface="NimbusRomNo9L-Regu"/>
              </a:rPr>
              <a:t>courbe</a:t>
            </a:r>
            <a:r>
              <a:rPr lang="en-US" sz="2000" dirty="0">
                <a:latin typeface="NimbusRomNo9L-Regu"/>
              </a:rPr>
              <a:t> rouge </a:t>
            </a:r>
            <a:r>
              <a:rPr lang="fr-FR" sz="2000" dirty="0">
                <a:latin typeface="NimbusRomNo9L-Regu"/>
              </a:rPr>
              <a:t>représente l'approximation et les points </a:t>
            </a:r>
            <a:r>
              <a:rPr lang="fr-FR" sz="2000" dirty="0" err="1">
                <a:latin typeface="NimbusRomNo9L-Regu"/>
              </a:rPr>
              <a:t>blue</a:t>
            </a:r>
            <a:r>
              <a:rPr lang="fr-FR" sz="2000" dirty="0">
                <a:latin typeface="NimbusRomNo9L-Regu"/>
              </a:rPr>
              <a:t> représente la fonction pour laquelle on a réalisé la prédiction.</a:t>
            </a:r>
            <a:endParaRPr lang="fr-FR" sz="2000" b="0" i="0" u="none" strike="noStrike" baseline="0" dirty="0">
              <a:latin typeface="NimbusRomNo9L-Regu"/>
            </a:endParaRPr>
          </a:p>
        </p:txBody>
      </p:sp>
      <p:pic>
        <p:nvPicPr>
          <p:cNvPr id="16" name="Image 15">
            <a:extLst>
              <a:ext uri="{FF2B5EF4-FFF2-40B4-BE49-F238E27FC236}">
                <a16:creationId xmlns:a16="http://schemas.microsoft.com/office/drawing/2014/main" id="{B862C58B-CB2B-9805-0B2F-71A358D2026C}"/>
              </a:ext>
            </a:extLst>
          </p:cNvPr>
          <p:cNvPicPr>
            <a:picLocks noChangeAspect="1"/>
          </p:cNvPicPr>
          <p:nvPr/>
        </p:nvPicPr>
        <p:blipFill>
          <a:blip r:embed="rId2"/>
          <a:stretch>
            <a:fillRect/>
          </a:stretch>
        </p:blipFill>
        <p:spPr>
          <a:xfrm>
            <a:off x="3296093" y="1093971"/>
            <a:ext cx="5733116" cy="4049529"/>
          </a:xfrm>
          <a:prstGeom prst="rect">
            <a:avLst/>
          </a:prstGeom>
        </p:spPr>
      </p:pic>
    </p:spTree>
    <p:extLst>
      <p:ext uri="{BB962C8B-B14F-4D97-AF65-F5344CB8AC3E}">
        <p14:creationId xmlns:p14="http://schemas.microsoft.com/office/powerpoint/2010/main" val="27634477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2BDD03-8B84-0A69-79A8-A632A3A8AFB2}"/>
              </a:ext>
            </a:extLst>
          </p:cNvPr>
          <p:cNvSpPr>
            <a:spLocks noGrp="1"/>
          </p:cNvSpPr>
          <p:nvPr>
            <p:ph type="sldNum" sz="quarter" idx="12"/>
          </p:nvPr>
        </p:nvSpPr>
        <p:spPr/>
        <p:txBody>
          <a:bodyPr/>
          <a:lstStyle/>
          <a:p>
            <a:fld id="{A82C58F3-3795-4080-90EF-797C1431D8B7}" type="slidenum">
              <a:rPr lang="fr-FR" smtClean="0"/>
              <a:t>56</a:t>
            </a:fld>
            <a:endParaRPr lang="fr-FR"/>
          </a:p>
        </p:txBody>
      </p:sp>
      <p:sp>
        <p:nvSpPr>
          <p:cNvPr id="3" name="ZoneTexte 2">
            <a:extLst>
              <a:ext uri="{FF2B5EF4-FFF2-40B4-BE49-F238E27FC236}">
                <a16:creationId xmlns:a16="http://schemas.microsoft.com/office/drawing/2014/main" id="{33DF4FFD-484F-9090-4337-180E025FB3A1}"/>
              </a:ext>
            </a:extLst>
          </p:cNvPr>
          <p:cNvSpPr txBox="1"/>
          <p:nvPr/>
        </p:nvSpPr>
        <p:spPr>
          <a:xfrm>
            <a:off x="405442" y="189781"/>
            <a:ext cx="7712015" cy="523220"/>
          </a:xfrm>
          <a:prstGeom prst="rect">
            <a:avLst/>
          </a:prstGeom>
          <a:noFill/>
        </p:spPr>
        <p:txBody>
          <a:bodyPr wrap="square" rtlCol="0">
            <a:spAutoFit/>
          </a:bodyPr>
          <a:lstStyle/>
          <a:p>
            <a:r>
              <a:rPr lang="fr-FR" sz="2800" b="1" i="0" u="none" strike="noStrike" baseline="0" dirty="0">
                <a:latin typeface="NimbusRomNo9L-Medi"/>
              </a:rPr>
              <a:t>VISUALISATION DU RÉSEAU DE NEURONES</a:t>
            </a:r>
            <a:endParaRPr lang="fr-FR" sz="2800" b="1" dirty="0"/>
          </a:p>
        </p:txBody>
      </p:sp>
      <p:sp>
        <p:nvSpPr>
          <p:cNvPr id="4" name="ZoneTexte 3">
            <a:extLst>
              <a:ext uri="{FF2B5EF4-FFF2-40B4-BE49-F238E27FC236}">
                <a16:creationId xmlns:a16="http://schemas.microsoft.com/office/drawing/2014/main" id="{52459111-8113-9726-6D5B-715FF0D8C76D}"/>
              </a:ext>
            </a:extLst>
          </p:cNvPr>
          <p:cNvSpPr txBox="1"/>
          <p:nvPr/>
        </p:nvSpPr>
        <p:spPr>
          <a:xfrm>
            <a:off x="405442" y="713001"/>
            <a:ext cx="7910422" cy="646331"/>
          </a:xfrm>
          <a:prstGeom prst="rect">
            <a:avLst/>
          </a:prstGeom>
          <a:noFill/>
        </p:spPr>
        <p:txBody>
          <a:bodyPr wrap="square" rtlCol="0">
            <a:spAutoFit/>
          </a:bodyPr>
          <a:lstStyle/>
          <a:p>
            <a:pPr algn="l"/>
            <a:r>
              <a:rPr lang="fr-FR" sz="1800" b="0" i="0" u="none" strike="noStrike" baseline="0" dirty="0">
                <a:latin typeface="NimbusRomNo9L-Regu"/>
              </a:rPr>
              <a:t>Grâce à l’utilisation des bibliothèques Networkx et Matplotlib, il est possible de représenter visuellement le réseau de neurones créé . voici le code</a:t>
            </a:r>
            <a:r>
              <a:rPr lang="en-US" sz="1800" b="0" i="0" u="none" strike="noStrike" baseline="0" dirty="0">
                <a:latin typeface="NimbusRomNo9L-Regu"/>
              </a:rPr>
              <a:t>:</a:t>
            </a:r>
            <a:endParaRPr lang="fr-FR" dirty="0"/>
          </a:p>
        </p:txBody>
      </p:sp>
      <p:pic>
        <p:nvPicPr>
          <p:cNvPr id="6" name="Image 5">
            <a:extLst>
              <a:ext uri="{FF2B5EF4-FFF2-40B4-BE49-F238E27FC236}">
                <a16:creationId xmlns:a16="http://schemas.microsoft.com/office/drawing/2014/main" id="{4AC91312-6202-7740-476A-0EF6D61F3E5C}"/>
              </a:ext>
            </a:extLst>
          </p:cNvPr>
          <p:cNvPicPr>
            <a:picLocks noChangeAspect="1"/>
          </p:cNvPicPr>
          <p:nvPr/>
        </p:nvPicPr>
        <p:blipFill>
          <a:blip r:embed="rId2"/>
          <a:stretch>
            <a:fillRect/>
          </a:stretch>
        </p:blipFill>
        <p:spPr>
          <a:xfrm>
            <a:off x="3268992" y="1492062"/>
            <a:ext cx="5823249" cy="3651438"/>
          </a:xfrm>
          <a:prstGeom prst="rect">
            <a:avLst/>
          </a:prstGeom>
        </p:spPr>
      </p:pic>
      <p:sp>
        <p:nvSpPr>
          <p:cNvPr id="7" name="ZoneTexte 6">
            <a:extLst>
              <a:ext uri="{FF2B5EF4-FFF2-40B4-BE49-F238E27FC236}">
                <a16:creationId xmlns:a16="http://schemas.microsoft.com/office/drawing/2014/main" id="{8D096449-8545-4F82-19E4-B24674D20282}"/>
              </a:ext>
            </a:extLst>
          </p:cNvPr>
          <p:cNvSpPr txBox="1"/>
          <p:nvPr/>
        </p:nvSpPr>
        <p:spPr>
          <a:xfrm>
            <a:off x="294287" y="1596856"/>
            <a:ext cx="2760453" cy="3170099"/>
          </a:xfrm>
          <a:prstGeom prst="rect">
            <a:avLst/>
          </a:prstGeom>
          <a:noFill/>
        </p:spPr>
        <p:txBody>
          <a:bodyPr wrap="square" rtlCol="0">
            <a:spAutoFit/>
          </a:bodyPr>
          <a:lstStyle/>
          <a:p>
            <a:r>
              <a:rPr lang="fr-FR" sz="2000" dirty="0"/>
              <a:t>Cette partie du code ,créé un graphe qui a pour nœud les neurones du </a:t>
            </a:r>
            <a:r>
              <a:rPr lang="fr-FR" sz="2000" dirty="0" err="1"/>
              <a:t>réseau,et</a:t>
            </a:r>
            <a:r>
              <a:rPr lang="fr-FR" sz="2000" dirty="0"/>
              <a:t> les arêtes représenter par les liens entre les </a:t>
            </a:r>
            <a:r>
              <a:rPr lang="fr-FR" sz="2000" dirty="0" err="1"/>
              <a:t>neurones.Ce</a:t>
            </a:r>
            <a:r>
              <a:rPr lang="fr-FR" sz="2000" dirty="0"/>
              <a:t> code possède une partie pour l'affichage du</a:t>
            </a:r>
          </a:p>
          <a:p>
            <a:r>
              <a:rPr lang="fr-FR" sz="2000" dirty="0"/>
              <a:t> réseau .</a:t>
            </a:r>
          </a:p>
        </p:txBody>
      </p:sp>
    </p:spTree>
    <p:extLst>
      <p:ext uri="{BB962C8B-B14F-4D97-AF65-F5344CB8AC3E}">
        <p14:creationId xmlns:p14="http://schemas.microsoft.com/office/powerpoint/2010/main" val="285620426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2BDD03-8B84-0A69-79A8-A632A3A8AFB2}"/>
              </a:ext>
            </a:extLst>
          </p:cNvPr>
          <p:cNvSpPr>
            <a:spLocks noGrp="1"/>
          </p:cNvSpPr>
          <p:nvPr>
            <p:ph type="sldNum" sz="quarter" idx="12"/>
          </p:nvPr>
        </p:nvSpPr>
        <p:spPr/>
        <p:txBody>
          <a:bodyPr/>
          <a:lstStyle/>
          <a:p>
            <a:fld id="{A82C58F3-3795-4080-90EF-797C1431D8B7}" type="slidenum">
              <a:rPr lang="fr-FR" smtClean="0"/>
              <a:t>57</a:t>
            </a:fld>
            <a:endParaRPr lang="fr-FR"/>
          </a:p>
        </p:txBody>
      </p:sp>
      <p:sp>
        <p:nvSpPr>
          <p:cNvPr id="3" name="ZoneTexte 2">
            <a:extLst>
              <a:ext uri="{FF2B5EF4-FFF2-40B4-BE49-F238E27FC236}">
                <a16:creationId xmlns:a16="http://schemas.microsoft.com/office/drawing/2014/main" id="{33DF4FFD-484F-9090-4337-180E025FB3A1}"/>
              </a:ext>
            </a:extLst>
          </p:cNvPr>
          <p:cNvSpPr txBox="1"/>
          <p:nvPr/>
        </p:nvSpPr>
        <p:spPr>
          <a:xfrm>
            <a:off x="405442" y="189781"/>
            <a:ext cx="7712015" cy="523220"/>
          </a:xfrm>
          <a:prstGeom prst="rect">
            <a:avLst/>
          </a:prstGeom>
          <a:noFill/>
        </p:spPr>
        <p:txBody>
          <a:bodyPr wrap="square" rtlCol="0">
            <a:spAutoFit/>
          </a:bodyPr>
          <a:lstStyle/>
          <a:p>
            <a:r>
              <a:rPr lang="fr-FR" sz="2800" b="1" i="0" u="none" strike="noStrike" baseline="0" dirty="0">
                <a:latin typeface="NimbusRomNo9L-Medi"/>
              </a:rPr>
              <a:t>VISUALISATION DU RÉSEAU DE NEURONES</a:t>
            </a:r>
            <a:endParaRPr lang="fr-FR" sz="2800" b="1" dirty="0"/>
          </a:p>
        </p:txBody>
      </p:sp>
      <p:sp>
        <p:nvSpPr>
          <p:cNvPr id="4" name="ZoneTexte 3">
            <a:extLst>
              <a:ext uri="{FF2B5EF4-FFF2-40B4-BE49-F238E27FC236}">
                <a16:creationId xmlns:a16="http://schemas.microsoft.com/office/drawing/2014/main" id="{52459111-8113-9726-6D5B-715FF0D8C76D}"/>
              </a:ext>
            </a:extLst>
          </p:cNvPr>
          <p:cNvSpPr txBox="1"/>
          <p:nvPr/>
        </p:nvSpPr>
        <p:spPr>
          <a:xfrm>
            <a:off x="405442" y="713001"/>
            <a:ext cx="7910422" cy="646331"/>
          </a:xfrm>
          <a:prstGeom prst="rect">
            <a:avLst/>
          </a:prstGeom>
          <a:noFill/>
        </p:spPr>
        <p:txBody>
          <a:bodyPr wrap="square" rtlCol="0">
            <a:spAutoFit/>
          </a:bodyPr>
          <a:lstStyle/>
          <a:p>
            <a:pPr algn="l"/>
            <a:r>
              <a:rPr lang="fr-FR" sz="1800" b="0" i="0" u="none" strike="noStrike" baseline="0" dirty="0">
                <a:latin typeface="NimbusRomNo9L-Regu"/>
              </a:rPr>
              <a:t>Grâce à l’utilisation des bibliothèques Networkx et Matplotlib, il est possible de représenter visuellement le réseau de neurones créé . voici le code</a:t>
            </a:r>
            <a:r>
              <a:rPr lang="en-US" sz="1800" b="0" i="0" u="none" strike="noStrike" baseline="0" dirty="0">
                <a:latin typeface="NimbusRomNo9L-Regu"/>
              </a:rPr>
              <a:t>:</a:t>
            </a:r>
            <a:endParaRPr lang="fr-FR" dirty="0"/>
          </a:p>
        </p:txBody>
      </p:sp>
      <p:sp>
        <p:nvSpPr>
          <p:cNvPr id="7" name="ZoneTexte 6">
            <a:extLst>
              <a:ext uri="{FF2B5EF4-FFF2-40B4-BE49-F238E27FC236}">
                <a16:creationId xmlns:a16="http://schemas.microsoft.com/office/drawing/2014/main" id="{8D096449-8545-4F82-19E4-B24674D20282}"/>
              </a:ext>
            </a:extLst>
          </p:cNvPr>
          <p:cNvSpPr txBox="1"/>
          <p:nvPr/>
        </p:nvSpPr>
        <p:spPr>
          <a:xfrm>
            <a:off x="294287" y="1596856"/>
            <a:ext cx="2760453" cy="3170099"/>
          </a:xfrm>
          <a:prstGeom prst="rect">
            <a:avLst/>
          </a:prstGeom>
          <a:noFill/>
        </p:spPr>
        <p:txBody>
          <a:bodyPr wrap="square" rtlCol="0">
            <a:spAutoFit/>
          </a:bodyPr>
          <a:lstStyle/>
          <a:p>
            <a:r>
              <a:rPr lang="fr-FR" sz="2000" dirty="0"/>
              <a:t>Cette partie du code ,créé un graphe qui a pour nœud les neurones du </a:t>
            </a:r>
            <a:r>
              <a:rPr lang="fr-FR" sz="2000" dirty="0" err="1"/>
              <a:t>réseau,et</a:t>
            </a:r>
            <a:r>
              <a:rPr lang="fr-FR" sz="2000" dirty="0"/>
              <a:t> les arêtes représenter par les liens entre les </a:t>
            </a:r>
            <a:r>
              <a:rPr lang="fr-FR" sz="2000" dirty="0" err="1"/>
              <a:t>neurones.Ce</a:t>
            </a:r>
            <a:r>
              <a:rPr lang="fr-FR" sz="2000" dirty="0"/>
              <a:t> code possède une partie pour l'affichage du</a:t>
            </a:r>
          </a:p>
          <a:p>
            <a:r>
              <a:rPr lang="fr-FR" sz="2000" dirty="0"/>
              <a:t> réseau .</a:t>
            </a:r>
          </a:p>
        </p:txBody>
      </p:sp>
      <p:pic>
        <p:nvPicPr>
          <p:cNvPr id="8" name="Image 7">
            <a:extLst>
              <a:ext uri="{FF2B5EF4-FFF2-40B4-BE49-F238E27FC236}">
                <a16:creationId xmlns:a16="http://schemas.microsoft.com/office/drawing/2014/main" id="{39834397-477A-14F8-0346-B9AD42FD7D3B}"/>
              </a:ext>
            </a:extLst>
          </p:cNvPr>
          <p:cNvPicPr>
            <a:picLocks noChangeAspect="1"/>
          </p:cNvPicPr>
          <p:nvPr/>
        </p:nvPicPr>
        <p:blipFill>
          <a:blip r:embed="rId2"/>
          <a:stretch>
            <a:fillRect/>
          </a:stretch>
        </p:blipFill>
        <p:spPr>
          <a:xfrm>
            <a:off x="3054740" y="1359332"/>
            <a:ext cx="5794973" cy="3681775"/>
          </a:xfrm>
          <a:prstGeom prst="rect">
            <a:avLst/>
          </a:prstGeom>
        </p:spPr>
      </p:pic>
    </p:spTree>
    <p:extLst>
      <p:ext uri="{BB962C8B-B14F-4D97-AF65-F5344CB8AC3E}">
        <p14:creationId xmlns:p14="http://schemas.microsoft.com/office/powerpoint/2010/main" val="18977461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2BDD03-8B84-0A69-79A8-A632A3A8AFB2}"/>
              </a:ext>
            </a:extLst>
          </p:cNvPr>
          <p:cNvSpPr>
            <a:spLocks noGrp="1"/>
          </p:cNvSpPr>
          <p:nvPr>
            <p:ph type="sldNum" sz="quarter" idx="12"/>
          </p:nvPr>
        </p:nvSpPr>
        <p:spPr/>
        <p:txBody>
          <a:bodyPr/>
          <a:lstStyle/>
          <a:p>
            <a:fld id="{A82C58F3-3795-4080-90EF-797C1431D8B7}" type="slidenum">
              <a:rPr lang="fr-FR" smtClean="0"/>
              <a:t>58</a:t>
            </a:fld>
            <a:endParaRPr lang="fr-FR"/>
          </a:p>
        </p:txBody>
      </p:sp>
      <p:pic>
        <p:nvPicPr>
          <p:cNvPr id="6" name="Image 5">
            <a:extLst>
              <a:ext uri="{FF2B5EF4-FFF2-40B4-BE49-F238E27FC236}">
                <a16:creationId xmlns:a16="http://schemas.microsoft.com/office/drawing/2014/main" id="{5E0117B7-3CE8-7E6D-DBD2-AE5B5CFE6E59}"/>
              </a:ext>
            </a:extLst>
          </p:cNvPr>
          <p:cNvPicPr>
            <a:picLocks noChangeAspect="1"/>
          </p:cNvPicPr>
          <p:nvPr/>
        </p:nvPicPr>
        <p:blipFill>
          <a:blip r:embed="rId2"/>
          <a:stretch>
            <a:fillRect/>
          </a:stretch>
        </p:blipFill>
        <p:spPr>
          <a:xfrm>
            <a:off x="2496312" y="0"/>
            <a:ext cx="6647688" cy="5143500"/>
          </a:xfrm>
          <a:prstGeom prst="rect">
            <a:avLst/>
          </a:prstGeom>
        </p:spPr>
      </p:pic>
      <p:sp>
        <p:nvSpPr>
          <p:cNvPr id="10" name="ZoneTexte 9">
            <a:extLst>
              <a:ext uri="{FF2B5EF4-FFF2-40B4-BE49-F238E27FC236}">
                <a16:creationId xmlns:a16="http://schemas.microsoft.com/office/drawing/2014/main" id="{E109DF9E-577F-932F-9427-37CD5AED7EC0}"/>
              </a:ext>
            </a:extLst>
          </p:cNvPr>
          <p:cNvSpPr txBox="1"/>
          <p:nvPr/>
        </p:nvSpPr>
        <p:spPr>
          <a:xfrm>
            <a:off x="109728" y="73152"/>
            <a:ext cx="1965960" cy="4493538"/>
          </a:xfrm>
          <a:prstGeom prst="rect">
            <a:avLst/>
          </a:prstGeom>
          <a:noFill/>
        </p:spPr>
        <p:txBody>
          <a:bodyPr wrap="square" rtlCol="0">
            <a:spAutoFit/>
          </a:bodyPr>
          <a:lstStyle/>
          <a:p>
            <a:r>
              <a:rPr lang="fr-FR" sz="2200" b="1" dirty="0">
                <a:solidFill>
                  <a:schemeClr val="bg1"/>
                </a:solidFill>
                <a:latin typeface="Aharoni" panose="02010803020104030203" pitchFamily="2" charset="-79"/>
                <a:cs typeface="Aharoni" panose="02010803020104030203" pitchFamily="2" charset="-79"/>
              </a:rPr>
              <a:t>Voici la figure qui représente notre réseau de neurones ,ce graphe a pour nœuds les neurones du réseau ,et les arêtes sont les liens entre les neurones </a:t>
            </a:r>
          </a:p>
        </p:txBody>
      </p:sp>
    </p:spTree>
    <p:extLst>
      <p:ext uri="{BB962C8B-B14F-4D97-AF65-F5344CB8AC3E}">
        <p14:creationId xmlns:p14="http://schemas.microsoft.com/office/powerpoint/2010/main" val="13997718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65462EC-ED28-3E30-C458-876AD09E5C72}"/>
              </a:ext>
            </a:extLst>
          </p:cNvPr>
          <p:cNvSpPr>
            <a:spLocks noGrp="1"/>
          </p:cNvSpPr>
          <p:nvPr>
            <p:ph type="sldNum" sz="quarter" idx="12"/>
          </p:nvPr>
        </p:nvSpPr>
        <p:spPr/>
        <p:txBody>
          <a:bodyPr/>
          <a:lstStyle/>
          <a:p>
            <a:fld id="{A82C58F3-3795-4080-90EF-797C1431D8B7}" type="slidenum">
              <a:rPr lang="fr-FR" smtClean="0"/>
              <a:t>59</a:t>
            </a:fld>
            <a:endParaRPr lang="fr-FR"/>
          </a:p>
        </p:txBody>
      </p:sp>
      <p:sp>
        <p:nvSpPr>
          <p:cNvPr id="3" name="ZoneTexte 2">
            <a:extLst>
              <a:ext uri="{FF2B5EF4-FFF2-40B4-BE49-F238E27FC236}">
                <a16:creationId xmlns:a16="http://schemas.microsoft.com/office/drawing/2014/main" id="{295D6077-C675-176B-B3FC-8B8057AEBF36}"/>
              </a:ext>
            </a:extLst>
          </p:cNvPr>
          <p:cNvSpPr txBox="1"/>
          <p:nvPr/>
        </p:nvSpPr>
        <p:spPr>
          <a:xfrm>
            <a:off x="1690255" y="193963"/>
            <a:ext cx="7388514" cy="646331"/>
          </a:xfrm>
          <a:prstGeom prst="rect">
            <a:avLst/>
          </a:prstGeom>
          <a:noFill/>
        </p:spPr>
        <p:txBody>
          <a:bodyPr wrap="square" rtlCol="0">
            <a:spAutoFit/>
          </a:bodyPr>
          <a:lstStyle/>
          <a:p>
            <a:r>
              <a:rPr lang="en-US" sz="3600" b="1" dirty="0"/>
              <a:t>CONCLUSION </a:t>
            </a:r>
            <a:r>
              <a:rPr lang="fr-FR" sz="3600" b="1" i="0" u="none" strike="noStrike" baseline="0" dirty="0">
                <a:latin typeface="NimbusRomNo9L-Regu"/>
              </a:rPr>
              <a:t>GÉNÉRALE</a:t>
            </a:r>
            <a:endParaRPr lang="fr-FR" sz="3600" b="1" dirty="0"/>
          </a:p>
        </p:txBody>
      </p:sp>
      <p:sp>
        <p:nvSpPr>
          <p:cNvPr id="4" name="ZoneTexte 3">
            <a:extLst>
              <a:ext uri="{FF2B5EF4-FFF2-40B4-BE49-F238E27FC236}">
                <a16:creationId xmlns:a16="http://schemas.microsoft.com/office/drawing/2014/main" id="{85A81347-923C-367B-4E57-05E0BA16B4B1}"/>
              </a:ext>
            </a:extLst>
          </p:cNvPr>
          <p:cNvSpPr txBox="1"/>
          <p:nvPr/>
        </p:nvSpPr>
        <p:spPr>
          <a:xfrm>
            <a:off x="415636" y="1126836"/>
            <a:ext cx="8442037" cy="2308324"/>
          </a:xfrm>
          <a:prstGeom prst="rect">
            <a:avLst/>
          </a:prstGeom>
          <a:noFill/>
        </p:spPr>
        <p:txBody>
          <a:bodyPr wrap="square" rtlCol="0">
            <a:spAutoFit/>
          </a:bodyPr>
          <a:lstStyle/>
          <a:p>
            <a:pPr algn="l"/>
            <a:r>
              <a:rPr lang="fr-FR" sz="1800" b="0" i="0" u="none" strike="noStrike" baseline="0" dirty="0">
                <a:latin typeface="NimbusRomNo9L-Regu"/>
              </a:rPr>
              <a:t>Ce projet </a:t>
            </a:r>
            <a:r>
              <a:rPr lang="fr-FR" dirty="0">
                <a:latin typeface="NimbusRomNo9L-Regu"/>
              </a:rPr>
              <a:t>nous</a:t>
            </a:r>
            <a:r>
              <a:rPr lang="fr-FR" sz="1800" b="0" i="0" u="none" strike="noStrike" baseline="0" dirty="0">
                <a:latin typeface="NimbusRomNo9L-Regu"/>
              </a:rPr>
              <a:t> permis d’explorer deux domaines clés des mathématiques appliquées : la théorie</a:t>
            </a:r>
            <a:r>
              <a:rPr lang="fr-FR" dirty="0">
                <a:latin typeface="NimbusRomNo9L-Regu"/>
              </a:rPr>
              <a:t> </a:t>
            </a:r>
            <a:r>
              <a:rPr lang="fr-FR" sz="1800" b="0" i="0" u="none" strike="noStrike" baseline="0" dirty="0">
                <a:latin typeface="NimbusRomNo9L-Regu"/>
              </a:rPr>
              <a:t>des graphes et les réseaux de neurones. Dans la première partie du projet, nous avons étudier la théorie des graphes, découvrant les structures et les propriétés des graphes. L’utilisation de la bibliothèque NetworkX nous a permis de créer, manipuler et visualiser ces graphes, rendant ainsi les concepts théoriques plus applicables. La deuxième partie de ce projet a été consacrée aux réseaux de neurones et </a:t>
            </a:r>
            <a:r>
              <a:rPr lang="fr-FR" dirty="0">
                <a:latin typeface="NimbusRomNo9L-Regu"/>
              </a:rPr>
              <a:t>leur conception. Et à de ce projet on a créé un réseau de neurones ensuite on a afficher sa structure.</a:t>
            </a:r>
            <a:endParaRPr lang="fr-FR" dirty="0"/>
          </a:p>
        </p:txBody>
      </p:sp>
    </p:spTree>
    <p:extLst>
      <p:ext uri="{BB962C8B-B14F-4D97-AF65-F5344CB8AC3E}">
        <p14:creationId xmlns:p14="http://schemas.microsoft.com/office/powerpoint/2010/main" val="269564976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A0D006-40C4-32E4-BA34-C1F7128DD733}"/>
              </a:ext>
            </a:extLst>
          </p:cNvPr>
          <p:cNvSpPr txBox="1"/>
          <p:nvPr/>
        </p:nvSpPr>
        <p:spPr>
          <a:xfrm>
            <a:off x="0" y="2081873"/>
            <a:ext cx="9144000" cy="707886"/>
          </a:xfrm>
          <a:prstGeom prst="rect">
            <a:avLst/>
          </a:prstGeom>
          <a:noFill/>
        </p:spPr>
        <p:txBody>
          <a:bodyPr wrap="square" rtlCol="0">
            <a:spAutoFit/>
          </a:bodyPr>
          <a:lstStyle/>
          <a:p>
            <a:r>
              <a:rPr lang="fr-CA" sz="4000" dirty="0">
                <a:solidFill>
                  <a:schemeClr val="bg1"/>
                </a:solidFill>
                <a:latin typeface="MingLiU_HKSCS-ExtB" panose="02020500000000000000" pitchFamily="18" charset="-120"/>
                <a:ea typeface="MingLiU_HKSCS-ExtB" panose="02020500000000000000" pitchFamily="18" charset="-120"/>
              </a:rPr>
              <a:t>ON VOUS </a:t>
            </a:r>
            <a:r>
              <a:rPr lang="fr-CA" sz="3600" dirty="0">
                <a:solidFill>
                  <a:schemeClr val="bg1"/>
                </a:solidFill>
                <a:latin typeface="MingLiU_HKSCS-ExtB" panose="02020500000000000000" pitchFamily="18" charset="-120"/>
                <a:ea typeface="MingLiU_HKSCS-ExtB" panose="02020500000000000000" pitchFamily="18" charset="-120"/>
              </a:rPr>
              <a:t>REMERCIE</a:t>
            </a:r>
            <a:r>
              <a:rPr lang="fr-CA" sz="4000" dirty="0">
                <a:solidFill>
                  <a:schemeClr val="bg1"/>
                </a:solidFill>
                <a:latin typeface="MingLiU_HKSCS-ExtB" panose="02020500000000000000" pitchFamily="18" charset="-120"/>
                <a:ea typeface="MingLiU_HKSCS-ExtB" panose="02020500000000000000" pitchFamily="18" charset="-120"/>
              </a:rPr>
              <a:t> POUR VOTRE ATTETION</a:t>
            </a:r>
            <a:endParaRPr lang="fr-CA" sz="4000" kern="1200" dirty="0">
              <a:solidFill>
                <a:schemeClr val="bg1"/>
              </a:solidFill>
              <a:latin typeface="MingLiU_HKSCS-ExtB" panose="02020500000000000000" pitchFamily="18" charset="-120"/>
              <a:ea typeface="MingLiU_HKSCS-ExtB" panose="02020500000000000000" pitchFamily="18" charset="-120"/>
            </a:endParaRPr>
          </a:p>
        </p:txBody>
      </p:sp>
    </p:spTree>
    <p:extLst>
      <p:ext uri="{BB962C8B-B14F-4D97-AF65-F5344CB8AC3E}">
        <p14:creationId xmlns:p14="http://schemas.microsoft.com/office/powerpoint/2010/main" val="136954163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31"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27F0005-325D-4F76-88F1-2FABB840291D}">
  <we:reference id="wa200005566" version="3.0.0.2" store="fr-CA" storeType="OMEX"/>
  <we:alternateReferences>
    <we:reference id="wa200005566" version="3.0.0.2" store="fr-CA"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1078</TotalTime>
  <Words>3384</Words>
  <Application>Microsoft Office PowerPoint</Application>
  <PresentationFormat>Affichage à l'écran (16:9)</PresentationFormat>
  <Paragraphs>275</Paragraphs>
  <Slides>60</Slides>
  <Notes>15</Notes>
  <HiddenSlides>0</HiddenSlides>
  <MMClips>0</MMClips>
  <ScaleCrop>false</ScaleCrop>
  <HeadingPairs>
    <vt:vector size="6" baseType="variant">
      <vt:variant>
        <vt:lpstr>Polices utilisées</vt:lpstr>
      </vt:variant>
      <vt:variant>
        <vt:i4>22</vt:i4>
      </vt:variant>
      <vt:variant>
        <vt:lpstr>Thème</vt:lpstr>
      </vt:variant>
      <vt:variant>
        <vt:i4>1</vt:i4>
      </vt:variant>
      <vt:variant>
        <vt:lpstr>Titres des diapositives</vt:lpstr>
      </vt:variant>
      <vt:variant>
        <vt:i4>60</vt:i4>
      </vt:variant>
    </vt:vector>
  </HeadingPairs>
  <TitlesOfParts>
    <vt:vector size="83" baseType="lpstr">
      <vt:lpstr>NimbusRomNo9L-Medi</vt:lpstr>
      <vt:lpstr>NimbusRomNo9L-Regu</vt:lpstr>
      <vt:lpstr>NimbusRomNo9L-MediItal</vt:lpstr>
      <vt:lpstr>Arial Unicode MS</vt:lpstr>
      <vt:lpstr>MingLiU_HKSCS-ExtB</vt:lpstr>
      <vt:lpstr>Arial</vt:lpstr>
      <vt:lpstr>Imprint MT Shadow</vt:lpstr>
      <vt:lpstr>txsy</vt:lpstr>
      <vt:lpstr>rtxr</vt:lpstr>
      <vt:lpstr>Anaheim</vt:lpstr>
      <vt:lpstr>Aptos Display</vt:lpstr>
      <vt:lpstr>NimbusRomNo9L-ReguItal</vt:lpstr>
      <vt:lpstr>Lato</vt:lpstr>
      <vt:lpstr>Aharoni</vt:lpstr>
      <vt:lpstr>Nunito Light</vt:lpstr>
      <vt:lpstr>Albert Sans</vt:lpstr>
      <vt:lpstr>rtxb</vt:lpstr>
      <vt:lpstr>rtxmi</vt:lpstr>
      <vt:lpstr>Cambria Math</vt:lpstr>
      <vt:lpstr>DM Sans</vt:lpstr>
      <vt:lpstr>Perpetua Titling MT</vt:lpstr>
      <vt:lpstr>Aptos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Qu'est-ce qu'un graphe ? </vt:lpstr>
      <vt:lpstr>Types de graphes</vt:lpstr>
      <vt:lpstr>Types de graphes</vt:lpstr>
      <vt:lpstr>Types de graphes</vt:lpstr>
      <vt:lpstr>Propriétés d’un graphes</vt:lpstr>
      <vt:lpstr>Applications de la théorie des graphes</vt:lpstr>
      <vt:lpstr>Présentation PowerPoint</vt:lpstr>
      <vt:lpstr>Présentation PowerPoint</vt:lpstr>
      <vt:lpstr>Présentation PowerPoint</vt:lpstr>
      <vt:lpstr>Présentation PowerPoint</vt:lpstr>
      <vt:lpstr>Présentation PowerPoint</vt:lpstr>
      <vt:lpstr>Présentation PowerPoint</vt:lpstr>
      <vt:lpstr>COMMENT CRÉER UN GRAPHE SUR NETWORKX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Lounis Mesrour</cp:lastModifiedBy>
  <cp:revision>18</cp:revision>
  <dcterms:modified xsi:type="dcterms:W3CDTF">2024-06-09T09:34:24Z</dcterms:modified>
</cp:coreProperties>
</file>